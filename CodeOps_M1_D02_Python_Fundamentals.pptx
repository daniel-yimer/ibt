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91F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1659" y="2657982"/>
            <a:ext cx="576961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091F3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A233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B718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Property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IBT</a:t>
            </a:r>
            <a:r>
              <a:rPr dirty="0" spc="-35"/>
              <a:t> </a:t>
            </a:r>
            <a:r>
              <a:rPr dirty="0"/>
              <a:t>College</a:t>
            </a:r>
            <a:r>
              <a:rPr dirty="0" spc="-15"/>
              <a:t> </a:t>
            </a:r>
            <a:r>
              <a:rPr dirty="0" spc="-10"/>
              <a:t>Canada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B7180"/>
                </a:solidFill>
                <a:latin typeface="Arial MT"/>
                <a:cs typeface="Arial MT"/>
              </a:defRPr>
            </a:lvl1pPr>
          </a:lstStyle>
          <a:p>
            <a:pPr marL="9398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#</a:t>
            </a:fld>
            <a:r>
              <a:rPr dirty="0" spc="-5"/>
              <a:t> </a:t>
            </a:r>
            <a:r>
              <a:rPr dirty="0"/>
              <a:t>/ </a:t>
            </a:r>
            <a:r>
              <a:rPr dirty="0" spc="-25"/>
              <a:t>30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91F3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A233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B718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Property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IBT</a:t>
            </a:r>
            <a:r>
              <a:rPr dirty="0" spc="-35"/>
              <a:t> </a:t>
            </a:r>
            <a:r>
              <a:rPr dirty="0"/>
              <a:t>College</a:t>
            </a:r>
            <a:r>
              <a:rPr dirty="0" spc="-15"/>
              <a:t> </a:t>
            </a:r>
            <a:r>
              <a:rPr dirty="0" spc="-10"/>
              <a:t>Canada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B7180"/>
                </a:solidFill>
                <a:latin typeface="Arial MT"/>
                <a:cs typeface="Arial MT"/>
              </a:defRPr>
            </a:lvl1pPr>
          </a:lstStyle>
          <a:p>
            <a:pPr marL="9398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#</a:t>
            </a:fld>
            <a:r>
              <a:rPr dirty="0" spc="-5"/>
              <a:t> </a:t>
            </a:r>
            <a:r>
              <a:rPr dirty="0"/>
              <a:t>/ </a:t>
            </a:r>
            <a:r>
              <a:rPr dirty="0" spc="-25"/>
              <a:t>30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91F3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B718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Property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IBT</a:t>
            </a:r>
            <a:r>
              <a:rPr dirty="0" spc="-35"/>
              <a:t> </a:t>
            </a:r>
            <a:r>
              <a:rPr dirty="0"/>
              <a:t>College</a:t>
            </a:r>
            <a:r>
              <a:rPr dirty="0" spc="-15"/>
              <a:t> </a:t>
            </a:r>
            <a:r>
              <a:rPr dirty="0" spc="-10"/>
              <a:t>Canada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B7180"/>
                </a:solidFill>
                <a:latin typeface="Arial MT"/>
                <a:cs typeface="Arial MT"/>
              </a:defRPr>
            </a:lvl1pPr>
          </a:lstStyle>
          <a:p>
            <a:pPr marL="9398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#</a:t>
            </a:fld>
            <a:r>
              <a:rPr dirty="0" spc="-5"/>
              <a:t> </a:t>
            </a:r>
            <a:r>
              <a:rPr dirty="0"/>
              <a:t>/ </a:t>
            </a:r>
            <a:r>
              <a:rPr dirty="0" spc="-25"/>
              <a:t>30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91F3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B718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Property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IBT</a:t>
            </a:r>
            <a:r>
              <a:rPr dirty="0" spc="-35"/>
              <a:t> </a:t>
            </a:r>
            <a:r>
              <a:rPr dirty="0"/>
              <a:t>College</a:t>
            </a:r>
            <a:r>
              <a:rPr dirty="0" spc="-15"/>
              <a:t> </a:t>
            </a:r>
            <a:r>
              <a:rPr dirty="0" spc="-10"/>
              <a:t>Canada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B7180"/>
                </a:solidFill>
                <a:latin typeface="Arial MT"/>
                <a:cs typeface="Arial MT"/>
              </a:defRPr>
            </a:lvl1pPr>
          </a:lstStyle>
          <a:p>
            <a:pPr marL="9398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#</a:t>
            </a:fld>
            <a:r>
              <a:rPr dirty="0" spc="-5"/>
              <a:t> </a:t>
            </a:r>
            <a:r>
              <a:rPr dirty="0"/>
              <a:t>/ </a:t>
            </a:r>
            <a:r>
              <a:rPr dirty="0" spc="-25"/>
              <a:t>30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B718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Property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IBT</a:t>
            </a:r>
            <a:r>
              <a:rPr dirty="0" spc="-35"/>
              <a:t> </a:t>
            </a:r>
            <a:r>
              <a:rPr dirty="0"/>
              <a:t>College</a:t>
            </a:r>
            <a:r>
              <a:rPr dirty="0" spc="-15"/>
              <a:t> </a:t>
            </a:r>
            <a:r>
              <a:rPr dirty="0" spc="-10"/>
              <a:t>Canada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B7180"/>
                </a:solidFill>
                <a:latin typeface="Arial MT"/>
                <a:cs typeface="Arial MT"/>
              </a:defRPr>
            </a:lvl1pPr>
          </a:lstStyle>
          <a:p>
            <a:pPr marL="9398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#</a:t>
            </a:fld>
            <a:r>
              <a:rPr dirty="0" spc="-5"/>
              <a:t> </a:t>
            </a:r>
            <a:r>
              <a:rPr dirty="0"/>
              <a:t>/ </a:t>
            </a:r>
            <a:r>
              <a:rPr dirty="0" spc="-25"/>
              <a:t>30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114023" y="278938"/>
            <a:ext cx="570102" cy="45258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0219" y="624585"/>
            <a:ext cx="782256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091F3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0219" y="1548130"/>
            <a:ext cx="5416550" cy="1915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A233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0219" y="6670263"/>
            <a:ext cx="1471295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6B718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Property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IBT</a:t>
            </a:r>
            <a:r>
              <a:rPr dirty="0" spc="-35"/>
              <a:t> </a:t>
            </a:r>
            <a:r>
              <a:rPr dirty="0"/>
              <a:t>College</a:t>
            </a:r>
            <a:r>
              <a:rPr dirty="0" spc="-15"/>
              <a:t> </a:t>
            </a:r>
            <a:r>
              <a:rPr dirty="0" spc="-10"/>
              <a:t>Canada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339830" y="6670263"/>
            <a:ext cx="363854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6B7180"/>
                </a:solidFill>
                <a:latin typeface="Arial MT"/>
                <a:cs typeface="Arial MT"/>
              </a:defRPr>
            </a:lvl1pPr>
          </a:lstStyle>
          <a:p>
            <a:pPr marL="9398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#</a:t>
            </a:fld>
            <a:r>
              <a:rPr dirty="0" spc="-5"/>
              <a:t> </a:t>
            </a:r>
            <a:r>
              <a:rPr dirty="0"/>
              <a:t>/ </a:t>
            </a:r>
            <a:r>
              <a:rPr dirty="0" spc="-25"/>
              <a:t>30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4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/home/claude/decks/assets/ibt_logo_trim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19" y="502919"/>
            <a:ext cx="1828800" cy="145491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90219" y="2743327"/>
            <a:ext cx="337947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80820" algn="l"/>
                <a:tab pos="1764030" algn="l"/>
              </a:tabLst>
            </a:pPr>
            <a:r>
              <a:rPr dirty="0" sz="1500" spc="-20" b="1">
                <a:solidFill>
                  <a:srgbClr val="E4B546"/>
                </a:solidFill>
                <a:latin typeface="Arial"/>
                <a:cs typeface="Arial"/>
              </a:rPr>
              <a:t>M</a:t>
            </a:r>
            <a:r>
              <a:rPr dirty="0" sz="1500" spc="-120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E4B546"/>
                </a:solidFill>
                <a:latin typeface="Arial"/>
                <a:cs typeface="Arial"/>
              </a:rPr>
              <a:t>O</a:t>
            </a:r>
            <a:r>
              <a:rPr dirty="0" sz="1500" spc="-120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E4B546"/>
                </a:solidFill>
                <a:latin typeface="Arial"/>
                <a:cs typeface="Arial"/>
              </a:rPr>
              <a:t>D</a:t>
            </a:r>
            <a:r>
              <a:rPr dirty="0" sz="1500" spc="-125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E4B546"/>
                </a:solidFill>
                <a:latin typeface="Arial"/>
                <a:cs typeface="Arial"/>
              </a:rPr>
              <a:t>U</a:t>
            </a:r>
            <a:r>
              <a:rPr dirty="0" sz="1500" spc="-120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E4B546"/>
                </a:solidFill>
                <a:latin typeface="Arial"/>
                <a:cs typeface="Arial"/>
              </a:rPr>
              <a:t>L</a:t>
            </a:r>
            <a:r>
              <a:rPr dirty="0" sz="1500" spc="-120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E4B546"/>
                </a:solidFill>
                <a:latin typeface="Arial"/>
                <a:cs typeface="Arial"/>
              </a:rPr>
              <a:t>E</a:t>
            </a:r>
            <a:r>
              <a:rPr dirty="0" sz="1500" spc="95" b="1">
                <a:solidFill>
                  <a:srgbClr val="E4B546"/>
                </a:solidFill>
                <a:latin typeface="Arial"/>
                <a:cs typeface="Arial"/>
              </a:rPr>
              <a:t>  </a:t>
            </a:r>
            <a:r>
              <a:rPr dirty="0" sz="1500" spc="-50" b="1">
                <a:solidFill>
                  <a:srgbClr val="E4B546"/>
                </a:solidFill>
                <a:latin typeface="Arial"/>
                <a:cs typeface="Arial"/>
              </a:rPr>
              <a:t>1</a:t>
            </a:r>
            <a:r>
              <a:rPr dirty="0" sz="1500" b="1">
                <a:solidFill>
                  <a:srgbClr val="E4B546"/>
                </a:solidFill>
                <a:latin typeface="Arial"/>
                <a:cs typeface="Arial"/>
              </a:rPr>
              <a:t>	</a:t>
            </a:r>
            <a:r>
              <a:rPr dirty="0" sz="1500" spc="-50" b="1">
                <a:solidFill>
                  <a:srgbClr val="E4B546"/>
                </a:solidFill>
                <a:latin typeface="Arial"/>
                <a:cs typeface="Arial"/>
              </a:rPr>
              <a:t>·</a:t>
            </a:r>
            <a:r>
              <a:rPr dirty="0" sz="1500" b="1">
                <a:solidFill>
                  <a:srgbClr val="E4B546"/>
                </a:solidFill>
                <a:latin typeface="Arial"/>
                <a:cs typeface="Arial"/>
              </a:rPr>
              <a:t>	F</a:t>
            </a:r>
            <a:r>
              <a:rPr dirty="0" sz="1500" spc="-125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E4B546"/>
                </a:solidFill>
                <a:latin typeface="Arial"/>
                <a:cs typeface="Arial"/>
              </a:rPr>
              <a:t>O</a:t>
            </a:r>
            <a:r>
              <a:rPr dirty="0" sz="1500" spc="-120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E4B546"/>
                </a:solidFill>
                <a:latin typeface="Arial"/>
                <a:cs typeface="Arial"/>
              </a:rPr>
              <a:t>U</a:t>
            </a:r>
            <a:r>
              <a:rPr dirty="0" sz="1500" spc="-120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E4B546"/>
                </a:solidFill>
                <a:latin typeface="Arial"/>
                <a:cs typeface="Arial"/>
              </a:rPr>
              <a:t>N</a:t>
            </a:r>
            <a:r>
              <a:rPr dirty="0" sz="1500" spc="-120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E4B546"/>
                </a:solidFill>
                <a:latin typeface="Arial"/>
                <a:cs typeface="Arial"/>
              </a:rPr>
              <a:t>D</a:t>
            </a:r>
            <a:r>
              <a:rPr dirty="0" sz="1500" spc="-105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E4B546"/>
                </a:solidFill>
                <a:latin typeface="Arial"/>
                <a:cs typeface="Arial"/>
              </a:rPr>
              <a:t>A</a:t>
            </a:r>
            <a:r>
              <a:rPr dirty="0" sz="1500" spc="-165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E4B546"/>
                </a:solidFill>
                <a:latin typeface="Arial"/>
                <a:cs typeface="Arial"/>
              </a:rPr>
              <a:t>T</a:t>
            </a:r>
            <a:r>
              <a:rPr dirty="0" sz="1500" spc="-130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E4B546"/>
                </a:solidFill>
                <a:latin typeface="Arial"/>
                <a:cs typeface="Arial"/>
              </a:rPr>
              <a:t>I</a:t>
            </a:r>
            <a:r>
              <a:rPr dirty="0" sz="1500" spc="-110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E4B546"/>
                </a:solidFill>
                <a:latin typeface="Arial"/>
                <a:cs typeface="Arial"/>
              </a:rPr>
              <a:t>O</a:t>
            </a:r>
            <a:r>
              <a:rPr dirty="0" sz="1500" spc="-120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500" spc="-50" b="1">
                <a:solidFill>
                  <a:srgbClr val="E4B546"/>
                </a:solidFill>
                <a:latin typeface="Arial"/>
                <a:cs typeface="Arial"/>
              </a:rPr>
              <a:t>N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02919" y="3063239"/>
            <a:ext cx="1554480" cy="502920"/>
          </a:xfrm>
          <a:prstGeom prst="rect"/>
          <a:solidFill>
            <a:srgbClr val="D39F27"/>
          </a:solidFill>
        </p:spPr>
        <p:txBody>
          <a:bodyPr wrap="square" lIns="0" tIns="68580" rIns="0" bIns="0" rtlCol="0" vert="horz">
            <a:spAutoFit/>
          </a:bodyPr>
          <a:lstStyle/>
          <a:p>
            <a:pPr marL="381000">
              <a:lnSpc>
                <a:spcPct val="100000"/>
              </a:lnSpc>
              <a:spcBef>
                <a:spcPts val="540"/>
              </a:spcBef>
            </a:pPr>
            <a:r>
              <a:rPr dirty="0" sz="2200" spc="-75"/>
              <a:t>DAY</a:t>
            </a:r>
            <a:r>
              <a:rPr dirty="0" sz="2200" spc="-65"/>
              <a:t> </a:t>
            </a:r>
            <a:r>
              <a:rPr dirty="0" sz="2200" spc="-50"/>
              <a:t>2</a:t>
            </a:r>
            <a:endParaRPr sz="2200"/>
          </a:p>
        </p:txBody>
      </p:sp>
      <p:sp>
        <p:nvSpPr>
          <p:cNvPr id="5" name="object 5"/>
          <p:cNvSpPr txBox="1"/>
          <p:nvPr/>
        </p:nvSpPr>
        <p:spPr>
          <a:xfrm>
            <a:off x="490219" y="3659504"/>
            <a:ext cx="586422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b="1">
                <a:solidFill>
                  <a:srgbClr val="FFFFFF"/>
                </a:solidFill>
                <a:latin typeface="Arial"/>
                <a:cs typeface="Arial"/>
              </a:rPr>
              <a:t>Python </a:t>
            </a:r>
            <a:r>
              <a:rPr dirty="0" sz="4400" spc="-10" b="1">
                <a:solidFill>
                  <a:srgbClr val="FFFFFF"/>
                </a:solidFill>
                <a:latin typeface="Arial"/>
                <a:cs typeface="Arial"/>
              </a:rPr>
              <a:t>Fundamentals</a:t>
            </a:r>
            <a:endParaRPr sz="4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0219" y="4884801"/>
            <a:ext cx="86264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i="1">
                <a:solidFill>
                  <a:srgbClr val="6D8FB8"/>
                </a:solidFill>
                <a:latin typeface="Arial"/>
                <a:cs typeface="Arial"/>
              </a:rPr>
              <a:t>Variables,</a:t>
            </a:r>
            <a:r>
              <a:rPr dirty="0" sz="1600" spc="-55" i="1">
                <a:solidFill>
                  <a:srgbClr val="6D8FB8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6D8FB8"/>
                </a:solidFill>
                <a:latin typeface="Arial"/>
                <a:cs typeface="Arial"/>
              </a:rPr>
              <a:t>data</a:t>
            </a:r>
            <a:r>
              <a:rPr dirty="0" sz="1600" spc="-30" i="1">
                <a:solidFill>
                  <a:srgbClr val="6D8FB8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6D8FB8"/>
                </a:solidFill>
                <a:latin typeface="Arial"/>
                <a:cs typeface="Arial"/>
              </a:rPr>
              <a:t>types,</a:t>
            </a:r>
            <a:r>
              <a:rPr dirty="0" sz="1600" spc="-35" i="1">
                <a:solidFill>
                  <a:srgbClr val="6D8FB8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6D8FB8"/>
                </a:solidFill>
                <a:latin typeface="Arial"/>
                <a:cs typeface="Arial"/>
              </a:rPr>
              <a:t>operators,</a:t>
            </a:r>
            <a:r>
              <a:rPr dirty="0" sz="1600" spc="-15" i="1">
                <a:solidFill>
                  <a:srgbClr val="6D8FB8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6D8FB8"/>
                </a:solidFill>
                <a:latin typeface="Arial"/>
                <a:cs typeface="Arial"/>
              </a:rPr>
              <a:t>control</a:t>
            </a:r>
            <a:r>
              <a:rPr dirty="0" sz="1600" spc="-30" i="1">
                <a:solidFill>
                  <a:srgbClr val="6D8FB8"/>
                </a:solidFill>
                <a:latin typeface="Arial"/>
                <a:cs typeface="Arial"/>
              </a:rPr>
              <a:t> </a:t>
            </a:r>
            <a:r>
              <a:rPr dirty="0" sz="1600" spc="-10" i="1">
                <a:solidFill>
                  <a:srgbClr val="6D8FB8"/>
                </a:solidFill>
                <a:latin typeface="Arial"/>
                <a:cs typeface="Arial"/>
              </a:rPr>
              <a:t>flow,</a:t>
            </a:r>
            <a:r>
              <a:rPr dirty="0" sz="1600" spc="-45" i="1">
                <a:solidFill>
                  <a:srgbClr val="6D8FB8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6D8FB8"/>
                </a:solidFill>
                <a:latin typeface="Arial"/>
                <a:cs typeface="Arial"/>
              </a:rPr>
              <a:t>and</a:t>
            </a:r>
            <a:r>
              <a:rPr dirty="0" sz="1600" spc="-45" i="1">
                <a:solidFill>
                  <a:srgbClr val="6D8FB8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6D8FB8"/>
                </a:solidFill>
                <a:latin typeface="Arial"/>
                <a:cs typeface="Arial"/>
              </a:rPr>
              <a:t>functions</a:t>
            </a:r>
            <a:r>
              <a:rPr dirty="0" sz="1600" spc="-20" i="1">
                <a:solidFill>
                  <a:srgbClr val="6D8FB8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6D8FB8"/>
                </a:solidFill>
                <a:latin typeface="Arial"/>
                <a:cs typeface="Arial"/>
              </a:rPr>
              <a:t>—</a:t>
            </a:r>
            <a:r>
              <a:rPr dirty="0" sz="1600" spc="-30" i="1">
                <a:solidFill>
                  <a:srgbClr val="6D8FB8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6D8FB8"/>
                </a:solidFill>
                <a:latin typeface="Arial"/>
                <a:cs typeface="Arial"/>
              </a:rPr>
              <a:t>the</a:t>
            </a:r>
            <a:r>
              <a:rPr dirty="0" sz="1600" spc="-30" i="1">
                <a:solidFill>
                  <a:srgbClr val="6D8FB8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6D8FB8"/>
                </a:solidFill>
                <a:latin typeface="Arial"/>
                <a:cs typeface="Arial"/>
              </a:rPr>
              <a:t>core</a:t>
            </a:r>
            <a:r>
              <a:rPr dirty="0" sz="1600" spc="-35" i="1">
                <a:solidFill>
                  <a:srgbClr val="6D8FB8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6D8FB8"/>
                </a:solidFill>
                <a:latin typeface="Arial"/>
                <a:cs typeface="Arial"/>
              </a:rPr>
              <a:t>of</a:t>
            </a:r>
            <a:r>
              <a:rPr dirty="0" sz="1600" spc="-30" i="1">
                <a:solidFill>
                  <a:srgbClr val="6D8FB8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6D8FB8"/>
                </a:solidFill>
                <a:latin typeface="Arial"/>
                <a:cs typeface="Arial"/>
              </a:rPr>
              <a:t>writing</a:t>
            </a:r>
            <a:r>
              <a:rPr dirty="0" sz="1600" spc="-45" i="1">
                <a:solidFill>
                  <a:srgbClr val="6D8FB8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6D8FB8"/>
                </a:solidFill>
                <a:latin typeface="Arial"/>
                <a:cs typeface="Arial"/>
              </a:rPr>
              <a:t>real</a:t>
            </a:r>
            <a:r>
              <a:rPr dirty="0" sz="1600" spc="-40" i="1">
                <a:solidFill>
                  <a:srgbClr val="6D8FB8"/>
                </a:solidFill>
                <a:latin typeface="Arial"/>
                <a:cs typeface="Arial"/>
              </a:rPr>
              <a:t> </a:t>
            </a:r>
            <a:r>
              <a:rPr dirty="0" sz="1600" spc="-10" i="1">
                <a:solidFill>
                  <a:srgbClr val="6D8FB8"/>
                </a:solidFill>
                <a:latin typeface="Arial"/>
                <a:cs typeface="Arial"/>
              </a:rPr>
              <a:t>programs.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2919" y="5532120"/>
            <a:ext cx="11155680" cy="0"/>
          </a:xfrm>
          <a:custGeom>
            <a:avLst/>
            <a:gdLst/>
            <a:ahLst/>
            <a:cxnLst/>
            <a:rect l="l" t="t" r="r" b="b"/>
            <a:pathLst>
              <a:path w="11155680" h="0">
                <a:moveTo>
                  <a:pt x="0" y="0"/>
                </a:moveTo>
                <a:lnTo>
                  <a:pt x="11155680" y="0"/>
                </a:lnTo>
              </a:path>
            </a:pathLst>
          </a:custGeom>
          <a:ln w="12700">
            <a:solidFill>
              <a:srgbClr val="1B4D8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90219" y="5630367"/>
            <a:ext cx="3053080" cy="378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6D8FB8"/>
                </a:solidFill>
                <a:latin typeface="Arial MT"/>
                <a:cs typeface="Arial MT"/>
              </a:rPr>
              <a:t>CodeOps</a:t>
            </a:r>
            <a:r>
              <a:rPr dirty="0" sz="1200" spc="-4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6D8FB8"/>
                </a:solidFill>
                <a:latin typeface="Arial MT"/>
                <a:cs typeface="Arial MT"/>
              </a:rPr>
              <a:t>·</a:t>
            </a:r>
            <a:r>
              <a:rPr dirty="0" sz="1200" spc="-10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6D8FB8"/>
                </a:solidFill>
                <a:latin typeface="Arial MT"/>
                <a:cs typeface="Arial MT"/>
              </a:rPr>
              <a:t>Full</a:t>
            </a:r>
            <a:r>
              <a:rPr dirty="0" sz="1200" spc="-10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6D8FB8"/>
                </a:solidFill>
                <a:latin typeface="Arial MT"/>
                <a:cs typeface="Arial MT"/>
              </a:rPr>
              <a:t>Stack</a:t>
            </a:r>
            <a:r>
              <a:rPr dirty="0" sz="1200" spc="-20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6D8FB8"/>
                </a:solidFill>
                <a:latin typeface="Arial MT"/>
                <a:cs typeface="Arial MT"/>
              </a:rPr>
              <a:t>Software</a:t>
            </a:r>
            <a:r>
              <a:rPr dirty="0" sz="1200" spc="-3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6D8FB8"/>
                </a:solidFill>
                <a:latin typeface="Arial MT"/>
                <a:cs typeface="Arial MT"/>
              </a:rPr>
              <a:t>Development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100">
                <a:solidFill>
                  <a:srgbClr val="6B7180"/>
                </a:solidFill>
                <a:latin typeface="Arial MT"/>
                <a:cs typeface="Arial MT"/>
              </a:rPr>
              <a:t>Designed</a:t>
            </a:r>
            <a:r>
              <a:rPr dirty="0" sz="1100" spc="-35">
                <a:solidFill>
                  <a:srgbClr val="6B718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B7180"/>
                </a:solidFill>
                <a:latin typeface="Arial MT"/>
                <a:cs typeface="Arial MT"/>
              </a:rPr>
              <a:t>by:</a:t>
            </a:r>
            <a:r>
              <a:rPr dirty="0" sz="1100" spc="-45">
                <a:solidFill>
                  <a:srgbClr val="6B718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B7180"/>
                </a:solidFill>
                <a:latin typeface="Arial MT"/>
                <a:cs typeface="Arial MT"/>
              </a:rPr>
              <a:t>Mehran</a:t>
            </a:r>
            <a:r>
              <a:rPr dirty="0" sz="1100" spc="-35">
                <a:solidFill>
                  <a:srgbClr val="6B718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6B7180"/>
                </a:solidFill>
                <a:latin typeface="Arial MT"/>
                <a:cs typeface="Arial MT"/>
              </a:rPr>
              <a:t>Dasgar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67113" y="5721807"/>
            <a:ext cx="20332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6D8FB8"/>
                </a:solidFill>
                <a:latin typeface="Arial MT"/>
                <a:cs typeface="Arial MT"/>
              </a:rPr>
              <a:t>IBT</a:t>
            </a:r>
            <a:r>
              <a:rPr dirty="0" sz="1200" spc="-30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6D8FB8"/>
                </a:solidFill>
                <a:latin typeface="Arial MT"/>
                <a:cs typeface="Arial MT"/>
              </a:rPr>
              <a:t>College</a:t>
            </a:r>
            <a:r>
              <a:rPr dirty="0" sz="1200" spc="-40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6D8FB8"/>
                </a:solidFill>
                <a:latin typeface="Arial MT"/>
                <a:cs typeface="Arial MT"/>
              </a:rPr>
              <a:t>Canada</a:t>
            </a:r>
            <a:r>
              <a:rPr dirty="0" sz="1200" spc="-60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6D8FB8"/>
                </a:solidFill>
                <a:latin typeface="Arial MT"/>
                <a:cs typeface="Arial MT"/>
              </a:rPr>
              <a:t>·</a:t>
            </a:r>
            <a:r>
              <a:rPr dirty="0" sz="1200" spc="-2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6D8FB8"/>
                </a:solidFill>
                <a:latin typeface="Arial MT"/>
                <a:cs typeface="Arial MT"/>
              </a:rPr>
              <a:t>Toronto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343915"/>
            <a:ext cx="19215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D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A</a:t>
            </a:r>
            <a:r>
              <a:rPr dirty="0" sz="1100" spc="-14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Y</a:t>
            </a:r>
            <a:r>
              <a:rPr dirty="0" sz="1100" spc="43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2</a:t>
            </a:r>
            <a:r>
              <a:rPr dirty="0" sz="1100" spc="4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·</a:t>
            </a:r>
            <a:r>
              <a:rPr dirty="0" sz="1100" spc="38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F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U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D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A</a:t>
            </a:r>
            <a:r>
              <a:rPr dirty="0" sz="1100" spc="-14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I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Learning</a:t>
            </a:r>
            <a:r>
              <a:rPr dirty="0" spc="-125"/>
              <a:t> </a:t>
            </a:r>
            <a:r>
              <a:rPr dirty="0" spc="-10"/>
              <a:t>Objectives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0219" y="1378965"/>
            <a:ext cx="3481704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By</a:t>
            </a:r>
            <a:r>
              <a:rPr dirty="0" sz="1400" spc="-2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the</a:t>
            </a:r>
            <a:r>
              <a:rPr dirty="0" sz="1400" spc="-4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end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of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spc="-10" i="1">
                <a:solidFill>
                  <a:srgbClr val="495468"/>
                </a:solidFill>
                <a:latin typeface="Arial"/>
                <a:cs typeface="Arial"/>
              </a:rPr>
              <a:t>today,</a:t>
            </a:r>
            <a:r>
              <a:rPr dirty="0" sz="1400" spc="-5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students</a:t>
            </a:r>
            <a:r>
              <a:rPr dirty="0" sz="1400" spc="-5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will</a:t>
            </a:r>
            <a:r>
              <a:rPr dirty="0" sz="1400" spc="-1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be</a:t>
            </a:r>
            <a:r>
              <a:rPr dirty="0" sz="14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able</a:t>
            </a:r>
            <a:r>
              <a:rPr dirty="0" sz="14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to: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0867" y="1750948"/>
            <a:ext cx="5504180" cy="1433830"/>
            <a:chOff x="470867" y="1750948"/>
            <a:chExt cx="5504180" cy="143383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67" y="1750948"/>
              <a:ext cx="5504023" cy="14335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2919" y="1783079"/>
              <a:ext cx="5410200" cy="1325880"/>
            </a:xfrm>
            <a:custGeom>
              <a:avLst/>
              <a:gdLst/>
              <a:ahLst/>
              <a:cxnLst/>
              <a:rect l="l" t="t" r="r" b="b"/>
              <a:pathLst>
                <a:path w="5410200" h="1325880">
                  <a:moveTo>
                    <a:pt x="533692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2"/>
                  </a:lnTo>
                  <a:lnTo>
                    <a:pt x="0" y="1252728"/>
                  </a:lnTo>
                  <a:lnTo>
                    <a:pt x="5748" y="1281195"/>
                  </a:lnTo>
                  <a:lnTo>
                    <a:pt x="21426" y="1304448"/>
                  </a:lnTo>
                  <a:lnTo>
                    <a:pt x="44678" y="1320129"/>
                  </a:lnTo>
                  <a:lnTo>
                    <a:pt x="73151" y="1325880"/>
                  </a:lnTo>
                  <a:lnTo>
                    <a:pt x="5336920" y="1325880"/>
                  </a:lnTo>
                  <a:lnTo>
                    <a:pt x="5365388" y="1320129"/>
                  </a:lnTo>
                  <a:lnTo>
                    <a:pt x="5388641" y="1304448"/>
                  </a:lnTo>
                  <a:lnTo>
                    <a:pt x="5404322" y="1281195"/>
                  </a:lnTo>
                  <a:lnTo>
                    <a:pt x="5410072" y="1252728"/>
                  </a:lnTo>
                  <a:lnTo>
                    <a:pt x="5410072" y="73152"/>
                  </a:lnTo>
                  <a:lnTo>
                    <a:pt x="5404322" y="44684"/>
                  </a:lnTo>
                  <a:lnTo>
                    <a:pt x="5388641" y="21431"/>
                  </a:lnTo>
                  <a:lnTo>
                    <a:pt x="5365388" y="5750"/>
                  </a:lnTo>
                  <a:lnTo>
                    <a:pt x="533692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04087" y="200253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024" y="0"/>
                  </a:moveTo>
                  <a:lnTo>
                    <a:pt x="147992" y="5071"/>
                  </a:lnTo>
                  <a:lnTo>
                    <a:pt x="107574" y="19518"/>
                  </a:lnTo>
                  <a:lnTo>
                    <a:pt x="71920" y="42187"/>
                  </a:lnTo>
                  <a:lnTo>
                    <a:pt x="42183" y="71925"/>
                  </a:lnTo>
                  <a:lnTo>
                    <a:pt x="19516" y="107579"/>
                  </a:lnTo>
                  <a:lnTo>
                    <a:pt x="5071" y="147996"/>
                  </a:lnTo>
                  <a:lnTo>
                    <a:pt x="0" y="192024"/>
                  </a:lnTo>
                  <a:lnTo>
                    <a:pt x="5071" y="236051"/>
                  </a:lnTo>
                  <a:lnTo>
                    <a:pt x="19516" y="276468"/>
                  </a:lnTo>
                  <a:lnTo>
                    <a:pt x="42183" y="312122"/>
                  </a:lnTo>
                  <a:lnTo>
                    <a:pt x="71920" y="341860"/>
                  </a:lnTo>
                  <a:lnTo>
                    <a:pt x="107574" y="364529"/>
                  </a:lnTo>
                  <a:lnTo>
                    <a:pt x="147992" y="378976"/>
                  </a:lnTo>
                  <a:lnTo>
                    <a:pt x="192024" y="384048"/>
                  </a:lnTo>
                  <a:lnTo>
                    <a:pt x="236055" y="378976"/>
                  </a:lnTo>
                  <a:lnTo>
                    <a:pt x="276473" y="364529"/>
                  </a:lnTo>
                  <a:lnTo>
                    <a:pt x="312127" y="341860"/>
                  </a:lnTo>
                  <a:lnTo>
                    <a:pt x="341864" y="312122"/>
                  </a:lnTo>
                  <a:lnTo>
                    <a:pt x="364531" y="276468"/>
                  </a:lnTo>
                  <a:lnTo>
                    <a:pt x="378976" y="236051"/>
                  </a:lnTo>
                  <a:lnTo>
                    <a:pt x="384048" y="192024"/>
                  </a:lnTo>
                  <a:lnTo>
                    <a:pt x="378976" y="147996"/>
                  </a:lnTo>
                  <a:lnTo>
                    <a:pt x="364531" y="107579"/>
                  </a:lnTo>
                  <a:lnTo>
                    <a:pt x="341864" y="71925"/>
                  </a:lnTo>
                  <a:lnTo>
                    <a:pt x="312127" y="42187"/>
                  </a:lnTo>
                  <a:lnTo>
                    <a:pt x="276473" y="19518"/>
                  </a:lnTo>
                  <a:lnTo>
                    <a:pt x="236055" y="5071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1B4D8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29462" y="2056841"/>
            <a:ext cx="13208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2044" y="1895425"/>
            <a:ext cx="4300220" cy="634365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1500" b="1">
                <a:solidFill>
                  <a:srgbClr val="091F3C"/>
                </a:solidFill>
                <a:latin typeface="Arial"/>
                <a:cs typeface="Arial"/>
              </a:rPr>
              <a:t>Run</a:t>
            </a:r>
            <a:r>
              <a:rPr dirty="0" sz="1500" spc="-5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091F3C"/>
                </a:solidFill>
                <a:latin typeface="Arial"/>
                <a:cs typeface="Arial"/>
              </a:rPr>
              <a:t>Python</a:t>
            </a:r>
            <a:r>
              <a:rPr dirty="0" sz="1500" spc="-1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091F3C"/>
                </a:solidFill>
                <a:latin typeface="Arial"/>
                <a:cs typeface="Arial"/>
              </a:rPr>
              <a:t>code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Use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interactive REPL</a:t>
            </a:r>
            <a:r>
              <a:rPr dirty="0" sz="11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and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run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.py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script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files</a:t>
            </a:r>
            <a:r>
              <a:rPr dirty="0" sz="11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from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terminal.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246827" y="1750948"/>
            <a:ext cx="5504180" cy="1433830"/>
            <a:chOff x="6246827" y="1750948"/>
            <a:chExt cx="5504180" cy="143383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6827" y="1750948"/>
              <a:ext cx="5504023" cy="143351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278753" y="1783079"/>
              <a:ext cx="5410200" cy="1325880"/>
            </a:xfrm>
            <a:custGeom>
              <a:avLst/>
              <a:gdLst/>
              <a:ahLst/>
              <a:cxnLst/>
              <a:rect l="l" t="t" r="r" b="b"/>
              <a:pathLst>
                <a:path w="5410200" h="1325880">
                  <a:moveTo>
                    <a:pt x="533692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1252728"/>
                  </a:lnTo>
                  <a:lnTo>
                    <a:pt x="5750" y="1281195"/>
                  </a:lnTo>
                  <a:lnTo>
                    <a:pt x="21431" y="1304448"/>
                  </a:lnTo>
                  <a:lnTo>
                    <a:pt x="44684" y="1320129"/>
                  </a:lnTo>
                  <a:lnTo>
                    <a:pt x="73151" y="1325880"/>
                  </a:lnTo>
                  <a:lnTo>
                    <a:pt x="5336921" y="1325880"/>
                  </a:lnTo>
                  <a:lnTo>
                    <a:pt x="5365388" y="1320129"/>
                  </a:lnTo>
                  <a:lnTo>
                    <a:pt x="5388641" y="1304448"/>
                  </a:lnTo>
                  <a:lnTo>
                    <a:pt x="5404322" y="1281195"/>
                  </a:lnTo>
                  <a:lnTo>
                    <a:pt x="5410073" y="1252728"/>
                  </a:lnTo>
                  <a:lnTo>
                    <a:pt x="5410073" y="73152"/>
                  </a:lnTo>
                  <a:lnTo>
                    <a:pt x="5404322" y="44684"/>
                  </a:lnTo>
                  <a:lnTo>
                    <a:pt x="5388641" y="21431"/>
                  </a:lnTo>
                  <a:lnTo>
                    <a:pt x="5365388" y="5750"/>
                  </a:lnTo>
                  <a:lnTo>
                    <a:pt x="5336921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479921" y="200253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024" y="0"/>
                  </a:moveTo>
                  <a:lnTo>
                    <a:pt x="147996" y="5071"/>
                  </a:lnTo>
                  <a:lnTo>
                    <a:pt x="107579" y="19518"/>
                  </a:lnTo>
                  <a:lnTo>
                    <a:pt x="71925" y="42187"/>
                  </a:lnTo>
                  <a:lnTo>
                    <a:pt x="42187" y="71925"/>
                  </a:lnTo>
                  <a:lnTo>
                    <a:pt x="19518" y="107579"/>
                  </a:lnTo>
                  <a:lnTo>
                    <a:pt x="5071" y="147996"/>
                  </a:lnTo>
                  <a:lnTo>
                    <a:pt x="0" y="192024"/>
                  </a:lnTo>
                  <a:lnTo>
                    <a:pt x="5071" y="236051"/>
                  </a:lnTo>
                  <a:lnTo>
                    <a:pt x="19518" y="276468"/>
                  </a:lnTo>
                  <a:lnTo>
                    <a:pt x="42187" y="312122"/>
                  </a:lnTo>
                  <a:lnTo>
                    <a:pt x="71925" y="341860"/>
                  </a:lnTo>
                  <a:lnTo>
                    <a:pt x="107579" y="364529"/>
                  </a:lnTo>
                  <a:lnTo>
                    <a:pt x="147996" y="378976"/>
                  </a:lnTo>
                  <a:lnTo>
                    <a:pt x="192024" y="384048"/>
                  </a:lnTo>
                  <a:lnTo>
                    <a:pt x="236051" y="378976"/>
                  </a:lnTo>
                  <a:lnTo>
                    <a:pt x="276468" y="364529"/>
                  </a:lnTo>
                  <a:lnTo>
                    <a:pt x="312122" y="341860"/>
                  </a:lnTo>
                  <a:lnTo>
                    <a:pt x="341860" y="312122"/>
                  </a:lnTo>
                  <a:lnTo>
                    <a:pt x="364529" y="276468"/>
                  </a:lnTo>
                  <a:lnTo>
                    <a:pt x="378976" y="236051"/>
                  </a:lnTo>
                  <a:lnTo>
                    <a:pt x="384048" y="192024"/>
                  </a:lnTo>
                  <a:lnTo>
                    <a:pt x="378976" y="147996"/>
                  </a:lnTo>
                  <a:lnTo>
                    <a:pt x="364529" y="107579"/>
                  </a:lnTo>
                  <a:lnTo>
                    <a:pt x="341860" y="71925"/>
                  </a:lnTo>
                  <a:lnTo>
                    <a:pt x="312122" y="42187"/>
                  </a:lnTo>
                  <a:lnTo>
                    <a:pt x="276468" y="19518"/>
                  </a:lnTo>
                  <a:lnTo>
                    <a:pt x="236051" y="5071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1B4D8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606031" y="2056841"/>
            <a:ext cx="13208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98334" y="1889463"/>
            <a:ext cx="4487545" cy="81597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500" b="1">
                <a:solidFill>
                  <a:srgbClr val="091F3C"/>
                </a:solidFill>
                <a:latin typeface="Arial"/>
                <a:cs typeface="Arial"/>
              </a:rPr>
              <a:t>Use</a:t>
            </a:r>
            <a:r>
              <a:rPr dirty="0" sz="1500" spc="-3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091F3C"/>
                </a:solidFill>
                <a:latin typeface="Arial"/>
                <a:cs typeface="Arial"/>
              </a:rPr>
              <a:t>variables</a:t>
            </a:r>
            <a:r>
              <a:rPr dirty="0" sz="1500" spc="-30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091F3C"/>
                </a:solidFill>
                <a:latin typeface="Arial"/>
                <a:cs typeface="Arial"/>
              </a:rPr>
              <a:t>&amp;</a:t>
            </a:r>
            <a:r>
              <a:rPr dirty="0" sz="1500" spc="-3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091F3C"/>
                </a:solidFill>
                <a:latin typeface="Arial"/>
                <a:cs typeface="Arial"/>
              </a:rPr>
              <a:t>types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340"/>
              </a:lnSpc>
              <a:spcBef>
                <a:spcPts val="815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Store</a:t>
            </a:r>
            <a:r>
              <a:rPr dirty="0" sz="11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data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in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well-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named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variables</a:t>
            </a:r>
            <a:r>
              <a:rPr dirty="0" sz="1150" spc="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using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numbers,</a:t>
            </a:r>
            <a:r>
              <a:rPr dirty="0" sz="11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strings,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booleans,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and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None.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70867" y="3351148"/>
            <a:ext cx="5504180" cy="1433830"/>
            <a:chOff x="470867" y="3351148"/>
            <a:chExt cx="5504180" cy="143383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67" y="3351148"/>
              <a:ext cx="5504023" cy="143351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02919" y="3383279"/>
              <a:ext cx="5410200" cy="1325880"/>
            </a:xfrm>
            <a:custGeom>
              <a:avLst/>
              <a:gdLst/>
              <a:ahLst/>
              <a:cxnLst/>
              <a:rect l="l" t="t" r="r" b="b"/>
              <a:pathLst>
                <a:path w="5410200" h="1325879">
                  <a:moveTo>
                    <a:pt x="533692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2"/>
                  </a:lnTo>
                  <a:lnTo>
                    <a:pt x="0" y="1252728"/>
                  </a:lnTo>
                  <a:lnTo>
                    <a:pt x="5748" y="1281195"/>
                  </a:lnTo>
                  <a:lnTo>
                    <a:pt x="21426" y="1304448"/>
                  </a:lnTo>
                  <a:lnTo>
                    <a:pt x="44678" y="1320129"/>
                  </a:lnTo>
                  <a:lnTo>
                    <a:pt x="73151" y="1325880"/>
                  </a:lnTo>
                  <a:lnTo>
                    <a:pt x="5336920" y="1325880"/>
                  </a:lnTo>
                  <a:lnTo>
                    <a:pt x="5365388" y="1320129"/>
                  </a:lnTo>
                  <a:lnTo>
                    <a:pt x="5388641" y="1304448"/>
                  </a:lnTo>
                  <a:lnTo>
                    <a:pt x="5404322" y="1281195"/>
                  </a:lnTo>
                  <a:lnTo>
                    <a:pt x="5410072" y="1252728"/>
                  </a:lnTo>
                  <a:lnTo>
                    <a:pt x="5410072" y="73152"/>
                  </a:lnTo>
                  <a:lnTo>
                    <a:pt x="5404322" y="44684"/>
                  </a:lnTo>
                  <a:lnTo>
                    <a:pt x="5388641" y="21431"/>
                  </a:lnTo>
                  <a:lnTo>
                    <a:pt x="5365388" y="5750"/>
                  </a:lnTo>
                  <a:lnTo>
                    <a:pt x="533692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04087" y="360273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024" y="0"/>
                  </a:moveTo>
                  <a:lnTo>
                    <a:pt x="147992" y="5071"/>
                  </a:lnTo>
                  <a:lnTo>
                    <a:pt x="107574" y="19518"/>
                  </a:lnTo>
                  <a:lnTo>
                    <a:pt x="71920" y="42187"/>
                  </a:lnTo>
                  <a:lnTo>
                    <a:pt x="42183" y="71925"/>
                  </a:lnTo>
                  <a:lnTo>
                    <a:pt x="19516" y="107579"/>
                  </a:lnTo>
                  <a:lnTo>
                    <a:pt x="5071" y="147996"/>
                  </a:lnTo>
                  <a:lnTo>
                    <a:pt x="0" y="192024"/>
                  </a:lnTo>
                  <a:lnTo>
                    <a:pt x="5071" y="236051"/>
                  </a:lnTo>
                  <a:lnTo>
                    <a:pt x="19516" y="276468"/>
                  </a:lnTo>
                  <a:lnTo>
                    <a:pt x="42183" y="312122"/>
                  </a:lnTo>
                  <a:lnTo>
                    <a:pt x="71920" y="341860"/>
                  </a:lnTo>
                  <a:lnTo>
                    <a:pt x="107574" y="364529"/>
                  </a:lnTo>
                  <a:lnTo>
                    <a:pt x="147992" y="378976"/>
                  </a:lnTo>
                  <a:lnTo>
                    <a:pt x="192024" y="384047"/>
                  </a:lnTo>
                  <a:lnTo>
                    <a:pt x="236055" y="378976"/>
                  </a:lnTo>
                  <a:lnTo>
                    <a:pt x="276473" y="364529"/>
                  </a:lnTo>
                  <a:lnTo>
                    <a:pt x="312127" y="341860"/>
                  </a:lnTo>
                  <a:lnTo>
                    <a:pt x="341864" y="312122"/>
                  </a:lnTo>
                  <a:lnTo>
                    <a:pt x="364531" y="276468"/>
                  </a:lnTo>
                  <a:lnTo>
                    <a:pt x="378976" y="236051"/>
                  </a:lnTo>
                  <a:lnTo>
                    <a:pt x="384048" y="192024"/>
                  </a:lnTo>
                  <a:lnTo>
                    <a:pt x="378976" y="147996"/>
                  </a:lnTo>
                  <a:lnTo>
                    <a:pt x="364531" y="107579"/>
                  </a:lnTo>
                  <a:lnTo>
                    <a:pt x="341864" y="71925"/>
                  </a:lnTo>
                  <a:lnTo>
                    <a:pt x="312127" y="42187"/>
                  </a:lnTo>
                  <a:lnTo>
                    <a:pt x="276473" y="19518"/>
                  </a:lnTo>
                  <a:lnTo>
                    <a:pt x="236055" y="5071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1B4D8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829462" y="3657980"/>
            <a:ext cx="13144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5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22044" y="3496172"/>
            <a:ext cx="3903345" cy="634365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1500" b="1">
                <a:solidFill>
                  <a:srgbClr val="091F3C"/>
                </a:solidFill>
                <a:latin typeface="Arial"/>
                <a:cs typeface="Arial"/>
              </a:rPr>
              <a:t>Apply</a:t>
            </a:r>
            <a:r>
              <a:rPr dirty="0" sz="1500" spc="-5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091F3C"/>
                </a:solidFill>
                <a:latin typeface="Arial"/>
                <a:cs typeface="Arial"/>
              </a:rPr>
              <a:t>operators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Compute</a:t>
            </a:r>
            <a:r>
              <a:rPr dirty="0" sz="1150" spc="-4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with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arithmetic,</a:t>
            </a:r>
            <a:r>
              <a:rPr dirty="0" sz="11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comparison,</a:t>
            </a:r>
            <a:r>
              <a:rPr dirty="0" sz="115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and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logical</a:t>
            </a:r>
            <a:r>
              <a:rPr dirty="0" sz="11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operators.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246827" y="3351148"/>
            <a:ext cx="5504180" cy="1433830"/>
            <a:chOff x="6246827" y="3351148"/>
            <a:chExt cx="5504180" cy="143383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6827" y="3351148"/>
              <a:ext cx="5504023" cy="143351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278753" y="3383279"/>
              <a:ext cx="5410200" cy="1325880"/>
            </a:xfrm>
            <a:custGeom>
              <a:avLst/>
              <a:gdLst/>
              <a:ahLst/>
              <a:cxnLst/>
              <a:rect l="l" t="t" r="r" b="b"/>
              <a:pathLst>
                <a:path w="5410200" h="1325879">
                  <a:moveTo>
                    <a:pt x="533692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1252728"/>
                  </a:lnTo>
                  <a:lnTo>
                    <a:pt x="5750" y="1281195"/>
                  </a:lnTo>
                  <a:lnTo>
                    <a:pt x="21431" y="1304448"/>
                  </a:lnTo>
                  <a:lnTo>
                    <a:pt x="44684" y="1320129"/>
                  </a:lnTo>
                  <a:lnTo>
                    <a:pt x="73151" y="1325880"/>
                  </a:lnTo>
                  <a:lnTo>
                    <a:pt x="5336921" y="1325880"/>
                  </a:lnTo>
                  <a:lnTo>
                    <a:pt x="5365388" y="1320129"/>
                  </a:lnTo>
                  <a:lnTo>
                    <a:pt x="5388641" y="1304448"/>
                  </a:lnTo>
                  <a:lnTo>
                    <a:pt x="5404322" y="1281195"/>
                  </a:lnTo>
                  <a:lnTo>
                    <a:pt x="5410073" y="1252728"/>
                  </a:lnTo>
                  <a:lnTo>
                    <a:pt x="5410073" y="73152"/>
                  </a:lnTo>
                  <a:lnTo>
                    <a:pt x="5404322" y="44684"/>
                  </a:lnTo>
                  <a:lnTo>
                    <a:pt x="5388641" y="21431"/>
                  </a:lnTo>
                  <a:lnTo>
                    <a:pt x="5365388" y="5750"/>
                  </a:lnTo>
                  <a:lnTo>
                    <a:pt x="5336921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479921" y="360273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024" y="0"/>
                  </a:moveTo>
                  <a:lnTo>
                    <a:pt x="147996" y="5071"/>
                  </a:lnTo>
                  <a:lnTo>
                    <a:pt x="107579" y="19518"/>
                  </a:lnTo>
                  <a:lnTo>
                    <a:pt x="71925" y="42187"/>
                  </a:lnTo>
                  <a:lnTo>
                    <a:pt x="42187" y="71925"/>
                  </a:lnTo>
                  <a:lnTo>
                    <a:pt x="19518" y="107579"/>
                  </a:lnTo>
                  <a:lnTo>
                    <a:pt x="5071" y="147996"/>
                  </a:lnTo>
                  <a:lnTo>
                    <a:pt x="0" y="192024"/>
                  </a:lnTo>
                  <a:lnTo>
                    <a:pt x="5071" y="236051"/>
                  </a:lnTo>
                  <a:lnTo>
                    <a:pt x="19518" y="276468"/>
                  </a:lnTo>
                  <a:lnTo>
                    <a:pt x="42187" y="312122"/>
                  </a:lnTo>
                  <a:lnTo>
                    <a:pt x="71925" y="341860"/>
                  </a:lnTo>
                  <a:lnTo>
                    <a:pt x="107579" y="364529"/>
                  </a:lnTo>
                  <a:lnTo>
                    <a:pt x="147996" y="378976"/>
                  </a:lnTo>
                  <a:lnTo>
                    <a:pt x="192024" y="384047"/>
                  </a:lnTo>
                  <a:lnTo>
                    <a:pt x="236051" y="378976"/>
                  </a:lnTo>
                  <a:lnTo>
                    <a:pt x="276468" y="364529"/>
                  </a:lnTo>
                  <a:lnTo>
                    <a:pt x="312122" y="341860"/>
                  </a:lnTo>
                  <a:lnTo>
                    <a:pt x="341860" y="312122"/>
                  </a:lnTo>
                  <a:lnTo>
                    <a:pt x="364529" y="276468"/>
                  </a:lnTo>
                  <a:lnTo>
                    <a:pt x="378976" y="236051"/>
                  </a:lnTo>
                  <a:lnTo>
                    <a:pt x="384048" y="192024"/>
                  </a:lnTo>
                  <a:lnTo>
                    <a:pt x="378976" y="147996"/>
                  </a:lnTo>
                  <a:lnTo>
                    <a:pt x="364529" y="107579"/>
                  </a:lnTo>
                  <a:lnTo>
                    <a:pt x="341860" y="71925"/>
                  </a:lnTo>
                  <a:lnTo>
                    <a:pt x="312122" y="42187"/>
                  </a:lnTo>
                  <a:lnTo>
                    <a:pt x="276468" y="19518"/>
                  </a:lnTo>
                  <a:lnTo>
                    <a:pt x="236051" y="5071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1B4D8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6606031" y="3657980"/>
            <a:ext cx="13144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98334" y="3490209"/>
            <a:ext cx="4409440" cy="81534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500" b="1">
                <a:solidFill>
                  <a:srgbClr val="091F3C"/>
                </a:solidFill>
                <a:latin typeface="Arial"/>
                <a:cs typeface="Arial"/>
              </a:rPr>
              <a:t>Control</a:t>
            </a:r>
            <a:r>
              <a:rPr dirty="0" sz="1500" spc="-3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091F3C"/>
                </a:solidFill>
                <a:latin typeface="Arial"/>
                <a:cs typeface="Arial"/>
              </a:rPr>
              <a:t>the</a:t>
            </a:r>
            <a:r>
              <a:rPr dirty="0" sz="1500" spc="-20" b="1">
                <a:solidFill>
                  <a:srgbClr val="091F3C"/>
                </a:solidFill>
                <a:latin typeface="Arial"/>
                <a:cs typeface="Arial"/>
              </a:rPr>
              <a:t> flow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340"/>
              </a:lnSpc>
              <a:spcBef>
                <a:spcPts val="810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Make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decisions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with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if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/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elif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/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else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and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repeat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work</a:t>
            </a:r>
            <a:r>
              <a:rPr dirty="0" sz="1150" spc="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with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while and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for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loops.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70867" y="4951348"/>
            <a:ext cx="5504180" cy="1433830"/>
            <a:chOff x="470867" y="4951348"/>
            <a:chExt cx="5504180" cy="1433830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67" y="4951348"/>
              <a:ext cx="5504023" cy="143351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02919" y="4983479"/>
              <a:ext cx="5410200" cy="1325880"/>
            </a:xfrm>
            <a:custGeom>
              <a:avLst/>
              <a:gdLst/>
              <a:ahLst/>
              <a:cxnLst/>
              <a:rect l="l" t="t" r="r" b="b"/>
              <a:pathLst>
                <a:path w="5410200" h="1325879">
                  <a:moveTo>
                    <a:pt x="533692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2"/>
                  </a:lnTo>
                  <a:lnTo>
                    <a:pt x="0" y="1252728"/>
                  </a:lnTo>
                  <a:lnTo>
                    <a:pt x="5748" y="1281201"/>
                  </a:lnTo>
                  <a:lnTo>
                    <a:pt x="21426" y="1304453"/>
                  </a:lnTo>
                  <a:lnTo>
                    <a:pt x="44678" y="1320131"/>
                  </a:lnTo>
                  <a:lnTo>
                    <a:pt x="73151" y="1325880"/>
                  </a:lnTo>
                  <a:lnTo>
                    <a:pt x="5336920" y="1325880"/>
                  </a:lnTo>
                  <a:lnTo>
                    <a:pt x="5365388" y="1320131"/>
                  </a:lnTo>
                  <a:lnTo>
                    <a:pt x="5388641" y="1304453"/>
                  </a:lnTo>
                  <a:lnTo>
                    <a:pt x="5404322" y="1281201"/>
                  </a:lnTo>
                  <a:lnTo>
                    <a:pt x="5410072" y="1252728"/>
                  </a:lnTo>
                  <a:lnTo>
                    <a:pt x="5410072" y="73152"/>
                  </a:lnTo>
                  <a:lnTo>
                    <a:pt x="5404322" y="44684"/>
                  </a:lnTo>
                  <a:lnTo>
                    <a:pt x="5388641" y="21431"/>
                  </a:lnTo>
                  <a:lnTo>
                    <a:pt x="5365388" y="5750"/>
                  </a:lnTo>
                  <a:lnTo>
                    <a:pt x="533692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04087" y="520293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024" y="0"/>
                  </a:moveTo>
                  <a:lnTo>
                    <a:pt x="147992" y="5071"/>
                  </a:lnTo>
                  <a:lnTo>
                    <a:pt x="107574" y="19518"/>
                  </a:lnTo>
                  <a:lnTo>
                    <a:pt x="71920" y="42187"/>
                  </a:lnTo>
                  <a:lnTo>
                    <a:pt x="42183" y="71925"/>
                  </a:lnTo>
                  <a:lnTo>
                    <a:pt x="19516" y="107579"/>
                  </a:lnTo>
                  <a:lnTo>
                    <a:pt x="5071" y="147996"/>
                  </a:lnTo>
                  <a:lnTo>
                    <a:pt x="0" y="192023"/>
                  </a:lnTo>
                  <a:lnTo>
                    <a:pt x="5071" y="236051"/>
                  </a:lnTo>
                  <a:lnTo>
                    <a:pt x="19516" y="276468"/>
                  </a:lnTo>
                  <a:lnTo>
                    <a:pt x="42183" y="312122"/>
                  </a:lnTo>
                  <a:lnTo>
                    <a:pt x="71920" y="341860"/>
                  </a:lnTo>
                  <a:lnTo>
                    <a:pt x="107574" y="364529"/>
                  </a:lnTo>
                  <a:lnTo>
                    <a:pt x="147992" y="378976"/>
                  </a:lnTo>
                  <a:lnTo>
                    <a:pt x="192024" y="384047"/>
                  </a:lnTo>
                  <a:lnTo>
                    <a:pt x="236055" y="378976"/>
                  </a:lnTo>
                  <a:lnTo>
                    <a:pt x="276473" y="364529"/>
                  </a:lnTo>
                  <a:lnTo>
                    <a:pt x="312127" y="341860"/>
                  </a:lnTo>
                  <a:lnTo>
                    <a:pt x="341864" y="312122"/>
                  </a:lnTo>
                  <a:lnTo>
                    <a:pt x="364531" y="276468"/>
                  </a:lnTo>
                  <a:lnTo>
                    <a:pt x="378976" y="236051"/>
                  </a:lnTo>
                  <a:lnTo>
                    <a:pt x="384048" y="192023"/>
                  </a:lnTo>
                  <a:lnTo>
                    <a:pt x="378976" y="147996"/>
                  </a:lnTo>
                  <a:lnTo>
                    <a:pt x="364531" y="107579"/>
                  </a:lnTo>
                  <a:lnTo>
                    <a:pt x="341864" y="71925"/>
                  </a:lnTo>
                  <a:lnTo>
                    <a:pt x="312127" y="42187"/>
                  </a:lnTo>
                  <a:lnTo>
                    <a:pt x="276473" y="19518"/>
                  </a:lnTo>
                  <a:lnTo>
                    <a:pt x="236055" y="5071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1B4D8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829462" y="5258561"/>
            <a:ext cx="13144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5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22044" y="5091861"/>
            <a:ext cx="4481195" cy="814705"/>
          </a:xfrm>
          <a:prstGeom prst="rect">
            <a:avLst/>
          </a:prstGeom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1500" b="1">
                <a:solidFill>
                  <a:srgbClr val="091F3C"/>
                </a:solidFill>
                <a:latin typeface="Arial"/>
                <a:cs typeface="Arial"/>
              </a:rPr>
              <a:t>Write</a:t>
            </a:r>
            <a:r>
              <a:rPr dirty="0" sz="1500" spc="-5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091F3C"/>
                </a:solidFill>
                <a:latin typeface="Arial"/>
                <a:cs typeface="Arial"/>
              </a:rPr>
              <a:t>functions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340"/>
              </a:lnSpc>
              <a:spcBef>
                <a:spcPts val="815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Define</a:t>
            </a:r>
            <a:r>
              <a:rPr dirty="0" sz="1150" spc="-4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reusable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functions</a:t>
            </a:r>
            <a:r>
              <a:rPr dirty="0" sz="1150" spc="-4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with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parameters,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default</a:t>
            </a:r>
            <a:r>
              <a:rPr dirty="0" sz="11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values,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and</a:t>
            </a:r>
            <a:r>
              <a:rPr dirty="0" sz="11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return values.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246827" y="4951348"/>
            <a:ext cx="5504180" cy="1433830"/>
            <a:chOff x="6246827" y="4951348"/>
            <a:chExt cx="5504180" cy="1433830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6827" y="4951348"/>
              <a:ext cx="5504023" cy="143351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278753" y="4983479"/>
              <a:ext cx="5410200" cy="1325880"/>
            </a:xfrm>
            <a:custGeom>
              <a:avLst/>
              <a:gdLst/>
              <a:ahLst/>
              <a:cxnLst/>
              <a:rect l="l" t="t" r="r" b="b"/>
              <a:pathLst>
                <a:path w="5410200" h="1325879">
                  <a:moveTo>
                    <a:pt x="533692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1252728"/>
                  </a:lnTo>
                  <a:lnTo>
                    <a:pt x="5750" y="1281201"/>
                  </a:lnTo>
                  <a:lnTo>
                    <a:pt x="21431" y="1304453"/>
                  </a:lnTo>
                  <a:lnTo>
                    <a:pt x="44684" y="1320131"/>
                  </a:lnTo>
                  <a:lnTo>
                    <a:pt x="73151" y="1325880"/>
                  </a:lnTo>
                  <a:lnTo>
                    <a:pt x="5336921" y="1325880"/>
                  </a:lnTo>
                  <a:lnTo>
                    <a:pt x="5365388" y="1320131"/>
                  </a:lnTo>
                  <a:lnTo>
                    <a:pt x="5388641" y="1304453"/>
                  </a:lnTo>
                  <a:lnTo>
                    <a:pt x="5404322" y="1281201"/>
                  </a:lnTo>
                  <a:lnTo>
                    <a:pt x="5410073" y="1252728"/>
                  </a:lnTo>
                  <a:lnTo>
                    <a:pt x="5410073" y="73152"/>
                  </a:lnTo>
                  <a:lnTo>
                    <a:pt x="5404322" y="44684"/>
                  </a:lnTo>
                  <a:lnTo>
                    <a:pt x="5388641" y="21431"/>
                  </a:lnTo>
                  <a:lnTo>
                    <a:pt x="5365388" y="5750"/>
                  </a:lnTo>
                  <a:lnTo>
                    <a:pt x="5336921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479921" y="520293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024" y="0"/>
                  </a:moveTo>
                  <a:lnTo>
                    <a:pt x="147996" y="5071"/>
                  </a:lnTo>
                  <a:lnTo>
                    <a:pt x="107579" y="19518"/>
                  </a:lnTo>
                  <a:lnTo>
                    <a:pt x="71925" y="42187"/>
                  </a:lnTo>
                  <a:lnTo>
                    <a:pt x="42187" y="71925"/>
                  </a:lnTo>
                  <a:lnTo>
                    <a:pt x="19518" y="107579"/>
                  </a:lnTo>
                  <a:lnTo>
                    <a:pt x="5071" y="147996"/>
                  </a:lnTo>
                  <a:lnTo>
                    <a:pt x="0" y="192023"/>
                  </a:lnTo>
                  <a:lnTo>
                    <a:pt x="5071" y="236051"/>
                  </a:lnTo>
                  <a:lnTo>
                    <a:pt x="19518" y="276468"/>
                  </a:lnTo>
                  <a:lnTo>
                    <a:pt x="42187" y="312122"/>
                  </a:lnTo>
                  <a:lnTo>
                    <a:pt x="71925" y="341860"/>
                  </a:lnTo>
                  <a:lnTo>
                    <a:pt x="107579" y="364529"/>
                  </a:lnTo>
                  <a:lnTo>
                    <a:pt x="147996" y="378976"/>
                  </a:lnTo>
                  <a:lnTo>
                    <a:pt x="192024" y="384047"/>
                  </a:lnTo>
                  <a:lnTo>
                    <a:pt x="236051" y="378976"/>
                  </a:lnTo>
                  <a:lnTo>
                    <a:pt x="276468" y="364529"/>
                  </a:lnTo>
                  <a:lnTo>
                    <a:pt x="312122" y="341860"/>
                  </a:lnTo>
                  <a:lnTo>
                    <a:pt x="341860" y="312122"/>
                  </a:lnTo>
                  <a:lnTo>
                    <a:pt x="364529" y="276468"/>
                  </a:lnTo>
                  <a:lnTo>
                    <a:pt x="378976" y="236051"/>
                  </a:lnTo>
                  <a:lnTo>
                    <a:pt x="384048" y="192023"/>
                  </a:lnTo>
                  <a:lnTo>
                    <a:pt x="378976" y="147996"/>
                  </a:lnTo>
                  <a:lnTo>
                    <a:pt x="364529" y="107579"/>
                  </a:lnTo>
                  <a:lnTo>
                    <a:pt x="341860" y="71925"/>
                  </a:lnTo>
                  <a:lnTo>
                    <a:pt x="312122" y="42187"/>
                  </a:lnTo>
                  <a:lnTo>
                    <a:pt x="276468" y="19518"/>
                  </a:lnTo>
                  <a:lnTo>
                    <a:pt x="236051" y="5071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1B4D8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6606031" y="5258561"/>
            <a:ext cx="13144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500">
              <a:latin typeface="Arial"/>
              <a:cs typeface="Arial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Property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IBT</a:t>
            </a:r>
            <a:r>
              <a:rPr dirty="0" spc="-35"/>
              <a:t> </a:t>
            </a:r>
            <a:r>
              <a:rPr dirty="0"/>
              <a:t>College</a:t>
            </a:r>
            <a:r>
              <a:rPr dirty="0" spc="-15"/>
              <a:t> </a:t>
            </a:r>
            <a:r>
              <a:rPr dirty="0" spc="-10"/>
              <a:t>Canada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2</a:t>
            </a:fld>
            <a:r>
              <a:rPr dirty="0" spc="-5"/>
              <a:t> </a:t>
            </a:r>
            <a:r>
              <a:rPr dirty="0"/>
              <a:t>/ </a:t>
            </a:r>
            <a:r>
              <a:rPr dirty="0" spc="-25"/>
              <a:t>30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6998334" y="5097814"/>
            <a:ext cx="4022090" cy="633095"/>
          </a:xfrm>
          <a:prstGeom prst="rect">
            <a:avLst/>
          </a:prstGeom>
        </p:spPr>
        <p:txBody>
          <a:bodyPr wrap="square" lIns="0" tIns="127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1500" b="1">
                <a:solidFill>
                  <a:srgbClr val="091F3C"/>
                </a:solidFill>
                <a:latin typeface="Arial"/>
                <a:cs typeface="Arial"/>
              </a:rPr>
              <a:t>Reason</a:t>
            </a:r>
            <a:r>
              <a:rPr dirty="0" sz="1500" spc="-40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091F3C"/>
                </a:solidFill>
                <a:latin typeface="Arial"/>
                <a:cs typeface="Arial"/>
              </a:rPr>
              <a:t>about</a:t>
            </a:r>
            <a:r>
              <a:rPr dirty="0" sz="1500" spc="-2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091F3C"/>
                </a:solidFill>
                <a:latin typeface="Arial"/>
                <a:cs typeface="Arial"/>
              </a:rPr>
              <a:t>scope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Understand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1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difference</a:t>
            </a:r>
            <a:r>
              <a:rPr dirty="0" sz="115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between</a:t>
            </a:r>
            <a:r>
              <a:rPr dirty="0" sz="1150" spc="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local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and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global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variables.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343915"/>
            <a:ext cx="19215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D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A</a:t>
            </a:r>
            <a:r>
              <a:rPr dirty="0" sz="1100" spc="-14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Y</a:t>
            </a:r>
            <a:r>
              <a:rPr dirty="0" sz="1100" spc="43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2</a:t>
            </a:r>
            <a:r>
              <a:rPr dirty="0" sz="1100" spc="4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·</a:t>
            </a:r>
            <a:r>
              <a:rPr dirty="0" sz="1100" spc="38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F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U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D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A</a:t>
            </a:r>
            <a:r>
              <a:rPr dirty="0" sz="1100" spc="-14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I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Today's</a:t>
            </a:r>
            <a:r>
              <a:rPr dirty="0" spc="-160"/>
              <a:t> </a:t>
            </a:r>
            <a:r>
              <a:rPr dirty="0" spc="-10"/>
              <a:t>Agenda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0219" y="1378965"/>
            <a:ext cx="578802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Four</a:t>
            </a:r>
            <a:r>
              <a:rPr dirty="0" sz="1400" spc="-4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instructional</a:t>
            </a:r>
            <a:r>
              <a:rPr dirty="0" sz="1400" spc="-5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hours,</a:t>
            </a:r>
            <a:r>
              <a:rPr dirty="0" sz="1400" spc="-5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the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same</a:t>
            </a:r>
            <a:r>
              <a:rPr dirty="0" sz="14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rhythm</a:t>
            </a:r>
            <a:r>
              <a:rPr dirty="0" sz="1400" spc="-5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used</a:t>
            </a:r>
            <a:r>
              <a:rPr dirty="0" sz="1400" spc="-4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every</a:t>
            </a:r>
            <a:r>
              <a:rPr dirty="0" sz="14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day</a:t>
            </a:r>
            <a:r>
              <a:rPr dirty="0" sz="1400" spc="-2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in</a:t>
            </a:r>
            <a:r>
              <a:rPr dirty="0" sz="1400" spc="-2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the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spc="-10" i="1">
                <a:solidFill>
                  <a:srgbClr val="495468"/>
                </a:solidFill>
                <a:latin typeface="Arial"/>
                <a:cs typeface="Arial"/>
              </a:rPr>
              <a:t>program.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0877" y="1796733"/>
            <a:ext cx="2684780" cy="4131310"/>
            <a:chOff x="470877" y="1796733"/>
            <a:chExt cx="2684780" cy="413131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77" y="1796733"/>
              <a:ext cx="2684602" cy="413091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2919" y="1828799"/>
              <a:ext cx="2590800" cy="4023360"/>
            </a:xfrm>
            <a:custGeom>
              <a:avLst/>
              <a:gdLst/>
              <a:ahLst/>
              <a:cxnLst/>
              <a:rect l="l" t="t" r="r" b="b"/>
              <a:pathLst>
                <a:path w="2590800" h="4023360">
                  <a:moveTo>
                    <a:pt x="2517521" y="0"/>
                  </a:moveTo>
                  <a:lnTo>
                    <a:pt x="73164" y="0"/>
                  </a:lnTo>
                  <a:lnTo>
                    <a:pt x="44684" y="5750"/>
                  </a:lnTo>
                  <a:lnTo>
                    <a:pt x="21428" y="21431"/>
                  </a:lnTo>
                  <a:lnTo>
                    <a:pt x="5749" y="44684"/>
                  </a:lnTo>
                  <a:lnTo>
                    <a:pt x="0" y="73151"/>
                  </a:lnTo>
                  <a:lnTo>
                    <a:pt x="0" y="3950195"/>
                  </a:lnTo>
                  <a:lnTo>
                    <a:pt x="5749" y="3978675"/>
                  </a:lnTo>
                  <a:lnTo>
                    <a:pt x="21428" y="4001931"/>
                  </a:lnTo>
                  <a:lnTo>
                    <a:pt x="44684" y="4017610"/>
                  </a:lnTo>
                  <a:lnTo>
                    <a:pt x="73164" y="4023360"/>
                  </a:lnTo>
                  <a:lnTo>
                    <a:pt x="2517521" y="4023360"/>
                  </a:lnTo>
                  <a:lnTo>
                    <a:pt x="2545988" y="4017610"/>
                  </a:lnTo>
                  <a:lnTo>
                    <a:pt x="2569241" y="4001931"/>
                  </a:lnTo>
                  <a:lnTo>
                    <a:pt x="2584922" y="3978675"/>
                  </a:lnTo>
                  <a:lnTo>
                    <a:pt x="2590673" y="3950195"/>
                  </a:lnTo>
                  <a:lnTo>
                    <a:pt x="2590673" y="73151"/>
                  </a:lnTo>
                  <a:lnTo>
                    <a:pt x="2584922" y="44684"/>
                  </a:lnTo>
                  <a:lnTo>
                    <a:pt x="2569241" y="21431"/>
                  </a:lnTo>
                  <a:lnTo>
                    <a:pt x="2545988" y="5750"/>
                  </a:lnTo>
                  <a:lnTo>
                    <a:pt x="2517521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02919" y="1828799"/>
              <a:ext cx="2590800" cy="868680"/>
            </a:xfrm>
            <a:custGeom>
              <a:avLst/>
              <a:gdLst/>
              <a:ahLst/>
              <a:cxnLst/>
              <a:rect l="l" t="t" r="r" b="b"/>
              <a:pathLst>
                <a:path w="2590800" h="868680">
                  <a:moveTo>
                    <a:pt x="2517521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795527"/>
                  </a:lnTo>
                  <a:lnTo>
                    <a:pt x="5748" y="823995"/>
                  </a:lnTo>
                  <a:lnTo>
                    <a:pt x="21426" y="847248"/>
                  </a:lnTo>
                  <a:lnTo>
                    <a:pt x="44678" y="862929"/>
                  </a:lnTo>
                  <a:lnTo>
                    <a:pt x="73151" y="868679"/>
                  </a:lnTo>
                  <a:lnTo>
                    <a:pt x="2517521" y="868679"/>
                  </a:lnTo>
                  <a:lnTo>
                    <a:pt x="2546042" y="862929"/>
                  </a:lnTo>
                  <a:lnTo>
                    <a:pt x="2569289" y="847248"/>
                  </a:lnTo>
                  <a:lnTo>
                    <a:pt x="2584940" y="823995"/>
                  </a:lnTo>
                  <a:lnTo>
                    <a:pt x="2590673" y="795527"/>
                  </a:lnTo>
                  <a:lnTo>
                    <a:pt x="2590673" y="73151"/>
                  </a:lnTo>
                  <a:lnTo>
                    <a:pt x="2584940" y="44684"/>
                  </a:lnTo>
                  <a:lnTo>
                    <a:pt x="2569289" y="21431"/>
                  </a:lnTo>
                  <a:lnTo>
                    <a:pt x="2546042" y="5750"/>
                  </a:lnTo>
                  <a:lnTo>
                    <a:pt x="2517521" y="0"/>
                  </a:lnTo>
                  <a:close/>
                </a:path>
              </a:pathLst>
            </a:custGeom>
            <a:solidFill>
              <a:srgbClr val="2D5C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070254" y="2302891"/>
            <a:ext cx="145605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Concept</a:t>
            </a:r>
            <a:r>
              <a:rPr dirty="0" sz="14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Demo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4812" y="2863722"/>
            <a:ext cx="1905000" cy="569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98800"/>
              </a:lnSpc>
              <a:spcBef>
                <a:spcPts val="114"/>
              </a:spcBef>
            </a:pP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Running</a:t>
            </a:r>
            <a:r>
              <a:rPr dirty="0" sz="1200" spc="-6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Python,</a:t>
            </a:r>
            <a:r>
              <a:rPr dirty="0" sz="12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syntax,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variables,</a:t>
            </a:r>
            <a:r>
              <a:rPr dirty="0" sz="12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and</a:t>
            </a:r>
            <a:r>
              <a:rPr dirty="0" sz="12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core</a:t>
            </a:r>
            <a:r>
              <a:rPr dirty="0" sz="12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data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types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—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with</a:t>
            </a:r>
            <a:r>
              <a:rPr dirty="0" sz="120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live</a:t>
            </a:r>
            <a:r>
              <a:rPr dirty="0" sz="120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examples.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335997" y="1796733"/>
            <a:ext cx="2684780" cy="4131310"/>
            <a:chOff x="3335997" y="1796733"/>
            <a:chExt cx="2684780" cy="413131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35997" y="1796733"/>
              <a:ext cx="2684602" cy="413091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367913" y="1828799"/>
              <a:ext cx="2590800" cy="4023360"/>
            </a:xfrm>
            <a:custGeom>
              <a:avLst/>
              <a:gdLst/>
              <a:ahLst/>
              <a:cxnLst/>
              <a:rect l="l" t="t" r="r" b="b"/>
              <a:pathLst>
                <a:path w="2590800" h="4023360">
                  <a:moveTo>
                    <a:pt x="251764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3950195"/>
                  </a:lnTo>
                  <a:lnTo>
                    <a:pt x="5750" y="3978675"/>
                  </a:lnTo>
                  <a:lnTo>
                    <a:pt x="21431" y="4001931"/>
                  </a:lnTo>
                  <a:lnTo>
                    <a:pt x="44684" y="4017610"/>
                  </a:lnTo>
                  <a:lnTo>
                    <a:pt x="73151" y="4023360"/>
                  </a:lnTo>
                  <a:lnTo>
                    <a:pt x="2517648" y="4023360"/>
                  </a:lnTo>
                  <a:lnTo>
                    <a:pt x="2546115" y="4017610"/>
                  </a:lnTo>
                  <a:lnTo>
                    <a:pt x="2569368" y="4001931"/>
                  </a:lnTo>
                  <a:lnTo>
                    <a:pt x="2585049" y="3978675"/>
                  </a:lnTo>
                  <a:lnTo>
                    <a:pt x="2590800" y="3950195"/>
                  </a:lnTo>
                  <a:lnTo>
                    <a:pt x="2590800" y="73151"/>
                  </a:lnTo>
                  <a:lnTo>
                    <a:pt x="2585049" y="44684"/>
                  </a:lnTo>
                  <a:lnTo>
                    <a:pt x="2569368" y="21431"/>
                  </a:lnTo>
                  <a:lnTo>
                    <a:pt x="2546115" y="5750"/>
                  </a:lnTo>
                  <a:lnTo>
                    <a:pt x="2517648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367913" y="1828799"/>
              <a:ext cx="2590800" cy="868680"/>
            </a:xfrm>
            <a:custGeom>
              <a:avLst/>
              <a:gdLst/>
              <a:ahLst/>
              <a:cxnLst/>
              <a:rect l="l" t="t" r="r" b="b"/>
              <a:pathLst>
                <a:path w="2590800" h="868680">
                  <a:moveTo>
                    <a:pt x="251764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795527"/>
                  </a:lnTo>
                  <a:lnTo>
                    <a:pt x="5750" y="823995"/>
                  </a:lnTo>
                  <a:lnTo>
                    <a:pt x="21431" y="847248"/>
                  </a:lnTo>
                  <a:lnTo>
                    <a:pt x="44684" y="862929"/>
                  </a:lnTo>
                  <a:lnTo>
                    <a:pt x="73151" y="868679"/>
                  </a:lnTo>
                  <a:lnTo>
                    <a:pt x="2517648" y="868679"/>
                  </a:lnTo>
                  <a:lnTo>
                    <a:pt x="2546115" y="862929"/>
                  </a:lnTo>
                  <a:lnTo>
                    <a:pt x="2569368" y="847248"/>
                  </a:lnTo>
                  <a:lnTo>
                    <a:pt x="2585049" y="823995"/>
                  </a:lnTo>
                  <a:lnTo>
                    <a:pt x="2590800" y="795527"/>
                  </a:lnTo>
                  <a:lnTo>
                    <a:pt x="2590800" y="73151"/>
                  </a:lnTo>
                  <a:lnTo>
                    <a:pt x="2585049" y="44684"/>
                  </a:lnTo>
                  <a:lnTo>
                    <a:pt x="2569368" y="21431"/>
                  </a:lnTo>
                  <a:lnTo>
                    <a:pt x="2546115" y="5750"/>
                  </a:lnTo>
                  <a:lnTo>
                    <a:pt x="2517648" y="0"/>
                  </a:lnTo>
                  <a:close/>
                </a:path>
              </a:pathLst>
            </a:custGeom>
            <a:solidFill>
              <a:srgbClr val="1B797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909821" y="2302891"/>
            <a:ext cx="150558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Operators</a:t>
            </a:r>
            <a:r>
              <a:rPr dirty="0" sz="14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4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Flow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20185" y="2863722"/>
            <a:ext cx="2257425" cy="569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98800"/>
              </a:lnSpc>
              <a:spcBef>
                <a:spcPts val="114"/>
              </a:spcBef>
            </a:pP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Arithmetic</a:t>
            </a:r>
            <a:r>
              <a:rPr dirty="0" sz="120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and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logic,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then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if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/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elif</a:t>
            </a:r>
            <a:r>
              <a:rPr dirty="0" sz="120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50">
                <a:solidFill>
                  <a:srgbClr val="495468"/>
                </a:solidFill>
                <a:latin typeface="Arial MT"/>
                <a:cs typeface="Arial MT"/>
              </a:rPr>
              <a:t>/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else</a:t>
            </a:r>
            <a:r>
              <a:rPr dirty="0" sz="12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and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while</a:t>
            </a:r>
            <a:r>
              <a:rPr dirty="0" sz="120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and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for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loops, demonstrated</a:t>
            </a:r>
            <a:r>
              <a:rPr dirty="0" sz="1200" spc="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live.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201118" y="1796733"/>
            <a:ext cx="2684780" cy="4131310"/>
            <a:chOff x="6201118" y="1796733"/>
            <a:chExt cx="2684780" cy="4131310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01118" y="1796733"/>
              <a:ext cx="2684602" cy="413091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233033" y="1828799"/>
              <a:ext cx="2590800" cy="4023360"/>
            </a:xfrm>
            <a:custGeom>
              <a:avLst/>
              <a:gdLst/>
              <a:ahLst/>
              <a:cxnLst/>
              <a:rect l="l" t="t" r="r" b="b"/>
              <a:pathLst>
                <a:path w="2590800" h="4023360">
                  <a:moveTo>
                    <a:pt x="2517520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3950195"/>
                  </a:lnTo>
                  <a:lnTo>
                    <a:pt x="5750" y="3978675"/>
                  </a:lnTo>
                  <a:lnTo>
                    <a:pt x="21431" y="4001931"/>
                  </a:lnTo>
                  <a:lnTo>
                    <a:pt x="44684" y="4017610"/>
                  </a:lnTo>
                  <a:lnTo>
                    <a:pt x="73151" y="4023360"/>
                  </a:lnTo>
                  <a:lnTo>
                    <a:pt x="2517520" y="4023360"/>
                  </a:lnTo>
                  <a:lnTo>
                    <a:pt x="2545988" y="4017610"/>
                  </a:lnTo>
                  <a:lnTo>
                    <a:pt x="2569241" y="4001931"/>
                  </a:lnTo>
                  <a:lnTo>
                    <a:pt x="2584922" y="3978675"/>
                  </a:lnTo>
                  <a:lnTo>
                    <a:pt x="2590672" y="3950195"/>
                  </a:lnTo>
                  <a:lnTo>
                    <a:pt x="2590672" y="73151"/>
                  </a:lnTo>
                  <a:lnTo>
                    <a:pt x="2584922" y="44684"/>
                  </a:lnTo>
                  <a:lnTo>
                    <a:pt x="2569241" y="21431"/>
                  </a:lnTo>
                  <a:lnTo>
                    <a:pt x="2545988" y="5750"/>
                  </a:lnTo>
                  <a:lnTo>
                    <a:pt x="251752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233033" y="1828799"/>
              <a:ext cx="2590800" cy="868680"/>
            </a:xfrm>
            <a:custGeom>
              <a:avLst/>
              <a:gdLst/>
              <a:ahLst/>
              <a:cxnLst/>
              <a:rect l="l" t="t" r="r" b="b"/>
              <a:pathLst>
                <a:path w="2590800" h="868680">
                  <a:moveTo>
                    <a:pt x="2517520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795527"/>
                  </a:lnTo>
                  <a:lnTo>
                    <a:pt x="5750" y="823995"/>
                  </a:lnTo>
                  <a:lnTo>
                    <a:pt x="21431" y="847248"/>
                  </a:lnTo>
                  <a:lnTo>
                    <a:pt x="44684" y="862929"/>
                  </a:lnTo>
                  <a:lnTo>
                    <a:pt x="73151" y="868679"/>
                  </a:lnTo>
                  <a:lnTo>
                    <a:pt x="2517520" y="868679"/>
                  </a:lnTo>
                  <a:lnTo>
                    <a:pt x="2545988" y="862929"/>
                  </a:lnTo>
                  <a:lnTo>
                    <a:pt x="2569241" y="847248"/>
                  </a:lnTo>
                  <a:lnTo>
                    <a:pt x="2584922" y="823995"/>
                  </a:lnTo>
                  <a:lnTo>
                    <a:pt x="2590672" y="795527"/>
                  </a:lnTo>
                  <a:lnTo>
                    <a:pt x="2590672" y="73151"/>
                  </a:lnTo>
                  <a:lnTo>
                    <a:pt x="2584922" y="44684"/>
                  </a:lnTo>
                  <a:lnTo>
                    <a:pt x="2569241" y="21431"/>
                  </a:lnTo>
                  <a:lnTo>
                    <a:pt x="2545988" y="5750"/>
                  </a:lnTo>
                  <a:lnTo>
                    <a:pt x="2517520" y="0"/>
                  </a:lnTo>
                  <a:close/>
                </a:path>
              </a:pathLst>
            </a:custGeom>
            <a:solidFill>
              <a:srgbClr val="C792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808723" y="2302891"/>
            <a:ext cx="144208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Independent</a:t>
            </a:r>
            <a:r>
              <a:rPr dirty="0" sz="14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Lab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85686" y="2863722"/>
            <a:ext cx="2171700" cy="569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98800"/>
              </a:lnSpc>
              <a:spcBef>
                <a:spcPts val="114"/>
              </a:spcBef>
            </a:pP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Functions</a:t>
            </a:r>
            <a:r>
              <a:rPr dirty="0" sz="1200" spc="-4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and</a:t>
            </a:r>
            <a:r>
              <a:rPr dirty="0" sz="12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scope,</a:t>
            </a:r>
            <a:r>
              <a:rPr dirty="0" sz="12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then</a:t>
            </a:r>
            <a:r>
              <a:rPr dirty="0" sz="12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build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day's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program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in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lab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50">
                <a:solidFill>
                  <a:srgbClr val="495468"/>
                </a:solidFill>
                <a:latin typeface="Arial MT"/>
                <a:cs typeface="Arial MT"/>
              </a:rPr>
              <a:t>—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pushed</a:t>
            </a:r>
            <a:r>
              <a:rPr dirty="0" sz="1200" spc="-5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to 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GitHub.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066238" y="1796733"/>
            <a:ext cx="2684780" cy="4131310"/>
            <a:chOff x="9066238" y="1796733"/>
            <a:chExt cx="2684780" cy="4131310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66238" y="1796733"/>
              <a:ext cx="2684602" cy="413091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9098026" y="1828799"/>
              <a:ext cx="2590800" cy="4023360"/>
            </a:xfrm>
            <a:custGeom>
              <a:avLst/>
              <a:gdLst/>
              <a:ahLst/>
              <a:cxnLst/>
              <a:rect l="l" t="t" r="r" b="b"/>
              <a:pathLst>
                <a:path w="2590800" h="4023360">
                  <a:moveTo>
                    <a:pt x="251752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3950195"/>
                  </a:lnTo>
                  <a:lnTo>
                    <a:pt x="5750" y="3978675"/>
                  </a:lnTo>
                  <a:lnTo>
                    <a:pt x="21431" y="4001931"/>
                  </a:lnTo>
                  <a:lnTo>
                    <a:pt x="44684" y="4017610"/>
                  </a:lnTo>
                  <a:lnTo>
                    <a:pt x="73151" y="4023360"/>
                  </a:lnTo>
                  <a:lnTo>
                    <a:pt x="2517521" y="4023360"/>
                  </a:lnTo>
                  <a:lnTo>
                    <a:pt x="2546062" y="4017610"/>
                  </a:lnTo>
                  <a:lnTo>
                    <a:pt x="2569352" y="4001931"/>
                  </a:lnTo>
                  <a:lnTo>
                    <a:pt x="2585047" y="3978675"/>
                  </a:lnTo>
                  <a:lnTo>
                    <a:pt x="2590800" y="3950195"/>
                  </a:lnTo>
                  <a:lnTo>
                    <a:pt x="2590800" y="73151"/>
                  </a:lnTo>
                  <a:lnTo>
                    <a:pt x="2585047" y="44684"/>
                  </a:lnTo>
                  <a:lnTo>
                    <a:pt x="2569352" y="21431"/>
                  </a:lnTo>
                  <a:lnTo>
                    <a:pt x="2546062" y="5750"/>
                  </a:lnTo>
                  <a:lnTo>
                    <a:pt x="2517521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098026" y="1828799"/>
              <a:ext cx="2590800" cy="868680"/>
            </a:xfrm>
            <a:custGeom>
              <a:avLst/>
              <a:gdLst/>
              <a:ahLst/>
              <a:cxnLst/>
              <a:rect l="l" t="t" r="r" b="b"/>
              <a:pathLst>
                <a:path w="2590800" h="868680">
                  <a:moveTo>
                    <a:pt x="251764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795527"/>
                  </a:lnTo>
                  <a:lnTo>
                    <a:pt x="5750" y="823995"/>
                  </a:lnTo>
                  <a:lnTo>
                    <a:pt x="21431" y="847248"/>
                  </a:lnTo>
                  <a:lnTo>
                    <a:pt x="44684" y="862929"/>
                  </a:lnTo>
                  <a:lnTo>
                    <a:pt x="73151" y="868679"/>
                  </a:lnTo>
                  <a:lnTo>
                    <a:pt x="2517648" y="868679"/>
                  </a:lnTo>
                  <a:lnTo>
                    <a:pt x="2546115" y="862929"/>
                  </a:lnTo>
                  <a:lnTo>
                    <a:pt x="2569368" y="847248"/>
                  </a:lnTo>
                  <a:lnTo>
                    <a:pt x="2585049" y="823995"/>
                  </a:lnTo>
                  <a:lnTo>
                    <a:pt x="2590800" y="795527"/>
                  </a:lnTo>
                  <a:lnTo>
                    <a:pt x="2590800" y="73151"/>
                  </a:lnTo>
                  <a:lnTo>
                    <a:pt x="2585049" y="44684"/>
                  </a:lnTo>
                  <a:lnTo>
                    <a:pt x="2569368" y="21431"/>
                  </a:lnTo>
                  <a:lnTo>
                    <a:pt x="2546115" y="5750"/>
                  </a:lnTo>
                  <a:lnTo>
                    <a:pt x="2517648" y="0"/>
                  </a:lnTo>
                  <a:close/>
                </a:path>
              </a:pathLst>
            </a:custGeom>
            <a:solidFill>
              <a:srgbClr val="6B3E9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9506457" y="2302891"/>
            <a:ext cx="17760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Review</a:t>
            </a:r>
            <a:r>
              <a:rPr dirty="0" sz="14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Homework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Property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IBT</a:t>
            </a:r>
            <a:r>
              <a:rPr dirty="0" spc="-35"/>
              <a:t> </a:t>
            </a:r>
            <a:r>
              <a:rPr dirty="0"/>
              <a:t>College</a:t>
            </a:r>
            <a:r>
              <a:rPr dirty="0" spc="-15"/>
              <a:t> </a:t>
            </a:r>
            <a:r>
              <a:rPr dirty="0" spc="-10"/>
              <a:t>Canada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2</a:t>
            </a:fld>
            <a:r>
              <a:rPr dirty="0" spc="-5"/>
              <a:t> </a:t>
            </a:r>
            <a:r>
              <a:rPr dirty="0"/>
              <a:t>/ </a:t>
            </a:r>
            <a:r>
              <a:rPr dirty="0" spc="-25"/>
              <a:t>30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9251060" y="2863722"/>
            <a:ext cx="2046605" cy="569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98800"/>
              </a:lnSpc>
              <a:spcBef>
                <a:spcPts val="114"/>
              </a:spcBef>
            </a:pP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Recap,</a:t>
            </a:r>
            <a:r>
              <a:rPr dirty="0" sz="1200" spc="-4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common</a:t>
            </a:r>
            <a:r>
              <a:rPr dirty="0" sz="1200" spc="-6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errors,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 peer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check,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and</a:t>
            </a:r>
            <a:r>
              <a:rPr dirty="0" sz="1200" spc="-4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assign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reading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sheet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and</a:t>
            </a:r>
            <a:r>
              <a:rPr dirty="0" sz="120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catch-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up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 set.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343915"/>
            <a:ext cx="19215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D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A</a:t>
            </a:r>
            <a:r>
              <a:rPr dirty="0" sz="1100" spc="-14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Y</a:t>
            </a:r>
            <a:r>
              <a:rPr dirty="0" sz="1100" spc="43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2</a:t>
            </a:r>
            <a:r>
              <a:rPr dirty="0" sz="1100" spc="4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·</a:t>
            </a:r>
            <a:r>
              <a:rPr dirty="0" sz="1100" spc="38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F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U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D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A</a:t>
            </a:r>
            <a:r>
              <a:rPr dirty="0" sz="1100" spc="-14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I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Recap</a:t>
            </a:r>
            <a:r>
              <a:rPr dirty="0" spc="-45"/>
              <a:t> </a:t>
            </a:r>
            <a:r>
              <a:rPr dirty="0"/>
              <a:t>—</a:t>
            </a:r>
            <a:r>
              <a:rPr dirty="0" spc="-25"/>
              <a:t> </a:t>
            </a:r>
            <a:r>
              <a:rPr dirty="0"/>
              <a:t>Where</a:t>
            </a:r>
            <a:r>
              <a:rPr dirty="0" spc="-30"/>
              <a:t> </a:t>
            </a:r>
            <a:r>
              <a:rPr dirty="0"/>
              <a:t>We</a:t>
            </a:r>
            <a:r>
              <a:rPr dirty="0" spc="-35"/>
              <a:t> </a:t>
            </a:r>
            <a:r>
              <a:rPr dirty="0"/>
              <a:t>Left</a:t>
            </a:r>
            <a:r>
              <a:rPr dirty="0" spc="-30"/>
              <a:t> </a:t>
            </a:r>
            <a:r>
              <a:rPr dirty="0" spc="-25"/>
              <a:t>Off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0219" y="1378965"/>
            <a:ext cx="84220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i="1">
                <a:solidFill>
                  <a:srgbClr val="495468"/>
                </a:solidFill>
                <a:latin typeface="Arial"/>
                <a:cs typeface="Arial"/>
              </a:rPr>
              <a:t>Yesterday</a:t>
            </a:r>
            <a:r>
              <a:rPr dirty="0" sz="1400" spc="-5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you</a:t>
            </a:r>
            <a:r>
              <a:rPr dirty="0" sz="14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set</a:t>
            </a:r>
            <a:r>
              <a:rPr dirty="0" sz="1400" spc="-4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up</a:t>
            </a:r>
            <a:r>
              <a:rPr dirty="0" sz="1400" spc="-2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your</a:t>
            </a:r>
            <a:r>
              <a:rPr dirty="0" sz="1400" spc="-4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tools</a:t>
            </a:r>
            <a:r>
              <a:rPr dirty="0" sz="1400" spc="-4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and</a:t>
            </a:r>
            <a:r>
              <a:rPr dirty="0" sz="14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learned</a:t>
            </a:r>
            <a:r>
              <a:rPr dirty="0" sz="1400" spc="-4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to</a:t>
            </a:r>
            <a:r>
              <a:rPr dirty="0" sz="14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save</a:t>
            </a:r>
            <a:r>
              <a:rPr dirty="0" sz="1400" spc="-4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and</a:t>
            </a:r>
            <a:r>
              <a:rPr dirty="0" sz="14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share</a:t>
            </a:r>
            <a:r>
              <a:rPr dirty="0" sz="1400" spc="-4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work.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spc="-20" i="1">
                <a:solidFill>
                  <a:srgbClr val="495468"/>
                </a:solidFill>
                <a:latin typeface="Arial"/>
                <a:cs typeface="Arial"/>
              </a:rPr>
              <a:t>Today</a:t>
            </a:r>
            <a:r>
              <a:rPr dirty="0" sz="1400" spc="-4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you</a:t>
            </a:r>
            <a:r>
              <a:rPr dirty="0" sz="14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start</a:t>
            </a:r>
            <a:r>
              <a:rPr dirty="0" sz="1400" spc="-5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writing</a:t>
            </a:r>
            <a:r>
              <a:rPr dirty="0" sz="14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real</a:t>
            </a:r>
            <a:r>
              <a:rPr dirty="0" sz="14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spc="-10" i="1">
                <a:solidFill>
                  <a:srgbClr val="495468"/>
                </a:solidFill>
                <a:latin typeface="Arial"/>
                <a:cs typeface="Arial"/>
              </a:rPr>
              <a:t>programs.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0819" y="1933832"/>
            <a:ext cx="3608704" cy="2485390"/>
            <a:chOff x="470819" y="1933832"/>
            <a:chExt cx="3608704" cy="24853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19" y="1933832"/>
              <a:ext cx="3608263" cy="248506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2919" y="1965959"/>
              <a:ext cx="3515360" cy="2377440"/>
            </a:xfrm>
            <a:custGeom>
              <a:avLst/>
              <a:gdLst/>
              <a:ahLst/>
              <a:cxnLst/>
              <a:rect l="l" t="t" r="r" b="b"/>
              <a:pathLst>
                <a:path w="3515360" h="2377440">
                  <a:moveTo>
                    <a:pt x="344208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2304288"/>
                  </a:lnTo>
                  <a:lnTo>
                    <a:pt x="5748" y="2332755"/>
                  </a:lnTo>
                  <a:lnTo>
                    <a:pt x="21426" y="2356008"/>
                  </a:lnTo>
                  <a:lnTo>
                    <a:pt x="44678" y="2371689"/>
                  </a:lnTo>
                  <a:lnTo>
                    <a:pt x="73151" y="2377440"/>
                  </a:lnTo>
                  <a:lnTo>
                    <a:pt x="3442080" y="2377440"/>
                  </a:lnTo>
                  <a:lnTo>
                    <a:pt x="3470548" y="2371689"/>
                  </a:lnTo>
                  <a:lnTo>
                    <a:pt x="3493801" y="2356008"/>
                  </a:lnTo>
                  <a:lnTo>
                    <a:pt x="3509482" y="2332755"/>
                  </a:lnTo>
                  <a:lnTo>
                    <a:pt x="3515232" y="2304288"/>
                  </a:lnTo>
                  <a:lnTo>
                    <a:pt x="3515232" y="73151"/>
                  </a:lnTo>
                  <a:lnTo>
                    <a:pt x="3509482" y="44684"/>
                  </a:lnTo>
                  <a:lnTo>
                    <a:pt x="3493801" y="21431"/>
                  </a:lnTo>
                  <a:lnTo>
                    <a:pt x="3470548" y="5750"/>
                  </a:lnTo>
                  <a:lnTo>
                    <a:pt x="344208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02919" y="1965959"/>
              <a:ext cx="3515360" cy="731520"/>
            </a:xfrm>
            <a:custGeom>
              <a:avLst/>
              <a:gdLst/>
              <a:ahLst/>
              <a:cxnLst/>
              <a:rect l="l" t="t" r="r" b="b"/>
              <a:pathLst>
                <a:path w="3515360" h="731519">
                  <a:moveTo>
                    <a:pt x="344208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658367"/>
                  </a:lnTo>
                  <a:lnTo>
                    <a:pt x="5748" y="686835"/>
                  </a:lnTo>
                  <a:lnTo>
                    <a:pt x="21426" y="710088"/>
                  </a:lnTo>
                  <a:lnTo>
                    <a:pt x="44678" y="725769"/>
                  </a:lnTo>
                  <a:lnTo>
                    <a:pt x="73151" y="731519"/>
                  </a:lnTo>
                  <a:lnTo>
                    <a:pt x="3442080" y="731519"/>
                  </a:lnTo>
                  <a:lnTo>
                    <a:pt x="3470548" y="725769"/>
                  </a:lnTo>
                  <a:lnTo>
                    <a:pt x="3493801" y="710088"/>
                  </a:lnTo>
                  <a:lnTo>
                    <a:pt x="3509482" y="686835"/>
                  </a:lnTo>
                  <a:lnTo>
                    <a:pt x="3515232" y="658367"/>
                  </a:lnTo>
                  <a:lnTo>
                    <a:pt x="3515232" y="73151"/>
                  </a:lnTo>
                  <a:lnTo>
                    <a:pt x="3509482" y="44684"/>
                  </a:lnTo>
                  <a:lnTo>
                    <a:pt x="3493801" y="21431"/>
                  </a:lnTo>
                  <a:lnTo>
                    <a:pt x="3470548" y="5750"/>
                  </a:lnTo>
                  <a:lnTo>
                    <a:pt x="3442080" y="0"/>
                  </a:lnTo>
                  <a:close/>
                </a:path>
              </a:pathLst>
            </a:custGeom>
            <a:solidFill>
              <a:srgbClr val="2D5C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804542" y="2187067"/>
            <a:ext cx="91122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Terminal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8560" y="2909442"/>
            <a:ext cx="2962910" cy="416559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576580" marR="5080" indent="-564515">
              <a:lnSpc>
                <a:spcPts val="1520"/>
              </a:lnSpc>
              <a:spcBef>
                <a:spcPts val="180"/>
              </a:spcBef>
            </a:pPr>
            <a:r>
              <a:rPr dirty="0" sz="1300" spc="-25">
                <a:solidFill>
                  <a:srgbClr val="495468"/>
                </a:solidFill>
                <a:latin typeface="Arial MT"/>
                <a:cs typeface="Arial MT"/>
              </a:rPr>
              <a:t>You</a:t>
            </a:r>
            <a:r>
              <a:rPr dirty="0" sz="1300" spc="-4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can</a:t>
            </a:r>
            <a:r>
              <a:rPr dirty="0" sz="1300" spc="-4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navigate</a:t>
            </a:r>
            <a:r>
              <a:rPr dirty="0" sz="130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and</a:t>
            </a:r>
            <a:r>
              <a:rPr dirty="0" sz="1300" spc="-5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run</a:t>
            </a:r>
            <a:r>
              <a:rPr dirty="0" sz="13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commands</a:t>
            </a:r>
            <a:r>
              <a:rPr dirty="0" sz="130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 spc="-50">
                <a:solidFill>
                  <a:srgbClr val="495468"/>
                </a:solidFill>
                <a:latin typeface="Arial MT"/>
                <a:cs typeface="Arial MT"/>
              </a:rPr>
              <a:t>—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pwd,</a:t>
            </a:r>
            <a:r>
              <a:rPr dirty="0" sz="13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ls,</a:t>
            </a:r>
            <a:r>
              <a:rPr dirty="0" sz="1300" spc="-4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cd,</a:t>
            </a:r>
            <a:r>
              <a:rPr dirty="0" sz="1300" spc="-4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mkdir,</a:t>
            </a:r>
            <a:r>
              <a:rPr dirty="0" sz="13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495468"/>
                </a:solidFill>
                <a:latin typeface="Arial MT"/>
                <a:cs typeface="Arial MT"/>
              </a:rPr>
              <a:t>touch.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305214" y="1933832"/>
            <a:ext cx="3609975" cy="2485390"/>
            <a:chOff x="4305214" y="1933832"/>
            <a:chExt cx="3609975" cy="248539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05214" y="1933832"/>
              <a:ext cx="3609764" cy="248506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338193" y="1965959"/>
              <a:ext cx="3515360" cy="2377440"/>
            </a:xfrm>
            <a:custGeom>
              <a:avLst/>
              <a:gdLst/>
              <a:ahLst/>
              <a:cxnLst/>
              <a:rect l="l" t="t" r="r" b="b"/>
              <a:pathLst>
                <a:path w="3515359" h="2377440">
                  <a:moveTo>
                    <a:pt x="3442081" y="0"/>
                  </a:moveTo>
                  <a:lnTo>
                    <a:pt x="73152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2304288"/>
                  </a:lnTo>
                  <a:lnTo>
                    <a:pt x="5750" y="2332755"/>
                  </a:lnTo>
                  <a:lnTo>
                    <a:pt x="21431" y="2356008"/>
                  </a:lnTo>
                  <a:lnTo>
                    <a:pt x="44684" y="2371689"/>
                  </a:lnTo>
                  <a:lnTo>
                    <a:pt x="73152" y="2377440"/>
                  </a:lnTo>
                  <a:lnTo>
                    <a:pt x="3442081" y="2377440"/>
                  </a:lnTo>
                  <a:lnTo>
                    <a:pt x="3470548" y="2371689"/>
                  </a:lnTo>
                  <a:lnTo>
                    <a:pt x="3493801" y="2356008"/>
                  </a:lnTo>
                  <a:lnTo>
                    <a:pt x="3509482" y="2332755"/>
                  </a:lnTo>
                  <a:lnTo>
                    <a:pt x="3515233" y="2304288"/>
                  </a:lnTo>
                  <a:lnTo>
                    <a:pt x="3515233" y="73151"/>
                  </a:lnTo>
                  <a:lnTo>
                    <a:pt x="3509482" y="44684"/>
                  </a:lnTo>
                  <a:lnTo>
                    <a:pt x="3493801" y="21431"/>
                  </a:lnTo>
                  <a:lnTo>
                    <a:pt x="3470548" y="5750"/>
                  </a:lnTo>
                  <a:lnTo>
                    <a:pt x="3442081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338193" y="1965959"/>
              <a:ext cx="3515360" cy="731520"/>
            </a:xfrm>
            <a:custGeom>
              <a:avLst/>
              <a:gdLst/>
              <a:ahLst/>
              <a:cxnLst/>
              <a:rect l="l" t="t" r="r" b="b"/>
              <a:pathLst>
                <a:path w="3515359" h="731519">
                  <a:moveTo>
                    <a:pt x="3442081" y="0"/>
                  </a:moveTo>
                  <a:lnTo>
                    <a:pt x="73152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658367"/>
                  </a:lnTo>
                  <a:lnTo>
                    <a:pt x="5750" y="686835"/>
                  </a:lnTo>
                  <a:lnTo>
                    <a:pt x="21431" y="710088"/>
                  </a:lnTo>
                  <a:lnTo>
                    <a:pt x="44684" y="725769"/>
                  </a:lnTo>
                  <a:lnTo>
                    <a:pt x="73152" y="731519"/>
                  </a:lnTo>
                  <a:lnTo>
                    <a:pt x="3442081" y="731519"/>
                  </a:lnTo>
                  <a:lnTo>
                    <a:pt x="3470548" y="725769"/>
                  </a:lnTo>
                  <a:lnTo>
                    <a:pt x="3493801" y="710088"/>
                  </a:lnTo>
                  <a:lnTo>
                    <a:pt x="3509482" y="686835"/>
                  </a:lnTo>
                  <a:lnTo>
                    <a:pt x="3515233" y="658367"/>
                  </a:lnTo>
                  <a:lnTo>
                    <a:pt x="3515233" y="73151"/>
                  </a:lnTo>
                  <a:lnTo>
                    <a:pt x="3509500" y="44684"/>
                  </a:lnTo>
                  <a:lnTo>
                    <a:pt x="3493849" y="21431"/>
                  </a:lnTo>
                  <a:lnTo>
                    <a:pt x="3470602" y="5750"/>
                  </a:lnTo>
                  <a:lnTo>
                    <a:pt x="3442081" y="0"/>
                  </a:lnTo>
                  <a:close/>
                </a:path>
              </a:pathLst>
            </a:custGeom>
            <a:solidFill>
              <a:srgbClr val="1B797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934583" y="2187067"/>
            <a:ext cx="32385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25" b="1">
                <a:solidFill>
                  <a:srgbClr val="FFFFFF"/>
                </a:solidFill>
                <a:latin typeface="Arial"/>
                <a:cs typeface="Arial"/>
              </a:rPr>
              <a:t>Git</a:t>
            </a:r>
            <a:endParaRPr sz="17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88509" y="2909442"/>
            <a:ext cx="3013710" cy="416559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588645" marR="5080" indent="-576580">
              <a:lnSpc>
                <a:spcPts val="1520"/>
              </a:lnSpc>
              <a:spcBef>
                <a:spcPts val="180"/>
              </a:spcBef>
            </a:pPr>
            <a:r>
              <a:rPr dirty="0" sz="1300" spc="-25">
                <a:solidFill>
                  <a:srgbClr val="495468"/>
                </a:solidFill>
                <a:latin typeface="Arial MT"/>
                <a:cs typeface="Arial MT"/>
              </a:rPr>
              <a:t>You</a:t>
            </a:r>
            <a:r>
              <a:rPr dirty="0" sz="13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track</a:t>
            </a:r>
            <a:r>
              <a:rPr dirty="0" sz="13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changes</a:t>
            </a:r>
            <a:r>
              <a:rPr dirty="0" sz="13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with</a:t>
            </a:r>
            <a:r>
              <a:rPr dirty="0" sz="13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init,</a:t>
            </a:r>
            <a:r>
              <a:rPr dirty="0" sz="130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add,</a:t>
            </a:r>
            <a:r>
              <a:rPr dirty="0" sz="13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495468"/>
                </a:solidFill>
                <a:latin typeface="Arial MT"/>
                <a:cs typeface="Arial MT"/>
              </a:rPr>
              <a:t>commit,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and</a:t>
            </a:r>
            <a:r>
              <a:rPr dirty="0" sz="130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read</a:t>
            </a:r>
            <a:r>
              <a:rPr dirty="0" sz="13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history</a:t>
            </a:r>
            <a:r>
              <a:rPr dirty="0" sz="13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with</a:t>
            </a:r>
            <a:r>
              <a:rPr dirty="0" sz="1300" spc="-20">
                <a:solidFill>
                  <a:srgbClr val="495468"/>
                </a:solidFill>
                <a:latin typeface="Arial MT"/>
                <a:cs typeface="Arial MT"/>
              </a:rPr>
              <a:t> log.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141122" y="1933832"/>
            <a:ext cx="3609975" cy="2485390"/>
            <a:chOff x="8141122" y="1933832"/>
            <a:chExt cx="3609975" cy="2485390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41122" y="1933832"/>
              <a:ext cx="3609764" cy="248506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173465" y="1965959"/>
              <a:ext cx="3515360" cy="2377440"/>
            </a:xfrm>
            <a:custGeom>
              <a:avLst/>
              <a:gdLst/>
              <a:ahLst/>
              <a:cxnLst/>
              <a:rect l="l" t="t" r="r" b="b"/>
              <a:pathLst>
                <a:path w="3515359" h="2377440">
                  <a:moveTo>
                    <a:pt x="3442207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2304288"/>
                  </a:lnTo>
                  <a:lnTo>
                    <a:pt x="5750" y="2332755"/>
                  </a:lnTo>
                  <a:lnTo>
                    <a:pt x="21431" y="2356008"/>
                  </a:lnTo>
                  <a:lnTo>
                    <a:pt x="44684" y="2371689"/>
                  </a:lnTo>
                  <a:lnTo>
                    <a:pt x="73151" y="2377440"/>
                  </a:lnTo>
                  <a:lnTo>
                    <a:pt x="3442207" y="2377440"/>
                  </a:lnTo>
                  <a:lnTo>
                    <a:pt x="3470675" y="2371689"/>
                  </a:lnTo>
                  <a:lnTo>
                    <a:pt x="3493928" y="2356008"/>
                  </a:lnTo>
                  <a:lnTo>
                    <a:pt x="3509609" y="2332755"/>
                  </a:lnTo>
                  <a:lnTo>
                    <a:pt x="3515359" y="2304288"/>
                  </a:lnTo>
                  <a:lnTo>
                    <a:pt x="3515359" y="73151"/>
                  </a:lnTo>
                  <a:lnTo>
                    <a:pt x="3509609" y="44684"/>
                  </a:lnTo>
                  <a:lnTo>
                    <a:pt x="3493928" y="21431"/>
                  </a:lnTo>
                  <a:lnTo>
                    <a:pt x="3470675" y="5750"/>
                  </a:lnTo>
                  <a:lnTo>
                    <a:pt x="3442207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173465" y="1965959"/>
              <a:ext cx="3515360" cy="731520"/>
            </a:xfrm>
            <a:custGeom>
              <a:avLst/>
              <a:gdLst/>
              <a:ahLst/>
              <a:cxnLst/>
              <a:rect l="l" t="t" r="r" b="b"/>
              <a:pathLst>
                <a:path w="3515359" h="731519">
                  <a:moveTo>
                    <a:pt x="3442207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658367"/>
                  </a:lnTo>
                  <a:lnTo>
                    <a:pt x="5750" y="686835"/>
                  </a:lnTo>
                  <a:lnTo>
                    <a:pt x="21431" y="710088"/>
                  </a:lnTo>
                  <a:lnTo>
                    <a:pt x="44684" y="725769"/>
                  </a:lnTo>
                  <a:lnTo>
                    <a:pt x="73151" y="731519"/>
                  </a:lnTo>
                  <a:lnTo>
                    <a:pt x="3442207" y="731519"/>
                  </a:lnTo>
                  <a:lnTo>
                    <a:pt x="3470675" y="725769"/>
                  </a:lnTo>
                  <a:lnTo>
                    <a:pt x="3493928" y="710088"/>
                  </a:lnTo>
                  <a:lnTo>
                    <a:pt x="3509609" y="686835"/>
                  </a:lnTo>
                  <a:lnTo>
                    <a:pt x="3515359" y="658367"/>
                  </a:lnTo>
                  <a:lnTo>
                    <a:pt x="3515359" y="73151"/>
                  </a:lnTo>
                  <a:lnTo>
                    <a:pt x="3509609" y="44684"/>
                  </a:lnTo>
                  <a:lnTo>
                    <a:pt x="3493928" y="21431"/>
                  </a:lnTo>
                  <a:lnTo>
                    <a:pt x="3470675" y="5750"/>
                  </a:lnTo>
                  <a:lnTo>
                    <a:pt x="3442207" y="0"/>
                  </a:lnTo>
                  <a:close/>
                </a:path>
              </a:pathLst>
            </a:custGeom>
            <a:solidFill>
              <a:srgbClr val="2D8A5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9558273" y="2187067"/>
            <a:ext cx="74612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GitHub</a:t>
            </a:r>
            <a:endParaRPr sz="17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640826" y="2909442"/>
            <a:ext cx="2581910" cy="416559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43510" marR="5080" indent="-131445">
              <a:lnSpc>
                <a:spcPts val="1520"/>
              </a:lnSpc>
              <a:spcBef>
                <a:spcPts val="180"/>
              </a:spcBef>
            </a:pPr>
            <a:r>
              <a:rPr dirty="0" sz="1300" spc="-25">
                <a:solidFill>
                  <a:srgbClr val="495468"/>
                </a:solidFill>
                <a:latin typeface="Arial MT"/>
                <a:cs typeface="Arial MT"/>
              </a:rPr>
              <a:t>You</a:t>
            </a:r>
            <a:r>
              <a:rPr dirty="0" sz="13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push</a:t>
            </a:r>
            <a:r>
              <a:rPr dirty="0" sz="13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work</a:t>
            </a:r>
            <a:r>
              <a:rPr dirty="0" sz="13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daily:</a:t>
            </a:r>
            <a:r>
              <a:rPr dirty="0" sz="13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pull</a:t>
            </a:r>
            <a:r>
              <a:rPr dirty="0" sz="130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→</a:t>
            </a:r>
            <a:r>
              <a:rPr dirty="0" sz="130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add</a:t>
            </a:r>
            <a:r>
              <a:rPr dirty="0" sz="1300" spc="-4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 spc="-50">
                <a:solidFill>
                  <a:srgbClr val="495468"/>
                </a:solidFill>
                <a:latin typeface="Arial MT"/>
                <a:cs typeface="Arial MT"/>
              </a:rPr>
              <a:t>→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commit</a:t>
            </a:r>
            <a:r>
              <a:rPr dirty="0" sz="130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→</a:t>
            </a:r>
            <a:r>
              <a:rPr dirty="0" sz="13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push,</a:t>
            </a:r>
            <a:r>
              <a:rPr dirty="0" sz="130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every</a:t>
            </a:r>
            <a:r>
              <a:rPr dirty="0" sz="130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495468"/>
                </a:solidFill>
                <a:latin typeface="Arial MT"/>
                <a:cs typeface="Arial MT"/>
              </a:rPr>
              <a:t>session.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02919" y="5029200"/>
            <a:ext cx="11186160" cy="914400"/>
          </a:xfrm>
          <a:custGeom>
            <a:avLst/>
            <a:gdLst/>
            <a:ahLst/>
            <a:cxnLst/>
            <a:rect l="l" t="t" r="r" b="b"/>
            <a:pathLst>
              <a:path w="11186160" h="914400">
                <a:moveTo>
                  <a:pt x="11131041" y="0"/>
                </a:moveTo>
                <a:lnTo>
                  <a:pt x="54864" y="0"/>
                </a:lnTo>
                <a:lnTo>
                  <a:pt x="33507" y="4304"/>
                </a:lnTo>
                <a:lnTo>
                  <a:pt x="16068" y="16049"/>
                </a:lnTo>
                <a:lnTo>
                  <a:pt x="4311" y="33486"/>
                </a:lnTo>
                <a:lnTo>
                  <a:pt x="0" y="54863"/>
                </a:lnTo>
                <a:lnTo>
                  <a:pt x="0" y="859536"/>
                </a:lnTo>
                <a:lnTo>
                  <a:pt x="4311" y="880892"/>
                </a:lnTo>
                <a:lnTo>
                  <a:pt x="16068" y="898331"/>
                </a:lnTo>
                <a:lnTo>
                  <a:pt x="33507" y="910088"/>
                </a:lnTo>
                <a:lnTo>
                  <a:pt x="54864" y="914400"/>
                </a:lnTo>
                <a:lnTo>
                  <a:pt x="11131041" y="914400"/>
                </a:lnTo>
                <a:lnTo>
                  <a:pt x="11152366" y="910088"/>
                </a:lnTo>
                <a:lnTo>
                  <a:pt x="11169808" y="898331"/>
                </a:lnTo>
                <a:lnTo>
                  <a:pt x="11181584" y="880892"/>
                </a:lnTo>
                <a:lnTo>
                  <a:pt x="11185906" y="859536"/>
                </a:lnTo>
                <a:lnTo>
                  <a:pt x="11185906" y="54863"/>
                </a:lnTo>
                <a:lnTo>
                  <a:pt x="11181584" y="33486"/>
                </a:lnTo>
                <a:lnTo>
                  <a:pt x="11169808" y="16049"/>
                </a:lnTo>
                <a:lnTo>
                  <a:pt x="11152366" y="4304"/>
                </a:lnTo>
                <a:lnTo>
                  <a:pt x="11131041" y="0"/>
                </a:lnTo>
                <a:close/>
              </a:path>
            </a:pathLst>
          </a:custGeom>
          <a:solidFill>
            <a:srgbClr val="FFF7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764540" y="5272277"/>
            <a:ext cx="10389870" cy="416559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520"/>
              </a:lnSpc>
              <a:spcBef>
                <a:spcPts val="180"/>
              </a:spcBef>
            </a:pPr>
            <a:r>
              <a:rPr dirty="0" sz="1300" b="1">
                <a:solidFill>
                  <a:srgbClr val="6B530F"/>
                </a:solidFill>
                <a:latin typeface="Arial"/>
                <a:cs typeface="Arial"/>
              </a:rPr>
              <a:t>Don't</a:t>
            </a:r>
            <a:r>
              <a:rPr dirty="0" sz="1300" spc="-30" b="1">
                <a:solidFill>
                  <a:srgbClr val="6B530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6B530F"/>
                </a:solidFill>
                <a:latin typeface="Arial"/>
                <a:cs typeface="Arial"/>
              </a:rPr>
              <a:t>forget:</a:t>
            </a:r>
            <a:r>
              <a:rPr dirty="0" sz="1300" spc="305" b="1">
                <a:solidFill>
                  <a:srgbClr val="6B530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B530F"/>
                </a:solidFill>
                <a:latin typeface="Arial MT"/>
                <a:cs typeface="Arial MT"/>
              </a:rPr>
              <a:t>everything</a:t>
            </a:r>
            <a:r>
              <a:rPr dirty="0" sz="1300" spc="1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6B530F"/>
                </a:solidFill>
                <a:latin typeface="Arial MT"/>
                <a:cs typeface="Arial MT"/>
              </a:rPr>
              <a:t>you</a:t>
            </a:r>
            <a:r>
              <a:rPr dirty="0" sz="1300" spc="-3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6B530F"/>
                </a:solidFill>
                <a:latin typeface="Arial MT"/>
                <a:cs typeface="Arial MT"/>
              </a:rPr>
              <a:t>write</a:t>
            </a:r>
            <a:r>
              <a:rPr dirty="0" sz="1300" spc="-2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6B530F"/>
                </a:solidFill>
                <a:latin typeface="Arial MT"/>
                <a:cs typeface="Arial MT"/>
              </a:rPr>
              <a:t>today</a:t>
            </a:r>
            <a:r>
              <a:rPr dirty="0" sz="1300" spc="-2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6B530F"/>
                </a:solidFill>
                <a:latin typeface="Arial MT"/>
                <a:cs typeface="Arial MT"/>
              </a:rPr>
              <a:t>—</a:t>
            </a:r>
            <a:r>
              <a:rPr dirty="0" sz="1300" spc="-3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6B530F"/>
                </a:solidFill>
                <a:latin typeface="Arial MT"/>
                <a:cs typeface="Arial MT"/>
              </a:rPr>
              <a:t>every</a:t>
            </a:r>
            <a:r>
              <a:rPr dirty="0" sz="1300" spc="-2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6B530F"/>
                </a:solidFill>
                <a:latin typeface="Arial MT"/>
                <a:cs typeface="Arial MT"/>
              </a:rPr>
              <a:t>exercise</a:t>
            </a:r>
            <a:r>
              <a:rPr dirty="0" sz="1300" spc="-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6B530F"/>
                </a:solidFill>
                <a:latin typeface="Arial MT"/>
                <a:cs typeface="Arial MT"/>
              </a:rPr>
              <a:t>and</a:t>
            </a:r>
            <a:r>
              <a:rPr dirty="0" sz="1300" spc="-4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6B530F"/>
                </a:solidFill>
                <a:latin typeface="Arial MT"/>
                <a:cs typeface="Arial MT"/>
              </a:rPr>
              <a:t>the</a:t>
            </a:r>
            <a:r>
              <a:rPr dirty="0" sz="1300" spc="-3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6B530F"/>
                </a:solidFill>
                <a:latin typeface="Arial MT"/>
                <a:cs typeface="Arial MT"/>
              </a:rPr>
              <a:t>day's</a:t>
            </a:r>
            <a:r>
              <a:rPr dirty="0" sz="1300" spc="-2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6B530F"/>
                </a:solidFill>
                <a:latin typeface="Arial MT"/>
                <a:cs typeface="Arial MT"/>
              </a:rPr>
              <a:t>program</a:t>
            </a:r>
            <a:r>
              <a:rPr dirty="0" sz="1300" spc="-1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6B530F"/>
                </a:solidFill>
                <a:latin typeface="Arial MT"/>
                <a:cs typeface="Arial MT"/>
              </a:rPr>
              <a:t>—</a:t>
            </a:r>
            <a:r>
              <a:rPr dirty="0" sz="1300" spc="-3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6B530F"/>
                </a:solidFill>
                <a:latin typeface="Arial MT"/>
                <a:cs typeface="Arial MT"/>
              </a:rPr>
              <a:t>gets</a:t>
            </a:r>
            <a:r>
              <a:rPr dirty="0" sz="1300" spc="-3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6B530F"/>
                </a:solidFill>
                <a:latin typeface="Arial MT"/>
                <a:cs typeface="Arial MT"/>
              </a:rPr>
              <a:t>committed</a:t>
            </a:r>
            <a:r>
              <a:rPr dirty="0" sz="1300" spc="-2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6B530F"/>
                </a:solidFill>
                <a:latin typeface="Arial MT"/>
                <a:cs typeface="Arial MT"/>
              </a:rPr>
              <a:t>and</a:t>
            </a:r>
            <a:r>
              <a:rPr dirty="0" sz="1300" spc="-3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6B530F"/>
                </a:solidFill>
                <a:latin typeface="Arial MT"/>
                <a:cs typeface="Arial MT"/>
              </a:rPr>
              <a:t>pushed</a:t>
            </a:r>
            <a:r>
              <a:rPr dirty="0" sz="1300" spc="-3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6B530F"/>
                </a:solidFill>
                <a:latin typeface="Arial MT"/>
                <a:cs typeface="Arial MT"/>
              </a:rPr>
              <a:t>to</a:t>
            </a:r>
            <a:r>
              <a:rPr dirty="0" sz="1300" spc="-3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6B530F"/>
                </a:solidFill>
                <a:latin typeface="Arial MT"/>
                <a:cs typeface="Arial MT"/>
              </a:rPr>
              <a:t>GitHub</a:t>
            </a:r>
            <a:r>
              <a:rPr dirty="0" sz="1300" spc="-3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6B530F"/>
                </a:solidFill>
                <a:latin typeface="Arial MT"/>
                <a:cs typeface="Arial MT"/>
              </a:rPr>
              <a:t>before</a:t>
            </a:r>
            <a:r>
              <a:rPr dirty="0" sz="1300" spc="-3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6B530F"/>
                </a:solidFill>
                <a:latin typeface="Arial MT"/>
                <a:cs typeface="Arial MT"/>
              </a:rPr>
              <a:t>you</a:t>
            </a:r>
            <a:r>
              <a:rPr dirty="0" sz="1300" spc="-2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6B530F"/>
                </a:solidFill>
                <a:latin typeface="Arial MT"/>
                <a:cs typeface="Arial MT"/>
              </a:rPr>
              <a:t>leave. </a:t>
            </a:r>
            <a:r>
              <a:rPr dirty="0" sz="1300">
                <a:solidFill>
                  <a:srgbClr val="6B530F"/>
                </a:solidFill>
                <a:latin typeface="Arial MT"/>
                <a:cs typeface="Arial MT"/>
              </a:rPr>
              <a:t>The</a:t>
            </a:r>
            <a:r>
              <a:rPr dirty="0" sz="1300" spc="-3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6B530F"/>
                </a:solidFill>
                <a:latin typeface="Arial MT"/>
                <a:cs typeface="Arial MT"/>
              </a:rPr>
              <a:t>habit</a:t>
            </a:r>
            <a:r>
              <a:rPr dirty="0" sz="1300" spc="-2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6B530F"/>
                </a:solidFill>
                <a:latin typeface="Arial MT"/>
                <a:cs typeface="Arial MT"/>
              </a:rPr>
              <a:t>starts</a:t>
            </a:r>
            <a:r>
              <a:rPr dirty="0" sz="1300" spc="-1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6B530F"/>
                </a:solidFill>
                <a:latin typeface="Arial MT"/>
                <a:cs typeface="Arial MT"/>
              </a:rPr>
              <a:t>now</a:t>
            </a:r>
            <a:r>
              <a:rPr dirty="0" sz="1300" spc="-3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6B530F"/>
                </a:solidFill>
                <a:latin typeface="Arial MT"/>
                <a:cs typeface="Arial MT"/>
              </a:rPr>
              <a:t>and</a:t>
            </a:r>
            <a:r>
              <a:rPr dirty="0" sz="1300" spc="-1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6B530F"/>
                </a:solidFill>
                <a:latin typeface="Arial MT"/>
                <a:cs typeface="Arial MT"/>
              </a:rPr>
              <a:t>never</a:t>
            </a:r>
            <a:r>
              <a:rPr dirty="0" sz="1300" spc="-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6B530F"/>
                </a:solidFill>
                <a:latin typeface="Arial MT"/>
                <a:cs typeface="Arial MT"/>
              </a:rPr>
              <a:t>stops.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Property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IBT</a:t>
            </a:r>
            <a:r>
              <a:rPr dirty="0" spc="-35"/>
              <a:t> </a:t>
            </a:r>
            <a:r>
              <a:rPr dirty="0"/>
              <a:t>College</a:t>
            </a:r>
            <a:r>
              <a:rPr dirty="0" spc="-15"/>
              <a:t> </a:t>
            </a:r>
            <a:r>
              <a:rPr dirty="0" spc="-10"/>
              <a:t>Canada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2</a:t>
            </a:fld>
            <a:r>
              <a:rPr dirty="0" spc="-5"/>
              <a:t> </a:t>
            </a:r>
            <a:r>
              <a:rPr dirty="0"/>
              <a:t>/ </a:t>
            </a:r>
            <a:r>
              <a:rPr dirty="0" spc="-25"/>
              <a:t>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68686" y="1862454"/>
            <a:ext cx="1198245" cy="2738755"/>
          </a:xfrm>
          <a:custGeom>
            <a:avLst/>
            <a:gdLst/>
            <a:ahLst/>
            <a:cxnLst/>
            <a:rect l="l" t="t" r="r" b="b"/>
            <a:pathLst>
              <a:path w="1198245" h="2738754">
                <a:moveTo>
                  <a:pt x="1198118" y="0"/>
                </a:moveTo>
                <a:lnTo>
                  <a:pt x="773938" y="0"/>
                </a:lnTo>
                <a:lnTo>
                  <a:pt x="756449" y="44822"/>
                </a:lnTo>
                <a:lnTo>
                  <a:pt x="736473" y="88613"/>
                </a:lnTo>
                <a:lnTo>
                  <a:pt x="714008" y="131372"/>
                </a:lnTo>
                <a:lnTo>
                  <a:pt x="689053" y="173099"/>
                </a:lnTo>
                <a:lnTo>
                  <a:pt x="661609" y="213797"/>
                </a:lnTo>
                <a:lnTo>
                  <a:pt x="631675" y="253464"/>
                </a:lnTo>
                <a:lnTo>
                  <a:pt x="599249" y="292102"/>
                </a:lnTo>
                <a:lnTo>
                  <a:pt x="564332" y="329711"/>
                </a:lnTo>
                <a:lnTo>
                  <a:pt x="526923" y="366292"/>
                </a:lnTo>
                <a:lnTo>
                  <a:pt x="487022" y="401845"/>
                </a:lnTo>
                <a:lnTo>
                  <a:pt x="444627" y="436372"/>
                </a:lnTo>
                <a:lnTo>
                  <a:pt x="396975" y="472551"/>
                </a:lnTo>
                <a:lnTo>
                  <a:pt x="350032" y="506336"/>
                </a:lnTo>
                <a:lnTo>
                  <a:pt x="303797" y="537726"/>
                </a:lnTo>
                <a:lnTo>
                  <a:pt x="258272" y="566718"/>
                </a:lnTo>
                <a:lnTo>
                  <a:pt x="213455" y="593312"/>
                </a:lnTo>
                <a:lnTo>
                  <a:pt x="169346" y="617505"/>
                </a:lnTo>
                <a:lnTo>
                  <a:pt x="125947" y="639296"/>
                </a:lnTo>
                <a:lnTo>
                  <a:pt x="83256" y="658684"/>
                </a:lnTo>
                <a:lnTo>
                  <a:pt x="41273" y="675668"/>
                </a:lnTo>
                <a:lnTo>
                  <a:pt x="0" y="690245"/>
                </a:lnTo>
                <a:lnTo>
                  <a:pt x="0" y="1164590"/>
                </a:lnTo>
                <a:lnTo>
                  <a:pt x="48202" y="1148017"/>
                </a:lnTo>
                <a:lnTo>
                  <a:pt x="95606" y="1130353"/>
                </a:lnTo>
                <a:lnTo>
                  <a:pt x="142212" y="1111596"/>
                </a:lnTo>
                <a:lnTo>
                  <a:pt x="188019" y="1091747"/>
                </a:lnTo>
                <a:lnTo>
                  <a:pt x="233027" y="1070805"/>
                </a:lnTo>
                <a:lnTo>
                  <a:pt x="277235" y="1048771"/>
                </a:lnTo>
                <a:lnTo>
                  <a:pt x="320643" y="1025645"/>
                </a:lnTo>
                <a:lnTo>
                  <a:pt x="363251" y="1001426"/>
                </a:lnTo>
                <a:lnTo>
                  <a:pt x="405058" y="976115"/>
                </a:lnTo>
                <a:lnTo>
                  <a:pt x="446065" y="949711"/>
                </a:lnTo>
                <a:lnTo>
                  <a:pt x="486269" y="922215"/>
                </a:lnTo>
                <a:lnTo>
                  <a:pt x="525672" y="893627"/>
                </a:lnTo>
                <a:lnTo>
                  <a:pt x="564273" y="863946"/>
                </a:lnTo>
                <a:lnTo>
                  <a:pt x="602071" y="833173"/>
                </a:lnTo>
                <a:lnTo>
                  <a:pt x="639067" y="801307"/>
                </a:lnTo>
                <a:lnTo>
                  <a:pt x="675259" y="768350"/>
                </a:lnTo>
                <a:lnTo>
                  <a:pt x="675259" y="2738501"/>
                </a:lnTo>
                <a:lnTo>
                  <a:pt x="1198118" y="2738501"/>
                </a:lnTo>
                <a:lnTo>
                  <a:pt x="1198118" y="0"/>
                </a:lnTo>
                <a:close/>
              </a:path>
            </a:pathLst>
          </a:custGeom>
          <a:solidFill>
            <a:srgbClr val="4F46E4">
              <a:alpha val="3803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81659" y="2385187"/>
            <a:ext cx="163004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E4B546"/>
                </a:solidFill>
                <a:latin typeface="Arial"/>
                <a:cs typeface="Arial"/>
              </a:rPr>
              <a:t>S</a:t>
            </a:r>
            <a:r>
              <a:rPr dirty="0" sz="1400" spc="-95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E4B546"/>
                </a:solidFill>
                <a:latin typeface="Arial"/>
                <a:cs typeface="Arial"/>
              </a:rPr>
              <a:t>E</a:t>
            </a:r>
            <a:r>
              <a:rPr dirty="0" sz="1400" spc="-95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4B546"/>
                </a:solidFill>
                <a:latin typeface="Arial"/>
                <a:cs typeface="Arial"/>
              </a:rPr>
              <a:t>C</a:t>
            </a:r>
            <a:r>
              <a:rPr dirty="0" sz="1400" spc="-100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4B546"/>
                </a:solidFill>
                <a:latin typeface="Arial"/>
                <a:cs typeface="Arial"/>
              </a:rPr>
              <a:t>T</a:t>
            </a:r>
            <a:r>
              <a:rPr dirty="0" sz="1400" spc="-100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4B546"/>
                </a:solidFill>
                <a:latin typeface="Arial"/>
                <a:cs typeface="Arial"/>
              </a:rPr>
              <a:t>I</a:t>
            </a:r>
            <a:r>
              <a:rPr dirty="0" sz="1400" spc="-85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4B546"/>
                </a:solidFill>
                <a:latin typeface="Arial"/>
                <a:cs typeface="Arial"/>
              </a:rPr>
              <a:t>O</a:t>
            </a:r>
            <a:r>
              <a:rPr dirty="0" sz="1400" spc="-95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4B546"/>
                </a:solidFill>
                <a:latin typeface="Arial"/>
                <a:cs typeface="Arial"/>
              </a:rPr>
              <a:t>N</a:t>
            </a:r>
            <a:r>
              <a:rPr dirty="0" sz="1400" spc="95" b="1">
                <a:solidFill>
                  <a:srgbClr val="E4B546"/>
                </a:solidFill>
                <a:latin typeface="Arial"/>
                <a:cs typeface="Arial"/>
              </a:rPr>
              <a:t>  </a:t>
            </a:r>
            <a:r>
              <a:rPr dirty="0" sz="1400" b="1">
                <a:solidFill>
                  <a:srgbClr val="E4B546"/>
                </a:solidFill>
                <a:latin typeface="Arial"/>
                <a:cs typeface="Arial"/>
              </a:rPr>
              <a:t>O</a:t>
            </a:r>
            <a:r>
              <a:rPr dirty="0" sz="1400" spc="-95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4B546"/>
                </a:solidFill>
                <a:latin typeface="Arial"/>
                <a:cs typeface="Arial"/>
              </a:rPr>
              <a:t>N</a:t>
            </a:r>
            <a:r>
              <a:rPr dirty="0" sz="1400" spc="-100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spc="-60" b="1">
                <a:solidFill>
                  <a:srgbClr val="E4B546"/>
                </a:solidFill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FFFFF"/>
                </a:solidFill>
              </a:rPr>
              <a:t>Meet</a:t>
            </a:r>
            <a:r>
              <a:rPr dirty="0" sz="4000" spc="-80">
                <a:solidFill>
                  <a:srgbClr val="FFFFFF"/>
                </a:solidFill>
              </a:rPr>
              <a:t> </a:t>
            </a:r>
            <a:r>
              <a:rPr dirty="0" sz="4000" spc="-10">
                <a:solidFill>
                  <a:srgbClr val="FFFFFF"/>
                </a:solidFill>
              </a:rPr>
              <a:t>Python</a:t>
            </a:r>
            <a:endParaRPr sz="4000"/>
          </a:p>
        </p:txBody>
      </p:sp>
      <p:sp>
        <p:nvSpPr>
          <p:cNvPr id="5" name="object 5"/>
          <p:cNvSpPr txBox="1"/>
          <p:nvPr/>
        </p:nvSpPr>
        <p:spPr>
          <a:xfrm>
            <a:off x="599948" y="4098417"/>
            <a:ext cx="6958330" cy="476884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200"/>
              </a:spcBef>
            </a:pP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What</a:t>
            </a:r>
            <a:r>
              <a:rPr dirty="0" sz="1500" spc="-6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Python</a:t>
            </a:r>
            <a:r>
              <a:rPr dirty="0" sz="1500" spc="-2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is,</a:t>
            </a:r>
            <a:r>
              <a:rPr dirty="0" sz="1500" spc="-40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how</a:t>
            </a:r>
            <a:r>
              <a:rPr dirty="0" sz="1500" spc="-2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to</a:t>
            </a:r>
            <a:r>
              <a:rPr dirty="0" sz="1500" spc="-30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run</a:t>
            </a:r>
            <a:r>
              <a:rPr dirty="0" sz="1500" spc="-40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it,</a:t>
            </a:r>
            <a:r>
              <a:rPr dirty="0" sz="1500" spc="-40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and</a:t>
            </a:r>
            <a:r>
              <a:rPr dirty="0" sz="1500" spc="-2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the</a:t>
            </a:r>
            <a:r>
              <a:rPr dirty="0" sz="1500" spc="-40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syntax</a:t>
            </a:r>
            <a:r>
              <a:rPr dirty="0" sz="1500" spc="-30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rules</a:t>
            </a:r>
            <a:r>
              <a:rPr dirty="0" sz="1500" spc="-2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that</a:t>
            </a:r>
            <a:r>
              <a:rPr dirty="0" sz="1500" spc="-50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shape</a:t>
            </a:r>
            <a:r>
              <a:rPr dirty="0" sz="1500" spc="-40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every</a:t>
            </a:r>
            <a:r>
              <a:rPr dirty="0" sz="1500" spc="-1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program</a:t>
            </a:r>
            <a:r>
              <a:rPr dirty="0" sz="1500" spc="-4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6D8FB8"/>
                </a:solidFill>
                <a:latin typeface="Arial MT"/>
                <a:cs typeface="Arial MT"/>
              </a:rPr>
              <a:t>you'll write.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6" name="object 6" descr="/home/claude/decks/assets/ibt_logo_trim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359" y="5989320"/>
            <a:ext cx="528726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343915"/>
            <a:ext cx="24530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C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14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I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38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1</a:t>
            </a:r>
            <a:r>
              <a:rPr dirty="0" sz="1100" spc="38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·</a:t>
            </a:r>
            <a:r>
              <a:rPr dirty="0" sz="1100" spc="39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M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37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P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Y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14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H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dirty="0" spc="-70"/>
              <a:t> </a:t>
            </a:r>
            <a:r>
              <a:rPr dirty="0" spc="-10"/>
              <a:t>Python?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Python</a:t>
            </a:r>
            <a:r>
              <a:rPr dirty="0" spc="-10"/>
              <a:t> </a:t>
            </a:r>
            <a:r>
              <a:rPr dirty="0"/>
              <a:t>is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35"/>
              <a:t> </a:t>
            </a:r>
            <a:r>
              <a:rPr dirty="0" spc="-10"/>
              <a:t>high-</a:t>
            </a:r>
            <a:r>
              <a:rPr dirty="0"/>
              <a:t>level,</a:t>
            </a:r>
            <a:r>
              <a:rPr dirty="0" spc="-75"/>
              <a:t> </a:t>
            </a:r>
            <a:r>
              <a:rPr dirty="0"/>
              <a:t>readable</a:t>
            </a:r>
            <a:r>
              <a:rPr dirty="0" spc="-50"/>
              <a:t> </a:t>
            </a:r>
            <a:r>
              <a:rPr dirty="0"/>
              <a:t>programming</a:t>
            </a:r>
            <a:r>
              <a:rPr dirty="0" spc="-60"/>
              <a:t> </a:t>
            </a:r>
            <a:r>
              <a:rPr dirty="0" spc="-10"/>
              <a:t>language.</a:t>
            </a:r>
          </a:p>
          <a:p>
            <a:pPr marL="12700" marR="177800">
              <a:lnSpc>
                <a:spcPct val="115100"/>
              </a:lnSpc>
              <a:spcBef>
                <a:spcPts val="790"/>
              </a:spcBef>
            </a:pP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Its</a:t>
            </a:r>
            <a:r>
              <a:rPr dirty="0" spc="-5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syntax</a:t>
            </a:r>
            <a:r>
              <a:rPr dirty="0" spc="-25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reads</a:t>
            </a:r>
            <a:r>
              <a:rPr dirty="0" spc="-4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almost</a:t>
            </a:r>
            <a:r>
              <a:rPr dirty="0" spc="-4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like</a:t>
            </a:r>
            <a:r>
              <a:rPr dirty="0" spc="-3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English,</a:t>
            </a:r>
            <a:r>
              <a:rPr dirty="0" spc="-4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which</a:t>
            </a:r>
            <a:r>
              <a:rPr dirty="0" spc="-2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is</a:t>
            </a:r>
            <a:r>
              <a:rPr dirty="0" spc="-15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exactly</a:t>
            </a:r>
            <a:r>
              <a:rPr dirty="0" spc="-2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why</a:t>
            </a:r>
            <a:r>
              <a:rPr dirty="0" spc="-15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we</a:t>
            </a:r>
            <a:r>
              <a:rPr dirty="0" spc="5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pc="-10" b="0">
                <a:solidFill>
                  <a:srgbClr val="495468"/>
                </a:solidFill>
                <a:latin typeface="Arial MT"/>
                <a:cs typeface="Arial MT"/>
              </a:rPr>
              <a:t>teach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pc="-35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fundamentals</a:t>
            </a:r>
            <a:r>
              <a:rPr dirty="0" spc="-5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in</a:t>
            </a:r>
            <a:r>
              <a:rPr dirty="0" spc="-2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it</a:t>
            </a:r>
            <a:r>
              <a:rPr dirty="0" spc="-5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—</a:t>
            </a:r>
            <a:r>
              <a:rPr dirty="0" spc="-3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you</a:t>
            </a:r>
            <a:r>
              <a:rPr dirty="0" spc="-1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spend</a:t>
            </a:r>
            <a:r>
              <a:rPr dirty="0" spc="-45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your</a:t>
            </a:r>
            <a:r>
              <a:rPr dirty="0" spc="-1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energy</a:t>
            </a:r>
            <a:r>
              <a:rPr dirty="0" spc="-5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on</a:t>
            </a:r>
            <a:r>
              <a:rPr dirty="0" spc="-2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pc="-4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ideas</a:t>
            </a:r>
            <a:r>
              <a:rPr dirty="0" spc="-25" b="0">
                <a:solidFill>
                  <a:srgbClr val="495468"/>
                </a:solidFill>
                <a:latin typeface="Arial MT"/>
                <a:cs typeface="Arial MT"/>
              </a:rPr>
              <a:t> of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programming,</a:t>
            </a:r>
            <a:r>
              <a:rPr dirty="0" spc="-55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not</a:t>
            </a:r>
            <a:r>
              <a:rPr dirty="0" spc="-3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on</a:t>
            </a:r>
            <a:r>
              <a:rPr dirty="0" spc="-3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fighting</a:t>
            </a:r>
            <a:r>
              <a:rPr dirty="0" spc="-6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pc="-3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pc="-10" b="0">
                <a:solidFill>
                  <a:srgbClr val="495468"/>
                </a:solidFill>
                <a:latin typeface="Arial MT"/>
                <a:cs typeface="Arial MT"/>
              </a:rPr>
              <a:t>language.</a:t>
            </a:r>
          </a:p>
          <a:p>
            <a:pPr marL="12700" marR="5080">
              <a:lnSpc>
                <a:spcPct val="114999"/>
              </a:lnSpc>
              <a:spcBef>
                <a:spcPts val="800"/>
              </a:spcBef>
            </a:pP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pc="-35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concepts</a:t>
            </a:r>
            <a:r>
              <a:rPr dirty="0" spc="-6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you</a:t>
            </a:r>
            <a:r>
              <a:rPr dirty="0" spc="-15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learn</a:t>
            </a:r>
            <a:r>
              <a:rPr dirty="0" spc="-3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today</a:t>
            </a:r>
            <a:r>
              <a:rPr dirty="0" spc="-45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—</a:t>
            </a:r>
            <a:r>
              <a:rPr dirty="0" spc="-2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variables,</a:t>
            </a:r>
            <a:r>
              <a:rPr dirty="0" spc="-4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types,</a:t>
            </a:r>
            <a:r>
              <a:rPr dirty="0" spc="-3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loops,</a:t>
            </a:r>
            <a:r>
              <a:rPr dirty="0" spc="-4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functions</a:t>
            </a:r>
            <a:r>
              <a:rPr dirty="0" spc="-3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pc="-50" b="0">
                <a:solidFill>
                  <a:srgbClr val="495468"/>
                </a:solidFill>
                <a:latin typeface="Arial MT"/>
                <a:cs typeface="Arial MT"/>
              </a:rPr>
              <a:t>—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exist</a:t>
            </a:r>
            <a:r>
              <a:rPr dirty="0" spc="-15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in</a:t>
            </a:r>
            <a:r>
              <a:rPr dirty="0" spc="-2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every</a:t>
            </a:r>
            <a:r>
              <a:rPr dirty="0" spc="-25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language.</a:t>
            </a:r>
            <a:r>
              <a:rPr dirty="0" spc="-5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Master</a:t>
            </a:r>
            <a:r>
              <a:rPr dirty="0" spc="-4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them</a:t>
            </a:r>
            <a:r>
              <a:rPr dirty="0" spc="-5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here</a:t>
            </a:r>
            <a:r>
              <a:rPr dirty="0" spc="-3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and</a:t>
            </a:r>
            <a:r>
              <a:rPr dirty="0" spc="-3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JavaScript,</a:t>
            </a:r>
            <a:r>
              <a:rPr dirty="0" spc="-45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Go,</a:t>
            </a:r>
            <a:r>
              <a:rPr dirty="0" spc="-25" b="0">
                <a:solidFill>
                  <a:srgbClr val="495468"/>
                </a:solidFill>
                <a:latin typeface="Arial MT"/>
                <a:cs typeface="Arial MT"/>
              </a:rPr>
              <a:t> and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C#</a:t>
            </a:r>
            <a:r>
              <a:rPr dirty="0" spc="-3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will</a:t>
            </a:r>
            <a:r>
              <a:rPr dirty="0" spc="-10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495468"/>
                </a:solidFill>
                <a:latin typeface="Arial MT"/>
                <a:cs typeface="Arial MT"/>
              </a:rPr>
              <a:t>feel</a:t>
            </a:r>
            <a:r>
              <a:rPr dirty="0" spc="-35" b="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pc="-10" b="0">
                <a:solidFill>
                  <a:srgbClr val="495468"/>
                </a:solidFill>
                <a:latin typeface="Arial MT"/>
                <a:cs typeface="Arial MT"/>
              </a:rPr>
              <a:t>familiar.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368741" y="1522337"/>
            <a:ext cx="2600960" cy="2211070"/>
            <a:chOff x="6368741" y="1522337"/>
            <a:chExt cx="2600960" cy="22110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68741" y="1522337"/>
              <a:ext cx="2600815" cy="22107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00800" y="1554479"/>
              <a:ext cx="2506980" cy="2103120"/>
            </a:xfrm>
            <a:custGeom>
              <a:avLst/>
              <a:gdLst/>
              <a:ahLst/>
              <a:cxnLst/>
              <a:rect l="l" t="t" r="r" b="b"/>
              <a:pathLst>
                <a:path w="2506979" h="2103120">
                  <a:moveTo>
                    <a:pt x="243370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2029968"/>
                  </a:lnTo>
                  <a:lnTo>
                    <a:pt x="5750" y="2058435"/>
                  </a:lnTo>
                  <a:lnTo>
                    <a:pt x="21431" y="2081688"/>
                  </a:lnTo>
                  <a:lnTo>
                    <a:pt x="44684" y="2097369"/>
                  </a:lnTo>
                  <a:lnTo>
                    <a:pt x="73151" y="2103120"/>
                  </a:lnTo>
                  <a:lnTo>
                    <a:pt x="2433701" y="2103120"/>
                  </a:lnTo>
                  <a:lnTo>
                    <a:pt x="2462168" y="2097369"/>
                  </a:lnTo>
                  <a:lnTo>
                    <a:pt x="2485421" y="2081688"/>
                  </a:lnTo>
                  <a:lnTo>
                    <a:pt x="2501102" y="2058435"/>
                  </a:lnTo>
                  <a:lnTo>
                    <a:pt x="2506853" y="2029968"/>
                  </a:lnTo>
                  <a:lnTo>
                    <a:pt x="2506853" y="73152"/>
                  </a:lnTo>
                  <a:lnTo>
                    <a:pt x="2501102" y="44684"/>
                  </a:lnTo>
                  <a:lnTo>
                    <a:pt x="2485421" y="21431"/>
                  </a:lnTo>
                  <a:lnTo>
                    <a:pt x="2462168" y="5750"/>
                  </a:lnTo>
                  <a:lnTo>
                    <a:pt x="2433701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629400" y="178307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65759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365760"/>
                  </a:lnTo>
                  <a:lnTo>
                    <a:pt x="7179" y="401371"/>
                  </a:lnTo>
                  <a:lnTo>
                    <a:pt x="26765" y="430434"/>
                  </a:lnTo>
                  <a:lnTo>
                    <a:pt x="55828" y="450020"/>
                  </a:lnTo>
                  <a:lnTo>
                    <a:pt x="91440" y="457200"/>
                  </a:lnTo>
                  <a:lnTo>
                    <a:pt x="365759" y="457200"/>
                  </a:lnTo>
                  <a:lnTo>
                    <a:pt x="401371" y="450020"/>
                  </a:lnTo>
                  <a:lnTo>
                    <a:pt x="430434" y="430434"/>
                  </a:lnTo>
                  <a:lnTo>
                    <a:pt x="450020" y="401371"/>
                  </a:lnTo>
                  <a:lnTo>
                    <a:pt x="457200" y="365760"/>
                  </a:lnTo>
                  <a:lnTo>
                    <a:pt x="457200" y="91440"/>
                  </a:lnTo>
                  <a:lnTo>
                    <a:pt x="450020" y="55828"/>
                  </a:lnTo>
                  <a:lnTo>
                    <a:pt x="430434" y="26765"/>
                  </a:lnTo>
                  <a:lnTo>
                    <a:pt x="401371" y="7179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2D5C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789801" y="1866645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17589" y="2319146"/>
            <a:ext cx="1798955" cy="824865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500" spc="-10" b="1">
                <a:solidFill>
                  <a:srgbClr val="091F3C"/>
                </a:solidFill>
                <a:latin typeface="Arial"/>
                <a:cs typeface="Arial"/>
              </a:rPr>
              <a:t>Readable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340"/>
              </a:lnSpc>
              <a:spcBef>
                <a:spcPts val="844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Clean</a:t>
            </a:r>
            <a:r>
              <a:rPr dirty="0" sz="11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syntax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that's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close</a:t>
            </a:r>
            <a:r>
              <a:rPr dirty="0" sz="11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to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plain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English.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150040" y="1522337"/>
            <a:ext cx="2600960" cy="2211070"/>
            <a:chOff x="9150040" y="1522337"/>
            <a:chExt cx="2600960" cy="221107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50040" y="1522337"/>
              <a:ext cx="2600815" cy="221076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181972" y="1554479"/>
              <a:ext cx="2506980" cy="2103120"/>
            </a:xfrm>
            <a:custGeom>
              <a:avLst/>
              <a:gdLst/>
              <a:ahLst/>
              <a:cxnLst/>
              <a:rect l="l" t="t" r="r" b="b"/>
              <a:pathLst>
                <a:path w="2506979" h="2103120">
                  <a:moveTo>
                    <a:pt x="243370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2029968"/>
                  </a:lnTo>
                  <a:lnTo>
                    <a:pt x="5750" y="2058435"/>
                  </a:lnTo>
                  <a:lnTo>
                    <a:pt x="21431" y="2081688"/>
                  </a:lnTo>
                  <a:lnTo>
                    <a:pt x="44684" y="2097369"/>
                  </a:lnTo>
                  <a:lnTo>
                    <a:pt x="73151" y="2103120"/>
                  </a:lnTo>
                  <a:lnTo>
                    <a:pt x="2433701" y="2103120"/>
                  </a:lnTo>
                  <a:lnTo>
                    <a:pt x="2462168" y="2097369"/>
                  </a:lnTo>
                  <a:lnTo>
                    <a:pt x="2485421" y="2081688"/>
                  </a:lnTo>
                  <a:lnTo>
                    <a:pt x="2501102" y="2058435"/>
                  </a:lnTo>
                  <a:lnTo>
                    <a:pt x="2506853" y="2029968"/>
                  </a:lnTo>
                  <a:lnTo>
                    <a:pt x="2506853" y="73152"/>
                  </a:lnTo>
                  <a:lnTo>
                    <a:pt x="2501102" y="44684"/>
                  </a:lnTo>
                  <a:lnTo>
                    <a:pt x="2485421" y="21431"/>
                  </a:lnTo>
                  <a:lnTo>
                    <a:pt x="2462168" y="5750"/>
                  </a:lnTo>
                  <a:lnTo>
                    <a:pt x="2433701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410572" y="178307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65759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365760"/>
                  </a:lnTo>
                  <a:lnTo>
                    <a:pt x="7179" y="401371"/>
                  </a:lnTo>
                  <a:lnTo>
                    <a:pt x="26765" y="430434"/>
                  </a:lnTo>
                  <a:lnTo>
                    <a:pt x="55828" y="450020"/>
                  </a:lnTo>
                  <a:lnTo>
                    <a:pt x="91440" y="457200"/>
                  </a:lnTo>
                  <a:lnTo>
                    <a:pt x="365759" y="457200"/>
                  </a:lnTo>
                  <a:lnTo>
                    <a:pt x="401318" y="450020"/>
                  </a:lnTo>
                  <a:lnTo>
                    <a:pt x="430387" y="430434"/>
                  </a:lnTo>
                  <a:lnTo>
                    <a:pt x="450002" y="401371"/>
                  </a:lnTo>
                  <a:lnTo>
                    <a:pt x="457200" y="365760"/>
                  </a:lnTo>
                  <a:lnTo>
                    <a:pt x="457200" y="91440"/>
                  </a:lnTo>
                  <a:lnTo>
                    <a:pt x="450002" y="55828"/>
                  </a:lnTo>
                  <a:lnTo>
                    <a:pt x="430387" y="26765"/>
                  </a:lnTo>
                  <a:lnTo>
                    <a:pt x="401318" y="7179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1B797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9571481" y="1866645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99269" y="2319146"/>
            <a:ext cx="1780539" cy="824865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500" spc="-10" b="1">
                <a:solidFill>
                  <a:srgbClr val="091F3C"/>
                </a:solidFill>
                <a:latin typeface="Arial"/>
                <a:cs typeface="Arial"/>
              </a:rPr>
              <a:t>Beginner-friendly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340"/>
              </a:lnSpc>
              <a:spcBef>
                <a:spcPts val="844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Less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boilerplate,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faster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to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50">
                <a:solidFill>
                  <a:srgbClr val="495468"/>
                </a:solidFill>
                <a:latin typeface="Arial MT"/>
                <a:cs typeface="Arial MT"/>
              </a:rPr>
              <a:t>a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working</a:t>
            </a:r>
            <a:r>
              <a:rPr dirty="0" sz="1150" spc="-4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program.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368741" y="3899790"/>
            <a:ext cx="2600960" cy="2211070"/>
            <a:chOff x="6368741" y="3899790"/>
            <a:chExt cx="2600960" cy="221107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68741" y="3899790"/>
              <a:ext cx="2600815" cy="221076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400800" y="3931920"/>
              <a:ext cx="2506980" cy="2103120"/>
            </a:xfrm>
            <a:custGeom>
              <a:avLst/>
              <a:gdLst/>
              <a:ahLst/>
              <a:cxnLst/>
              <a:rect l="l" t="t" r="r" b="b"/>
              <a:pathLst>
                <a:path w="2506979" h="2103120">
                  <a:moveTo>
                    <a:pt x="243370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2029967"/>
                  </a:lnTo>
                  <a:lnTo>
                    <a:pt x="5750" y="2058441"/>
                  </a:lnTo>
                  <a:lnTo>
                    <a:pt x="21431" y="2081693"/>
                  </a:lnTo>
                  <a:lnTo>
                    <a:pt x="44684" y="2097371"/>
                  </a:lnTo>
                  <a:lnTo>
                    <a:pt x="73151" y="2103119"/>
                  </a:lnTo>
                  <a:lnTo>
                    <a:pt x="2433701" y="2103119"/>
                  </a:lnTo>
                  <a:lnTo>
                    <a:pt x="2462168" y="2097371"/>
                  </a:lnTo>
                  <a:lnTo>
                    <a:pt x="2485421" y="2081693"/>
                  </a:lnTo>
                  <a:lnTo>
                    <a:pt x="2501102" y="2058441"/>
                  </a:lnTo>
                  <a:lnTo>
                    <a:pt x="2506853" y="2029967"/>
                  </a:lnTo>
                  <a:lnTo>
                    <a:pt x="2506853" y="73151"/>
                  </a:lnTo>
                  <a:lnTo>
                    <a:pt x="2501102" y="44684"/>
                  </a:lnTo>
                  <a:lnTo>
                    <a:pt x="2485421" y="21431"/>
                  </a:lnTo>
                  <a:lnTo>
                    <a:pt x="2462168" y="5750"/>
                  </a:lnTo>
                  <a:lnTo>
                    <a:pt x="2433701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629400" y="416052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65759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365759"/>
                  </a:lnTo>
                  <a:lnTo>
                    <a:pt x="7179" y="401371"/>
                  </a:lnTo>
                  <a:lnTo>
                    <a:pt x="26765" y="430434"/>
                  </a:lnTo>
                  <a:lnTo>
                    <a:pt x="55828" y="450020"/>
                  </a:lnTo>
                  <a:lnTo>
                    <a:pt x="91440" y="457199"/>
                  </a:lnTo>
                  <a:lnTo>
                    <a:pt x="365759" y="457199"/>
                  </a:lnTo>
                  <a:lnTo>
                    <a:pt x="401371" y="450020"/>
                  </a:lnTo>
                  <a:lnTo>
                    <a:pt x="430434" y="430434"/>
                  </a:lnTo>
                  <a:lnTo>
                    <a:pt x="450020" y="401371"/>
                  </a:lnTo>
                  <a:lnTo>
                    <a:pt x="457200" y="365759"/>
                  </a:lnTo>
                  <a:lnTo>
                    <a:pt x="457200" y="91439"/>
                  </a:lnTo>
                  <a:lnTo>
                    <a:pt x="450020" y="55828"/>
                  </a:lnTo>
                  <a:lnTo>
                    <a:pt x="430434" y="26765"/>
                  </a:lnTo>
                  <a:lnTo>
                    <a:pt x="401371" y="7179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C792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789801" y="4244721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17589" y="4697501"/>
            <a:ext cx="1906905" cy="824865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500" spc="-10" b="1">
                <a:solidFill>
                  <a:srgbClr val="091F3C"/>
                </a:solidFill>
                <a:latin typeface="Arial"/>
                <a:cs typeface="Arial"/>
              </a:rPr>
              <a:t>Versatile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ts val="1365"/>
              </a:lnSpc>
              <a:spcBef>
                <a:spcPts val="770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Web,</a:t>
            </a:r>
            <a:r>
              <a:rPr dirty="0" sz="1150" spc="-5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data,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automation,</a:t>
            </a:r>
            <a:r>
              <a:rPr dirty="0" sz="11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AI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50">
                <a:solidFill>
                  <a:srgbClr val="495468"/>
                </a:solidFill>
                <a:latin typeface="Arial MT"/>
                <a:cs typeface="Arial MT"/>
              </a:rPr>
              <a:t>—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ts val="1365"/>
              </a:lnSpc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Python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does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it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all.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150040" y="3899790"/>
            <a:ext cx="2600960" cy="2211070"/>
            <a:chOff x="9150040" y="3899790"/>
            <a:chExt cx="2600960" cy="221107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50040" y="3899790"/>
              <a:ext cx="2600815" cy="221076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9181972" y="3931920"/>
              <a:ext cx="2506980" cy="2103120"/>
            </a:xfrm>
            <a:custGeom>
              <a:avLst/>
              <a:gdLst/>
              <a:ahLst/>
              <a:cxnLst/>
              <a:rect l="l" t="t" r="r" b="b"/>
              <a:pathLst>
                <a:path w="2506979" h="2103120">
                  <a:moveTo>
                    <a:pt x="243370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2029967"/>
                  </a:lnTo>
                  <a:lnTo>
                    <a:pt x="5750" y="2058441"/>
                  </a:lnTo>
                  <a:lnTo>
                    <a:pt x="21431" y="2081693"/>
                  </a:lnTo>
                  <a:lnTo>
                    <a:pt x="44684" y="2097371"/>
                  </a:lnTo>
                  <a:lnTo>
                    <a:pt x="73151" y="2103119"/>
                  </a:lnTo>
                  <a:lnTo>
                    <a:pt x="2433701" y="2103119"/>
                  </a:lnTo>
                  <a:lnTo>
                    <a:pt x="2462168" y="2097371"/>
                  </a:lnTo>
                  <a:lnTo>
                    <a:pt x="2485421" y="2081693"/>
                  </a:lnTo>
                  <a:lnTo>
                    <a:pt x="2501102" y="2058441"/>
                  </a:lnTo>
                  <a:lnTo>
                    <a:pt x="2506853" y="2029967"/>
                  </a:lnTo>
                  <a:lnTo>
                    <a:pt x="2506853" y="73151"/>
                  </a:lnTo>
                  <a:lnTo>
                    <a:pt x="2501102" y="44684"/>
                  </a:lnTo>
                  <a:lnTo>
                    <a:pt x="2485421" y="21431"/>
                  </a:lnTo>
                  <a:lnTo>
                    <a:pt x="2462168" y="5750"/>
                  </a:lnTo>
                  <a:lnTo>
                    <a:pt x="2433701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410572" y="416052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65759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365759"/>
                  </a:lnTo>
                  <a:lnTo>
                    <a:pt x="7179" y="401371"/>
                  </a:lnTo>
                  <a:lnTo>
                    <a:pt x="26765" y="430434"/>
                  </a:lnTo>
                  <a:lnTo>
                    <a:pt x="55828" y="450020"/>
                  </a:lnTo>
                  <a:lnTo>
                    <a:pt x="91440" y="457199"/>
                  </a:lnTo>
                  <a:lnTo>
                    <a:pt x="365759" y="457199"/>
                  </a:lnTo>
                  <a:lnTo>
                    <a:pt x="401318" y="450020"/>
                  </a:lnTo>
                  <a:lnTo>
                    <a:pt x="430387" y="430434"/>
                  </a:lnTo>
                  <a:lnTo>
                    <a:pt x="450002" y="401371"/>
                  </a:lnTo>
                  <a:lnTo>
                    <a:pt x="457200" y="365759"/>
                  </a:lnTo>
                  <a:lnTo>
                    <a:pt x="457200" y="91439"/>
                  </a:lnTo>
                  <a:lnTo>
                    <a:pt x="450002" y="55828"/>
                  </a:lnTo>
                  <a:lnTo>
                    <a:pt x="430387" y="26765"/>
                  </a:lnTo>
                  <a:lnTo>
                    <a:pt x="401318" y="7179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6B3E9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9571481" y="4244721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Property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IBT</a:t>
            </a:r>
            <a:r>
              <a:rPr dirty="0" spc="-35"/>
              <a:t> </a:t>
            </a:r>
            <a:r>
              <a:rPr dirty="0"/>
              <a:t>College</a:t>
            </a:r>
            <a:r>
              <a:rPr dirty="0" spc="-15"/>
              <a:t> </a:t>
            </a:r>
            <a:r>
              <a:rPr dirty="0" spc="-10"/>
              <a:t>Canada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6</a:t>
            </a:fld>
            <a:r>
              <a:rPr dirty="0" spc="-5"/>
              <a:t> </a:t>
            </a:r>
            <a:r>
              <a:rPr dirty="0"/>
              <a:t>/ </a:t>
            </a:r>
            <a:r>
              <a:rPr dirty="0" spc="-25"/>
              <a:t>30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9399269" y="4697501"/>
            <a:ext cx="1723389" cy="824865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500" spc="-10" b="1">
                <a:solidFill>
                  <a:srgbClr val="091F3C"/>
                </a:solidFill>
                <a:latin typeface="Arial"/>
                <a:cs typeface="Arial"/>
              </a:rPr>
              <a:t>Transferable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ts val="1365"/>
              </a:lnSpc>
              <a:spcBef>
                <a:spcPts val="770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fundamentals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carry</a:t>
            </a:r>
            <a:r>
              <a:rPr dirty="0" sz="1150" spc="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to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ts val="1365"/>
              </a:lnSpc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every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other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language.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343915"/>
            <a:ext cx="24530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C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14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I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38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1</a:t>
            </a:r>
            <a:r>
              <a:rPr dirty="0" sz="1100" spc="38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·</a:t>
            </a:r>
            <a:r>
              <a:rPr dirty="0" sz="1100" spc="39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M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37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P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Y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14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H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Running</a:t>
            </a:r>
            <a:r>
              <a:rPr dirty="0" spc="-110"/>
              <a:t> </a:t>
            </a:r>
            <a:r>
              <a:rPr dirty="0" spc="-10"/>
              <a:t>Python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70904" y="1796733"/>
            <a:ext cx="5443220" cy="4131310"/>
            <a:chOff x="470904" y="1796733"/>
            <a:chExt cx="5443220" cy="41313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904" y="1796733"/>
              <a:ext cx="5442988" cy="41309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2919" y="1828799"/>
              <a:ext cx="5349240" cy="4023360"/>
            </a:xfrm>
            <a:custGeom>
              <a:avLst/>
              <a:gdLst/>
              <a:ahLst/>
              <a:cxnLst/>
              <a:rect l="l" t="t" r="r" b="b"/>
              <a:pathLst>
                <a:path w="5349240" h="4023360">
                  <a:moveTo>
                    <a:pt x="5276088" y="0"/>
                  </a:moveTo>
                  <a:lnTo>
                    <a:pt x="73139" y="0"/>
                  </a:lnTo>
                  <a:lnTo>
                    <a:pt x="44673" y="5750"/>
                  </a:lnTo>
                  <a:lnTo>
                    <a:pt x="21424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3950220"/>
                  </a:lnTo>
                  <a:lnTo>
                    <a:pt x="5748" y="3978686"/>
                  </a:lnTo>
                  <a:lnTo>
                    <a:pt x="21424" y="4001935"/>
                  </a:lnTo>
                  <a:lnTo>
                    <a:pt x="44673" y="4017611"/>
                  </a:lnTo>
                  <a:lnTo>
                    <a:pt x="73139" y="4023360"/>
                  </a:lnTo>
                  <a:lnTo>
                    <a:pt x="5276088" y="4023360"/>
                  </a:lnTo>
                  <a:lnTo>
                    <a:pt x="5304555" y="4017611"/>
                  </a:lnTo>
                  <a:lnTo>
                    <a:pt x="5327808" y="4001935"/>
                  </a:lnTo>
                  <a:lnTo>
                    <a:pt x="5343489" y="3978686"/>
                  </a:lnTo>
                  <a:lnTo>
                    <a:pt x="5349240" y="3950220"/>
                  </a:lnTo>
                  <a:lnTo>
                    <a:pt x="5349240" y="73151"/>
                  </a:lnTo>
                  <a:lnTo>
                    <a:pt x="5343489" y="44684"/>
                  </a:lnTo>
                  <a:lnTo>
                    <a:pt x="5327808" y="21431"/>
                  </a:lnTo>
                  <a:lnTo>
                    <a:pt x="5304555" y="5750"/>
                  </a:lnTo>
                  <a:lnTo>
                    <a:pt x="5276088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02919" y="1828799"/>
              <a:ext cx="5349240" cy="685800"/>
            </a:xfrm>
            <a:custGeom>
              <a:avLst/>
              <a:gdLst/>
              <a:ahLst/>
              <a:cxnLst/>
              <a:rect l="l" t="t" r="r" b="b"/>
              <a:pathLst>
                <a:path w="5349240" h="685800">
                  <a:moveTo>
                    <a:pt x="5276088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612648"/>
                  </a:lnTo>
                  <a:lnTo>
                    <a:pt x="5748" y="641115"/>
                  </a:lnTo>
                  <a:lnTo>
                    <a:pt x="21426" y="664368"/>
                  </a:lnTo>
                  <a:lnTo>
                    <a:pt x="44678" y="680049"/>
                  </a:lnTo>
                  <a:lnTo>
                    <a:pt x="73151" y="685800"/>
                  </a:lnTo>
                  <a:lnTo>
                    <a:pt x="5276088" y="685800"/>
                  </a:lnTo>
                  <a:lnTo>
                    <a:pt x="5304555" y="680049"/>
                  </a:lnTo>
                  <a:lnTo>
                    <a:pt x="5327808" y="664368"/>
                  </a:lnTo>
                  <a:lnTo>
                    <a:pt x="5343489" y="641115"/>
                  </a:lnTo>
                  <a:lnTo>
                    <a:pt x="5349240" y="612648"/>
                  </a:lnTo>
                  <a:lnTo>
                    <a:pt x="5349240" y="73151"/>
                  </a:lnTo>
                  <a:lnTo>
                    <a:pt x="5343489" y="44684"/>
                  </a:lnTo>
                  <a:lnTo>
                    <a:pt x="5327808" y="21431"/>
                  </a:lnTo>
                  <a:lnTo>
                    <a:pt x="5304555" y="5750"/>
                  </a:lnTo>
                  <a:lnTo>
                    <a:pt x="5276088" y="0"/>
                  </a:lnTo>
                  <a:close/>
                </a:path>
              </a:pathLst>
            </a:custGeom>
            <a:solidFill>
              <a:srgbClr val="2D5C9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2083" y="3278124"/>
              <a:ext cx="5040630" cy="243459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31519" y="3337559"/>
              <a:ext cx="4892040" cy="2286000"/>
            </a:xfrm>
            <a:custGeom>
              <a:avLst/>
              <a:gdLst/>
              <a:ahLst/>
              <a:cxnLst/>
              <a:rect l="l" t="t" r="r" b="b"/>
              <a:pathLst>
                <a:path w="4892040" h="2286000">
                  <a:moveTo>
                    <a:pt x="4846320" y="0"/>
                  </a:moveTo>
                  <a:lnTo>
                    <a:pt x="45720" y="0"/>
                  </a:ln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19"/>
                  </a:lnTo>
                  <a:lnTo>
                    <a:pt x="0" y="2240279"/>
                  </a:lnTo>
                  <a:lnTo>
                    <a:pt x="3593" y="2258075"/>
                  </a:lnTo>
                  <a:lnTo>
                    <a:pt x="13392" y="2272607"/>
                  </a:lnTo>
                  <a:lnTo>
                    <a:pt x="27924" y="2282406"/>
                  </a:lnTo>
                  <a:lnTo>
                    <a:pt x="45720" y="2286000"/>
                  </a:lnTo>
                  <a:lnTo>
                    <a:pt x="4846320" y="2286000"/>
                  </a:lnTo>
                  <a:lnTo>
                    <a:pt x="4864125" y="2282406"/>
                  </a:lnTo>
                  <a:lnTo>
                    <a:pt x="4878657" y="2272607"/>
                  </a:lnTo>
                  <a:lnTo>
                    <a:pt x="4888450" y="2258075"/>
                  </a:lnTo>
                  <a:lnTo>
                    <a:pt x="4892040" y="2240279"/>
                  </a:lnTo>
                  <a:lnTo>
                    <a:pt x="4892040" y="45719"/>
                  </a:lnTo>
                  <a:lnTo>
                    <a:pt x="4888450" y="27914"/>
                  </a:lnTo>
                  <a:lnTo>
                    <a:pt x="4878657" y="13382"/>
                  </a:lnTo>
                  <a:lnTo>
                    <a:pt x="4864125" y="3589"/>
                  </a:lnTo>
                  <a:lnTo>
                    <a:pt x="4846320" y="0"/>
                  </a:lnTo>
                  <a:close/>
                </a:path>
              </a:pathLst>
            </a:custGeom>
            <a:solidFill>
              <a:srgbClr val="1A23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490219" y="1378965"/>
            <a:ext cx="6055360" cy="34061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 i="1">
                <a:solidFill>
                  <a:srgbClr val="495468"/>
                </a:solidFill>
                <a:latin typeface="Arial"/>
                <a:cs typeface="Arial"/>
              </a:rPr>
              <a:t>Two</a:t>
            </a:r>
            <a:r>
              <a:rPr dirty="0" sz="14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ways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to</a:t>
            </a:r>
            <a:r>
              <a:rPr dirty="0" sz="14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run</a:t>
            </a:r>
            <a:r>
              <a:rPr dirty="0" sz="14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Python</a:t>
            </a:r>
            <a:r>
              <a:rPr dirty="0" sz="14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—</a:t>
            </a:r>
            <a:r>
              <a:rPr dirty="0" sz="1400" spc="-2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one</a:t>
            </a:r>
            <a:r>
              <a:rPr dirty="0" sz="14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for</a:t>
            </a:r>
            <a:r>
              <a:rPr dirty="0" sz="14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quick</a:t>
            </a:r>
            <a:r>
              <a:rPr dirty="0" sz="1400" spc="-4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experiments,</a:t>
            </a:r>
            <a:r>
              <a:rPr dirty="0" sz="1400" spc="-6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one</a:t>
            </a:r>
            <a:r>
              <a:rPr dirty="0" sz="14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for</a:t>
            </a:r>
            <a:r>
              <a:rPr dirty="0" sz="14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real</a:t>
            </a:r>
            <a:r>
              <a:rPr dirty="0" sz="14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spc="-10" i="1">
                <a:solidFill>
                  <a:srgbClr val="495468"/>
                </a:solidFill>
                <a:latin typeface="Arial"/>
                <a:cs typeface="Arial"/>
              </a:rPr>
              <a:t>programs.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4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</a:pP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REPL</a:t>
            </a:r>
            <a:r>
              <a:rPr dirty="0" sz="15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15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interactive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85"/>
              </a:spcBef>
            </a:pPr>
            <a:endParaRPr sz="1500">
              <a:latin typeface="Arial"/>
              <a:cs typeface="Arial"/>
            </a:endParaRPr>
          </a:p>
          <a:p>
            <a:pPr marL="241300" marR="1075690">
              <a:lnSpc>
                <a:spcPts val="1400"/>
              </a:lnSpc>
            </a:pP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Type</a:t>
            </a:r>
            <a:r>
              <a:rPr dirty="0" sz="12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python3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to</a:t>
            </a:r>
            <a:r>
              <a:rPr dirty="0" sz="120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open</a:t>
            </a:r>
            <a:r>
              <a:rPr dirty="0" sz="120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a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live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prompt.</a:t>
            </a:r>
            <a:r>
              <a:rPr dirty="0" sz="120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Each</a:t>
            </a:r>
            <a:r>
              <a:rPr dirty="0" sz="120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line</a:t>
            </a:r>
            <a:r>
              <a:rPr dirty="0" sz="12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runs</a:t>
            </a:r>
            <a:r>
              <a:rPr dirty="0" sz="120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instantly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— 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perfect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for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testing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an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idea.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200">
              <a:latin typeface="Arial MT"/>
              <a:cs typeface="Arial MT"/>
            </a:endParaRPr>
          </a:p>
          <a:p>
            <a:pPr marL="405765">
              <a:lnSpc>
                <a:spcPct val="100000"/>
              </a:lnSpc>
            </a:pPr>
            <a:r>
              <a:rPr dirty="0" sz="1250">
                <a:solidFill>
                  <a:srgbClr val="5EEAD3"/>
                </a:solidFill>
                <a:latin typeface="Consolas"/>
                <a:cs typeface="Consolas"/>
              </a:rPr>
              <a:t>$</a:t>
            </a:r>
            <a:r>
              <a:rPr dirty="0" sz="1250" spc="-20">
                <a:solidFill>
                  <a:srgbClr val="5EEAD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5EEAD3"/>
                </a:solidFill>
                <a:latin typeface="Consolas"/>
                <a:cs typeface="Consolas"/>
              </a:rPr>
              <a:t>python3</a:t>
            </a:r>
            <a:endParaRPr sz="1250">
              <a:latin typeface="Consolas"/>
              <a:cs typeface="Consolas"/>
            </a:endParaRPr>
          </a:p>
          <a:p>
            <a:pPr marL="405765">
              <a:lnSpc>
                <a:spcPct val="100000"/>
              </a:lnSpc>
            </a:pPr>
            <a:r>
              <a:rPr dirty="0" sz="1250">
                <a:solidFill>
                  <a:srgbClr val="5EEAD3"/>
                </a:solidFill>
                <a:latin typeface="Consolas"/>
                <a:cs typeface="Consolas"/>
              </a:rPr>
              <a:t>&gt;&gt;&gt;</a:t>
            </a:r>
            <a:r>
              <a:rPr dirty="0" sz="1250" spc="-25">
                <a:solidFill>
                  <a:srgbClr val="5EEAD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5EEAD3"/>
                </a:solidFill>
                <a:latin typeface="Consolas"/>
                <a:cs typeface="Consolas"/>
              </a:rPr>
              <a:t>2</a:t>
            </a:r>
            <a:r>
              <a:rPr dirty="0" sz="1250" spc="-10">
                <a:solidFill>
                  <a:srgbClr val="5EEAD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5EEAD3"/>
                </a:solidFill>
                <a:latin typeface="Consolas"/>
                <a:cs typeface="Consolas"/>
              </a:rPr>
              <a:t>+</a:t>
            </a:r>
            <a:r>
              <a:rPr dirty="0" sz="1250" spc="-15">
                <a:solidFill>
                  <a:srgbClr val="5EEAD3"/>
                </a:solidFill>
                <a:latin typeface="Consolas"/>
                <a:cs typeface="Consolas"/>
              </a:rPr>
              <a:t> </a:t>
            </a:r>
            <a:r>
              <a:rPr dirty="0" sz="1250" spc="-60">
                <a:solidFill>
                  <a:srgbClr val="5EEAD3"/>
                </a:solidFill>
                <a:latin typeface="Consolas"/>
                <a:cs typeface="Consolas"/>
              </a:rPr>
              <a:t>2</a:t>
            </a:r>
            <a:endParaRPr sz="1250">
              <a:latin typeface="Consolas"/>
              <a:cs typeface="Consolas"/>
            </a:endParaRPr>
          </a:p>
          <a:p>
            <a:pPr marL="405765">
              <a:lnSpc>
                <a:spcPct val="100000"/>
              </a:lnSpc>
              <a:spcBef>
                <a:spcPts val="5"/>
              </a:spcBef>
            </a:pPr>
            <a:r>
              <a:rPr dirty="0" sz="1250" spc="-50">
                <a:solidFill>
                  <a:srgbClr val="8A97A4"/>
                </a:solidFill>
                <a:latin typeface="Consolas"/>
                <a:cs typeface="Consolas"/>
              </a:rPr>
              <a:t>4</a:t>
            </a:r>
            <a:endParaRPr sz="1250">
              <a:latin typeface="Consolas"/>
              <a:cs typeface="Consolas"/>
            </a:endParaRPr>
          </a:p>
          <a:p>
            <a:pPr marL="405765">
              <a:lnSpc>
                <a:spcPct val="100000"/>
              </a:lnSpc>
            </a:pPr>
            <a:r>
              <a:rPr dirty="0" sz="1250">
                <a:solidFill>
                  <a:srgbClr val="5EEAD3"/>
                </a:solidFill>
                <a:latin typeface="Consolas"/>
                <a:cs typeface="Consolas"/>
              </a:rPr>
              <a:t>&gt;&gt;&gt;</a:t>
            </a:r>
            <a:r>
              <a:rPr dirty="0" sz="1250" spc="-30">
                <a:solidFill>
                  <a:srgbClr val="5EEAD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5EEAD3"/>
                </a:solidFill>
                <a:latin typeface="Consolas"/>
                <a:cs typeface="Consolas"/>
              </a:rPr>
              <a:t>name</a:t>
            </a:r>
            <a:r>
              <a:rPr dirty="0" sz="1250" spc="-20">
                <a:solidFill>
                  <a:srgbClr val="5EEAD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5EEAD3"/>
                </a:solidFill>
                <a:latin typeface="Consolas"/>
                <a:cs typeface="Consolas"/>
              </a:rPr>
              <a:t>=</a:t>
            </a:r>
            <a:r>
              <a:rPr dirty="0" sz="1250" spc="-25">
                <a:solidFill>
                  <a:srgbClr val="5EEAD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5EEAD3"/>
                </a:solidFill>
                <a:latin typeface="Consolas"/>
                <a:cs typeface="Consolas"/>
              </a:rPr>
              <a:t>"Almaz"</a:t>
            </a:r>
            <a:endParaRPr sz="1250">
              <a:latin typeface="Consolas"/>
              <a:cs typeface="Consolas"/>
            </a:endParaRPr>
          </a:p>
          <a:p>
            <a:pPr marL="405765" marR="4333875">
              <a:lnSpc>
                <a:spcPct val="100000"/>
              </a:lnSpc>
            </a:pPr>
            <a:r>
              <a:rPr dirty="0" sz="1250">
                <a:solidFill>
                  <a:srgbClr val="5EEAD3"/>
                </a:solidFill>
                <a:latin typeface="Consolas"/>
                <a:cs typeface="Consolas"/>
              </a:rPr>
              <a:t>&gt;&gt;&gt;</a:t>
            </a:r>
            <a:r>
              <a:rPr dirty="0" sz="1250" spc="-40">
                <a:solidFill>
                  <a:srgbClr val="5EEAD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5EEAD3"/>
                </a:solidFill>
                <a:latin typeface="Consolas"/>
                <a:cs typeface="Consolas"/>
              </a:rPr>
              <a:t>print(name) </a:t>
            </a:r>
            <a:r>
              <a:rPr dirty="0" sz="1250" spc="-10">
                <a:solidFill>
                  <a:srgbClr val="8A97A4"/>
                </a:solidFill>
                <a:latin typeface="Consolas"/>
                <a:cs typeface="Consolas"/>
              </a:rPr>
              <a:t>Almaz</a:t>
            </a:r>
            <a:endParaRPr sz="1250">
              <a:latin typeface="Consolas"/>
              <a:cs typeface="Consolas"/>
            </a:endParaRPr>
          </a:p>
          <a:p>
            <a:pPr marL="405765">
              <a:lnSpc>
                <a:spcPct val="100000"/>
              </a:lnSpc>
            </a:pPr>
            <a:r>
              <a:rPr dirty="0" sz="1250">
                <a:solidFill>
                  <a:srgbClr val="5EEAD3"/>
                </a:solidFill>
                <a:latin typeface="Consolas"/>
                <a:cs typeface="Consolas"/>
              </a:rPr>
              <a:t>&gt;&gt;&gt;</a:t>
            </a:r>
            <a:r>
              <a:rPr dirty="0" sz="1250" spc="-40">
                <a:solidFill>
                  <a:srgbClr val="5EEAD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5EEAD3"/>
                </a:solidFill>
                <a:latin typeface="Consolas"/>
                <a:cs typeface="Consolas"/>
              </a:rPr>
              <a:t>exit()</a:t>
            </a:r>
            <a:endParaRPr sz="1250">
              <a:latin typeface="Consolas"/>
              <a:cs typeface="Consola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368753" y="1796733"/>
            <a:ext cx="5382260" cy="4131310"/>
            <a:chOff x="6368753" y="1796733"/>
            <a:chExt cx="5382260" cy="413131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68753" y="1796733"/>
              <a:ext cx="5382090" cy="413091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400800" y="1828799"/>
              <a:ext cx="5288280" cy="4023360"/>
            </a:xfrm>
            <a:custGeom>
              <a:avLst/>
              <a:gdLst/>
              <a:ahLst/>
              <a:cxnLst/>
              <a:rect l="l" t="t" r="r" b="b"/>
              <a:pathLst>
                <a:path w="5288280" h="4023360">
                  <a:moveTo>
                    <a:pt x="521487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3950220"/>
                  </a:lnTo>
                  <a:lnTo>
                    <a:pt x="5750" y="3978686"/>
                  </a:lnTo>
                  <a:lnTo>
                    <a:pt x="21431" y="4001935"/>
                  </a:lnTo>
                  <a:lnTo>
                    <a:pt x="44684" y="4017611"/>
                  </a:lnTo>
                  <a:lnTo>
                    <a:pt x="73151" y="4023360"/>
                  </a:lnTo>
                  <a:lnTo>
                    <a:pt x="5214874" y="4023360"/>
                  </a:lnTo>
                  <a:lnTo>
                    <a:pt x="5243341" y="4017611"/>
                  </a:lnTo>
                  <a:lnTo>
                    <a:pt x="5266594" y="4001935"/>
                  </a:lnTo>
                  <a:lnTo>
                    <a:pt x="5282275" y="3978686"/>
                  </a:lnTo>
                  <a:lnTo>
                    <a:pt x="5288026" y="3950220"/>
                  </a:lnTo>
                  <a:lnTo>
                    <a:pt x="5288026" y="73151"/>
                  </a:lnTo>
                  <a:lnTo>
                    <a:pt x="5282275" y="44684"/>
                  </a:lnTo>
                  <a:lnTo>
                    <a:pt x="5266594" y="21431"/>
                  </a:lnTo>
                  <a:lnTo>
                    <a:pt x="5243341" y="5750"/>
                  </a:lnTo>
                  <a:lnTo>
                    <a:pt x="5214874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400800" y="1828799"/>
              <a:ext cx="5288280" cy="685800"/>
            </a:xfrm>
            <a:custGeom>
              <a:avLst/>
              <a:gdLst/>
              <a:ahLst/>
              <a:cxnLst/>
              <a:rect l="l" t="t" r="r" b="b"/>
              <a:pathLst>
                <a:path w="5288280" h="685800">
                  <a:moveTo>
                    <a:pt x="521487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612648"/>
                  </a:lnTo>
                  <a:lnTo>
                    <a:pt x="5750" y="641115"/>
                  </a:lnTo>
                  <a:lnTo>
                    <a:pt x="21431" y="664368"/>
                  </a:lnTo>
                  <a:lnTo>
                    <a:pt x="44684" y="680049"/>
                  </a:lnTo>
                  <a:lnTo>
                    <a:pt x="73151" y="685800"/>
                  </a:lnTo>
                  <a:lnTo>
                    <a:pt x="5214874" y="685800"/>
                  </a:lnTo>
                  <a:lnTo>
                    <a:pt x="5243341" y="680049"/>
                  </a:lnTo>
                  <a:lnTo>
                    <a:pt x="5266594" y="664368"/>
                  </a:lnTo>
                  <a:lnTo>
                    <a:pt x="5282275" y="641115"/>
                  </a:lnTo>
                  <a:lnTo>
                    <a:pt x="5288026" y="612648"/>
                  </a:lnTo>
                  <a:lnTo>
                    <a:pt x="5288026" y="73151"/>
                  </a:lnTo>
                  <a:lnTo>
                    <a:pt x="5282275" y="44684"/>
                  </a:lnTo>
                  <a:lnTo>
                    <a:pt x="5266594" y="21431"/>
                  </a:lnTo>
                  <a:lnTo>
                    <a:pt x="5243341" y="5750"/>
                  </a:lnTo>
                  <a:lnTo>
                    <a:pt x="5214874" y="0"/>
                  </a:lnTo>
                  <a:close/>
                </a:path>
              </a:pathLst>
            </a:custGeom>
            <a:solidFill>
              <a:srgbClr val="2D8A5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69964" y="3278124"/>
              <a:ext cx="5040630" cy="243459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629400" y="3337559"/>
              <a:ext cx="4892040" cy="2286000"/>
            </a:xfrm>
            <a:custGeom>
              <a:avLst/>
              <a:gdLst/>
              <a:ahLst/>
              <a:cxnLst/>
              <a:rect l="l" t="t" r="r" b="b"/>
              <a:pathLst>
                <a:path w="4892040" h="2286000">
                  <a:moveTo>
                    <a:pt x="4846320" y="0"/>
                  </a:moveTo>
                  <a:lnTo>
                    <a:pt x="45720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19"/>
                  </a:lnTo>
                  <a:lnTo>
                    <a:pt x="0" y="2240279"/>
                  </a:lnTo>
                  <a:lnTo>
                    <a:pt x="3589" y="2258075"/>
                  </a:lnTo>
                  <a:lnTo>
                    <a:pt x="13382" y="2272607"/>
                  </a:lnTo>
                  <a:lnTo>
                    <a:pt x="27914" y="2282406"/>
                  </a:lnTo>
                  <a:lnTo>
                    <a:pt x="45720" y="2286000"/>
                  </a:lnTo>
                  <a:lnTo>
                    <a:pt x="4846320" y="2286000"/>
                  </a:lnTo>
                  <a:lnTo>
                    <a:pt x="4864125" y="2282406"/>
                  </a:lnTo>
                  <a:lnTo>
                    <a:pt x="4878657" y="2272607"/>
                  </a:lnTo>
                  <a:lnTo>
                    <a:pt x="4888450" y="2258075"/>
                  </a:lnTo>
                  <a:lnTo>
                    <a:pt x="4892040" y="2240279"/>
                  </a:lnTo>
                  <a:lnTo>
                    <a:pt x="4892040" y="45719"/>
                  </a:lnTo>
                  <a:lnTo>
                    <a:pt x="4888450" y="27914"/>
                  </a:lnTo>
                  <a:lnTo>
                    <a:pt x="4878657" y="13382"/>
                  </a:lnTo>
                  <a:lnTo>
                    <a:pt x="4864125" y="3589"/>
                  </a:lnTo>
                  <a:lnTo>
                    <a:pt x="4846320" y="0"/>
                  </a:lnTo>
                  <a:close/>
                </a:path>
              </a:pathLst>
            </a:custGeom>
            <a:solidFill>
              <a:srgbClr val="1A23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617589" y="2033981"/>
            <a:ext cx="4583430" cy="2560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Script</a:t>
            </a:r>
            <a:r>
              <a:rPr dirty="0" sz="15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files</a:t>
            </a:r>
            <a:r>
              <a:rPr dirty="0" sz="15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real</a:t>
            </a:r>
            <a:r>
              <a:rPr dirty="0" sz="15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programs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85"/>
              </a:spcBef>
            </a:pP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400"/>
              </a:lnSpc>
            </a:pP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Write</a:t>
            </a:r>
            <a:r>
              <a:rPr dirty="0" sz="1200" spc="-4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code</a:t>
            </a:r>
            <a:r>
              <a:rPr dirty="0" sz="120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in</a:t>
            </a:r>
            <a:r>
              <a:rPr dirty="0" sz="120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a</a:t>
            </a:r>
            <a:r>
              <a:rPr dirty="0" sz="120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.py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file,</a:t>
            </a:r>
            <a:r>
              <a:rPr dirty="0" sz="120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then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run</a:t>
            </a:r>
            <a:r>
              <a:rPr dirty="0" sz="120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whole</a:t>
            </a:r>
            <a:r>
              <a:rPr dirty="0" sz="120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file.</a:t>
            </a:r>
            <a:r>
              <a:rPr dirty="0" sz="1200" spc="-5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This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is</a:t>
            </a:r>
            <a:r>
              <a:rPr dirty="0" sz="120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how</a:t>
            </a:r>
            <a:r>
              <a:rPr dirty="0" sz="12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you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 build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everything</a:t>
            </a:r>
            <a:r>
              <a:rPr dirty="0" sz="1200" spc="-4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from</a:t>
            </a:r>
            <a:r>
              <a:rPr dirty="0" sz="12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here.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200">
              <a:latin typeface="Arial MT"/>
              <a:cs typeface="Arial MT"/>
            </a:endParaRPr>
          </a:p>
          <a:p>
            <a:pPr marL="177165">
              <a:lnSpc>
                <a:spcPct val="100000"/>
              </a:lnSpc>
              <a:spcBef>
                <a:spcPts val="5"/>
              </a:spcBef>
            </a:pPr>
            <a:r>
              <a:rPr dirty="0" sz="1250">
                <a:solidFill>
                  <a:srgbClr val="8A97A4"/>
                </a:solidFill>
                <a:latin typeface="Consolas"/>
                <a:cs typeface="Consolas"/>
              </a:rPr>
              <a:t>#</a:t>
            </a:r>
            <a:r>
              <a:rPr dirty="0" sz="1250" spc="-20">
                <a:solidFill>
                  <a:srgbClr val="8A97A4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8A97A4"/>
                </a:solidFill>
                <a:latin typeface="Consolas"/>
                <a:cs typeface="Consolas"/>
              </a:rPr>
              <a:t>hello.py</a:t>
            </a:r>
            <a:endParaRPr sz="1250">
              <a:latin typeface="Consolas"/>
              <a:cs typeface="Consolas"/>
            </a:endParaRPr>
          </a:p>
          <a:p>
            <a:pPr marL="177165">
              <a:lnSpc>
                <a:spcPct val="100000"/>
              </a:lnSpc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name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50" spc="-3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"Dawit"</a:t>
            </a:r>
            <a:endParaRPr sz="1250">
              <a:latin typeface="Consolas"/>
              <a:cs typeface="Consolas"/>
            </a:endParaRPr>
          </a:p>
          <a:p>
            <a:pPr marL="177165">
              <a:lnSpc>
                <a:spcPct val="100000"/>
              </a:lnSpc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print(f"Selam,</a:t>
            </a:r>
            <a:r>
              <a:rPr dirty="0" sz="1250" spc="-10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{name}!")</a:t>
            </a:r>
            <a:endParaRPr sz="12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Consolas"/>
              <a:cs typeface="Consolas"/>
            </a:endParaRPr>
          </a:p>
          <a:p>
            <a:pPr marL="177165" marR="2827020">
              <a:lnSpc>
                <a:spcPct val="100000"/>
              </a:lnSpc>
            </a:pPr>
            <a:r>
              <a:rPr dirty="0" sz="1250">
                <a:solidFill>
                  <a:srgbClr val="5EEAD3"/>
                </a:solidFill>
                <a:latin typeface="Consolas"/>
                <a:cs typeface="Consolas"/>
              </a:rPr>
              <a:t>$</a:t>
            </a:r>
            <a:r>
              <a:rPr dirty="0" sz="1250" spc="-40">
                <a:solidFill>
                  <a:srgbClr val="5EEAD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5EEAD3"/>
                </a:solidFill>
                <a:latin typeface="Consolas"/>
                <a:cs typeface="Consolas"/>
              </a:rPr>
              <a:t>python3</a:t>
            </a:r>
            <a:r>
              <a:rPr dirty="0" sz="1250" spc="-35">
                <a:solidFill>
                  <a:srgbClr val="5EEAD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5EEAD3"/>
                </a:solidFill>
                <a:latin typeface="Consolas"/>
                <a:cs typeface="Consolas"/>
              </a:rPr>
              <a:t>hello.py </a:t>
            </a:r>
            <a:r>
              <a:rPr dirty="0" sz="1250">
                <a:solidFill>
                  <a:srgbClr val="8A97A4"/>
                </a:solidFill>
                <a:latin typeface="Consolas"/>
                <a:cs typeface="Consolas"/>
              </a:rPr>
              <a:t>Selam,</a:t>
            </a:r>
            <a:r>
              <a:rPr dirty="0" sz="1250" spc="-60">
                <a:solidFill>
                  <a:srgbClr val="8A97A4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8A97A4"/>
                </a:solidFill>
                <a:latin typeface="Consolas"/>
                <a:cs typeface="Consolas"/>
              </a:rPr>
              <a:t>Dawit!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Property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IBT</a:t>
            </a:r>
            <a:r>
              <a:rPr dirty="0" spc="-35"/>
              <a:t> </a:t>
            </a:r>
            <a:r>
              <a:rPr dirty="0"/>
              <a:t>College</a:t>
            </a:r>
            <a:r>
              <a:rPr dirty="0" spc="-15"/>
              <a:t> </a:t>
            </a:r>
            <a:r>
              <a:rPr dirty="0" spc="-10"/>
              <a:t>Canada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6</a:t>
            </a:fld>
            <a:r>
              <a:rPr dirty="0" spc="-5"/>
              <a:t> </a:t>
            </a:r>
            <a:r>
              <a:rPr dirty="0"/>
              <a:t>/ </a:t>
            </a:r>
            <a:r>
              <a:rPr dirty="0" spc="-25"/>
              <a:t>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343915"/>
            <a:ext cx="24530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C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14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I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38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1</a:t>
            </a:r>
            <a:r>
              <a:rPr dirty="0" sz="1100" spc="38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·</a:t>
            </a:r>
            <a:r>
              <a:rPr dirty="0" sz="1100" spc="39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M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37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P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Y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14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H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Syntax</a:t>
            </a:r>
            <a:r>
              <a:rPr dirty="0" spc="-25"/>
              <a:t> </a:t>
            </a:r>
            <a:r>
              <a:rPr dirty="0" spc="-10"/>
              <a:t>Basics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57173" y="1600175"/>
            <a:ext cx="5790565" cy="3778885"/>
            <a:chOff x="457173" y="1600175"/>
            <a:chExt cx="5790565" cy="37788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73" y="1600175"/>
              <a:ext cx="5790491" cy="37788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2920" y="1645919"/>
              <a:ext cx="5669280" cy="3657600"/>
            </a:xfrm>
            <a:custGeom>
              <a:avLst/>
              <a:gdLst/>
              <a:ahLst/>
              <a:cxnLst/>
              <a:rect l="l" t="t" r="r" b="b"/>
              <a:pathLst>
                <a:path w="5669280" h="3657600">
                  <a:moveTo>
                    <a:pt x="5623559" y="0"/>
                  </a:moveTo>
                  <a:lnTo>
                    <a:pt x="45720" y="0"/>
                  </a:ln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19"/>
                  </a:lnTo>
                  <a:lnTo>
                    <a:pt x="0" y="3611879"/>
                  </a:lnTo>
                  <a:lnTo>
                    <a:pt x="3593" y="3629685"/>
                  </a:lnTo>
                  <a:lnTo>
                    <a:pt x="13392" y="3644217"/>
                  </a:lnTo>
                  <a:lnTo>
                    <a:pt x="27924" y="3654010"/>
                  </a:lnTo>
                  <a:lnTo>
                    <a:pt x="45720" y="3657600"/>
                  </a:lnTo>
                  <a:lnTo>
                    <a:pt x="5623559" y="3657600"/>
                  </a:lnTo>
                  <a:lnTo>
                    <a:pt x="5641365" y="3654010"/>
                  </a:lnTo>
                  <a:lnTo>
                    <a:pt x="5655897" y="3644217"/>
                  </a:lnTo>
                  <a:lnTo>
                    <a:pt x="5665690" y="3629685"/>
                  </a:lnTo>
                  <a:lnTo>
                    <a:pt x="5669280" y="3611879"/>
                  </a:lnTo>
                  <a:lnTo>
                    <a:pt x="5669280" y="45719"/>
                  </a:lnTo>
                  <a:lnTo>
                    <a:pt x="5665690" y="27914"/>
                  </a:lnTo>
                  <a:lnTo>
                    <a:pt x="5655897" y="13382"/>
                  </a:lnTo>
                  <a:lnTo>
                    <a:pt x="5641365" y="3589"/>
                  </a:lnTo>
                  <a:lnTo>
                    <a:pt x="5623559" y="0"/>
                  </a:lnTo>
                  <a:close/>
                </a:path>
              </a:pathLst>
            </a:custGeom>
            <a:solidFill>
              <a:srgbClr val="1A23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54812" y="1734057"/>
            <a:ext cx="3429000" cy="15500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#</a:t>
            </a:r>
            <a:r>
              <a:rPr dirty="0" sz="1250" spc="-3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This</a:t>
            </a:r>
            <a:r>
              <a:rPr dirty="0" sz="1250" spc="-3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is</a:t>
            </a:r>
            <a:r>
              <a:rPr dirty="0" sz="1250" spc="-3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a</a:t>
            </a:r>
            <a:r>
              <a:rPr dirty="0" sz="125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comment</a:t>
            </a:r>
            <a:r>
              <a:rPr dirty="0" sz="1250" spc="-3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—</a:t>
            </a:r>
            <a:r>
              <a:rPr dirty="0" sz="1250" spc="-2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Python</a:t>
            </a:r>
            <a:r>
              <a:rPr dirty="0" sz="1250" spc="-2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ignores</a:t>
            </a:r>
            <a:r>
              <a:rPr dirty="0" sz="1250" spc="-3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it</a:t>
            </a:r>
            <a:endParaRPr sz="12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print("Selam,</a:t>
            </a:r>
            <a:r>
              <a:rPr dirty="0" sz="1250" spc="-13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CodeOps!")</a:t>
            </a:r>
            <a:endParaRPr sz="12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Consolas"/>
              <a:cs typeface="Consolas"/>
            </a:endParaRPr>
          </a:p>
          <a:p>
            <a:pPr marL="12700" marR="965835">
              <a:lnSpc>
                <a:spcPct val="100000"/>
              </a:lnSpc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#</a:t>
            </a:r>
            <a:r>
              <a:rPr dirty="0" sz="1250" spc="-5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Indentation</a:t>
            </a:r>
            <a:r>
              <a:rPr dirty="0" sz="1250" spc="-5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defines</a:t>
            </a:r>
            <a:r>
              <a:rPr dirty="0" sz="1250" spc="-4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blocks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if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True:</a:t>
            </a:r>
            <a:endParaRPr sz="1250">
              <a:latin typeface="Consolas"/>
              <a:cs typeface="Consolas"/>
            </a:endParaRPr>
          </a:p>
          <a:p>
            <a:pPr marL="360045" marR="343535">
              <a:lnSpc>
                <a:spcPct val="100000"/>
              </a:lnSpc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print("Indented</a:t>
            </a:r>
            <a:r>
              <a:rPr dirty="0" sz="1250" spc="-3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with</a:t>
            </a:r>
            <a:r>
              <a:rPr dirty="0" sz="125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4</a:t>
            </a:r>
            <a:r>
              <a:rPr dirty="0" sz="1250" spc="-3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spaces")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print("Same</a:t>
            </a:r>
            <a:r>
              <a:rPr dirty="0" sz="1250" spc="-4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block")</a:t>
            </a:r>
            <a:endParaRPr sz="12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print("Back</a:t>
            </a:r>
            <a:r>
              <a:rPr dirty="0" sz="1250" spc="-5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outside</a:t>
            </a:r>
            <a:r>
              <a:rPr dirty="0" sz="1250" spc="-5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the</a:t>
            </a:r>
            <a:r>
              <a:rPr dirty="0" sz="1250" spc="-6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block")</a:t>
            </a:r>
            <a:endParaRPr sz="1250">
              <a:latin typeface="Consolas"/>
              <a:cs typeface="Consola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368753" y="1659418"/>
            <a:ext cx="5382260" cy="1388110"/>
            <a:chOff x="6368753" y="1659418"/>
            <a:chExt cx="5382260" cy="138811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8753" y="1659418"/>
              <a:ext cx="5382090" cy="138792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400800" y="1691639"/>
              <a:ext cx="5288280" cy="1280160"/>
            </a:xfrm>
            <a:custGeom>
              <a:avLst/>
              <a:gdLst/>
              <a:ahLst/>
              <a:cxnLst/>
              <a:rect l="l" t="t" r="r" b="b"/>
              <a:pathLst>
                <a:path w="5288280" h="1280160">
                  <a:moveTo>
                    <a:pt x="521487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207008"/>
                  </a:lnTo>
                  <a:lnTo>
                    <a:pt x="5750" y="1235475"/>
                  </a:lnTo>
                  <a:lnTo>
                    <a:pt x="21431" y="1258728"/>
                  </a:lnTo>
                  <a:lnTo>
                    <a:pt x="44684" y="1274409"/>
                  </a:lnTo>
                  <a:lnTo>
                    <a:pt x="73151" y="1280160"/>
                  </a:lnTo>
                  <a:lnTo>
                    <a:pt x="5214874" y="1280160"/>
                  </a:lnTo>
                  <a:lnTo>
                    <a:pt x="5243341" y="1274409"/>
                  </a:lnTo>
                  <a:lnTo>
                    <a:pt x="5266594" y="1258728"/>
                  </a:lnTo>
                  <a:lnTo>
                    <a:pt x="5282275" y="1235475"/>
                  </a:lnTo>
                  <a:lnTo>
                    <a:pt x="5288026" y="1207008"/>
                  </a:lnTo>
                  <a:lnTo>
                    <a:pt x="5288026" y="73151"/>
                  </a:lnTo>
                  <a:lnTo>
                    <a:pt x="5282275" y="44684"/>
                  </a:lnTo>
                  <a:lnTo>
                    <a:pt x="5266594" y="21431"/>
                  </a:lnTo>
                  <a:lnTo>
                    <a:pt x="5243341" y="5750"/>
                  </a:lnTo>
                  <a:lnTo>
                    <a:pt x="5214874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400800" y="1691639"/>
              <a:ext cx="109855" cy="1280160"/>
            </a:xfrm>
            <a:custGeom>
              <a:avLst/>
              <a:gdLst/>
              <a:ahLst/>
              <a:cxnLst/>
              <a:rect l="l" t="t" r="r" b="b"/>
              <a:pathLst>
                <a:path w="109854" h="1280160">
                  <a:moveTo>
                    <a:pt x="91439" y="0"/>
                  </a:moveTo>
                  <a:lnTo>
                    <a:pt x="18287" y="0"/>
                  </a:lnTo>
                  <a:lnTo>
                    <a:pt x="11144" y="1428"/>
                  </a:lnTo>
                  <a:lnTo>
                    <a:pt x="5334" y="5334"/>
                  </a:lnTo>
                  <a:lnTo>
                    <a:pt x="1428" y="11144"/>
                  </a:lnTo>
                  <a:lnTo>
                    <a:pt x="0" y="18287"/>
                  </a:lnTo>
                  <a:lnTo>
                    <a:pt x="0" y="1261872"/>
                  </a:lnTo>
                  <a:lnTo>
                    <a:pt x="1428" y="1269015"/>
                  </a:lnTo>
                  <a:lnTo>
                    <a:pt x="5334" y="1274826"/>
                  </a:lnTo>
                  <a:lnTo>
                    <a:pt x="11144" y="1278731"/>
                  </a:lnTo>
                  <a:lnTo>
                    <a:pt x="18287" y="1280160"/>
                  </a:lnTo>
                  <a:lnTo>
                    <a:pt x="91439" y="1280160"/>
                  </a:lnTo>
                  <a:lnTo>
                    <a:pt x="98583" y="1278731"/>
                  </a:lnTo>
                  <a:lnTo>
                    <a:pt x="104394" y="1274826"/>
                  </a:lnTo>
                  <a:lnTo>
                    <a:pt x="108299" y="1269015"/>
                  </a:lnTo>
                  <a:lnTo>
                    <a:pt x="109727" y="1261872"/>
                  </a:lnTo>
                  <a:lnTo>
                    <a:pt x="109727" y="18287"/>
                  </a:lnTo>
                  <a:lnTo>
                    <a:pt x="108299" y="11144"/>
                  </a:lnTo>
                  <a:lnTo>
                    <a:pt x="104394" y="5334"/>
                  </a:lnTo>
                  <a:lnTo>
                    <a:pt x="98583" y="1428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C792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663308" y="1807060"/>
            <a:ext cx="4547235" cy="770255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1450" b="1">
                <a:solidFill>
                  <a:srgbClr val="091F3C"/>
                </a:solidFill>
                <a:latin typeface="Arial"/>
                <a:cs typeface="Arial"/>
              </a:rPr>
              <a:t>Indentation</a:t>
            </a:r>
            <a:r>
              <a:rPr dirty="0" sz="1450" spc="-70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091F3C"/>
                </a:solidFill>
                <a:latin typeface="Arial"/>
                <a:cs typeface="Arial"/>
              </a:rPr>
              <a:t>matters</a:t>
            </a:r>
            <a:endParaRPr sz="1450">
              <a:latin typeface="Arial"/>
              <a:cs typeface="Arial"/>
            </a:endParaRPr>
          </a:p>
          <a:p>
            <a:pPr marL="12700" marR="5080">
              <a:lnSpc>
                <a:spcPts val="1340"/>
              </a:lnSpc>
              <a:spcBef>
                <a:spcPts val="695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Python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uses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4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spaces to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group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code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into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blocks</a:t>
            </a:r>
            <a:r>
              <a:rPr dirty="0" sz="1150" spc="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—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not braces.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Wrong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indentation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is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an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error,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not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just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bad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style.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341364" y="3022092"/>
            <a:ext cx="5436870" cy="1428750"/>
            <a:chOff x="6341364" y="3022092"/>
            <a:chExt cx="5436870" cy="142875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41364" y="3022092"/>
              <a:ext cx="5436870" cy="142874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400800" y="3081528"/>
              <a:ext cx="5288280" cy="1280160"/>
            </a:xfrm>
            <a:custGeom>
              <a:avLst/>
              <a:gdLst/>
              <a:ahLst/>
              <a:cxnLst/>
              <a:rect l="l" t="t" r="r" b="b"/>
              <a:pathLst>
                <a:path w="5288280" h="1280160">
                  <a:moveTo>
                    <a:pt x="521487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207008"/>
                  </a:lnTo>
                  <a:lnTo>
                    <a:pt x="5750" y="1235475"/>
                  </a:lnTo>
                  <a:lnTo>
                    <a:pt x="21431" y="1258728"/>
                  </a:lnTo>
                  <a:lnTo>
                    <a:pt x="44684" y="1274409"/>
                  </a:lnTo>
                  <a:lnTo>
                    <a:pt x="73151" y="1280160"/>
                  </a:lnTo>
                  <a:lnTo>
                    <a:pt x="5214874" y="1280160"/>
                  </a:lnTo>
                  <a:lnTo>
                    <a:pt x="5243341" y="1274409"/>
                  </a:lnTo>
                  <a:lnTo>
                    <a:pt x="5266594" y="1258728"/>
                  </a:lnTo>
                  <a:lnTo>
                    <a:pt x="5282275" y="1235475"/>
                  </a:lnTo>
                  <a:lnTo>
                    <a:pt x="5288026" y="1207008"/>
                  </a:lnTo>
                  <a:lnTo>
                    <a:pt x="5288026" y="73151"/>
                  </a:lnTo>
                  <a:lnTo>
                    <a:pt x="5282275" y="44684"/>
                  </a:lnTo>
                  <a:lnTo>
                    <a:pt x="5266594" y="21431"/>
                  </a:lnTo>
                  <a:lnTo>
                    <a:pt x="5243341" y="5750"/>
                  </a:lnTo>
                  <a:lnTo>
                    <a:pt x="5214874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400800" y="3081528"/>
              <a:ext cx="109855" cy="1280160"/>
            </a:xfrm>
            <a:custGeom>
              <a:avLst/>
              <a:gdLst/>
              <a:ahLst/>
              <a:cxnLst/>
              <a:rect l="l" t="t" r="r" b="b"/>
              <a:pathLst>
                <a:path w="109854" h="1280160">
                  <a:moveTo>
                    <a:pt x="91439" y="0"/>
                  </a:moveTo>
                  <a:lnTo>
                    <a:pt x="18287" y="0"/>
                  </a:lnTo>
                  <a:lnTo>
                    <a:pt x="11144" y="1428"/>
                  </a:lnTo>
                  <a:lnTo>
                    <a:pt x="5334" y="5334"/>
                  </a:lnTo>
                  <a:lnTo>
                    <a:pt x="1428" y="11144"/>
                  </a:lnTo>
                  <a:lnTo>
                    <a:pt x="0" y="18287"/>
                  </a:lnTo>
                  <a:lnTo>
                    <a:pt x="0" y="1261872"/>
                  </a:lnTo>
                  <a:lnTo>
                    <a:pt x="1428" y="1269015"/>
                  </a:lnTo>
                  <a:lnTo>
                    <a:pt x="5334" y="1274826"/>
                  </a:lnTo>
                  <a:lnTo>
                    <a:pt x="11144" y="1278731"/>
                  </a:lnTo>
                  <a:lnTo>
                    <a:pt x="18287" y="1280160"/>
                  </a:lnTo>
                  <a:lnTo>
                    <a:pt x="91439" y="1280160"/>
                  </a:lnTo>
                  <a:lnTo>
                    <a:pt x="98583" y="1278731"/>
                  </a:lnTo>
                  <a:lnTo>
                    <a:pt x="104394" y="1274826"/>
                  </a:lnTo>
                  <a:lnTo>
                    <a:pt x="108299" y="1269015"/>
                  </a:lnTo>
                  <a:lnTo>
                    <a:pt x="109727" y="1261872"/>
                  </a:lnTo>
                  <a:lnTo>
                    <a:pt x="109727" y="18287"/>
                  </a:lnTo>
                  <a:lnTo>
                    <a:pt x="108299" y="11144"/>
                  </a:lnTo>
                  <a:lnTo>
                    <a:pt x="104394" y="5334"/>
                  </a:lnTo>
                  <a:lnTo>
                    <a:pt x="98583" y="1428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2D5C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663308" y="3198111"/>
            <a:ext cx="4744085" cy="769620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1450" b="1">
                <a:solidFill>
                  <a:srgbClr val="091F3C"/>
                </a:solidFill>
                <a:latin typeface="Arial"/>
                <a:cs typeface="Arial"/>
              </a:rPr>
              <a:t>Comments</a:t>
            </a:r>
            <a:r>
              <a:rPr dirty="0" sz="1450" spc="-30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091F3C"/>
                </a:solidFill>
                <a:latin typeface="Arial"/>
                <a:cs typeface="Arial"/>
              </a:rPr>
              <a:t>start</a:t>
            </a:r>
            <a:r>
              <a:rPr dirty="0" sz="1450" spc="-1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091F3C"/>
                </a:solidFill>
                <a:latin typeface="Arial"/>
                <a:cs typeface="Arial"/>
              </a:rPr>
              <a:t>with</a:t>
            </a:r>
            <a:r>
              <a:rPr dirty="0" sz="1450" spc="-5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450" spc="-50" b="1">
                <a:solidFill>
                  <a:srgbClr val="091F3C"/>
                </a:solidFill>
                <a:latin typeface="Arial"/>
                <a:cs typeface="Arial"/>
              </a:rPr>
              <a:t>#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ts val="1365"/>
              </a:lnSpc>
              <a:spcBef>
                <a:spcPts val="620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Everything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after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#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on</a:t>
            </a:r>
            <a:r>
              <a:rPr dirty="0" sz="115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a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line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is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ignored.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Use</a:t>
            </a:r>
            <a:r>
              <a:rPr dirty="0" sz="115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comments</a:t>
            </a:r>
            <a:r>
              <a:rPr dirty="0" sz="1150" spc="-5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to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explain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why,</a:t>
            </a:r>
            <a:r>
              <a:rPr dirty="0" sz="1150" spc="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not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ts val="1365"/>
              </a:lnSpc>
            </a:pP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what.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341364" y="4412005"/>
            <a:ext cx="5436870" cy="1428750"/>
            <a:chOff x="6341364" y="4412005"/>
            <a:chExt cx="5436870" cy="1428750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41364" y="4412005"/>
              <a:ext cx="5436870" cy="142875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400800" y="4471416"/>
              <a:ext cx="5288280" cy="1280160"/>
            </a:xfrm>
            <a:custGeom>
              <a:avLst/>
              <a:gdLst/>
              <a:ahLst/>
              <a:cxnLst/>
              <a:rect l="l" t="t" r="r" b="b"/>
              <a:pathLst>
                <a:path w="5288280" h="1280160">
                  <a:moveTo>
                    <a:pt x="521487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207007"/>
                  </a:lnTo>
                  <a:lnTo>
                    <a:pt x="5750" y="1235481"/>
                  </a:lnTo>
                  <a:lnTo>
                    <a:pt x="21431" y="1258733"/>
                  </a:lnTo>
                  <a:lnTo>
                    <a:pt x="44684" y="1274411"/>
                  </a:lnTo>
                  <a:lnTo>
                    <a:pt x="73151" y="1280159"/>
                  </a:lnTo>
                  <a:lnTo>
                    <a:pt x="5214874" y="1280159"/>
                  </a:lnTo>
                  <a:lnTo>
                    <a:pt x="5243341" y="1274411"/>
                  </a:lnTo>
                  <a:lnTo>
                    <a:pt x="5266594" y="1258733"/>
                  </a:lnTo>
                  <a:lnTo>
                    <a:pt x="5282275" y="1235481"/>
                  </a:lnTo>
                  <a:lnTo>
                    <a:pt x="5288026" y="1207007"/>
                  </a:lnTo>
                  <a:lnTo>
                    <a:pt x="5288026" y="73151"/>
                  </a:lnTo>
                  <a:lnTo>
                    <a:pt x="5282275" y="44684"/>
                  </a:lnTo>
                  <a:lnTo>
                    <a:pt x="5266594" y="21431"/>
                  </a:lnTo>
                  <a:lnTo>
                    <a:pt x="5243341" y="5750"/>
                  </a:lnTo>
                  <a:lnTo>
                    <a:pt x="5214874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400800" y="4471416"/>
              <a:ext cx="109855" cy="1280160"/>
            </a:xfrm>
            <a:custGeom>
              <a:avLst/>
              <a:gdLst/>
              <a:ahLst/>
              <a:cxnLst/>
              <a:rect l="l" t="t" r="r" b="b"/>
              <a:pathLst>
                <a:path w="109854" h="1280160">
                  <a:moveTo>
                    <a:pt x="91439" y="0"/>
                  </a:moveTo>
                  <a:lnTo>
                    <a:pt x="18287" y="0"/>
                  </a:lnTo>
                  <a:lnTo>
                    <a:pt x="11144" y="1428"/>
                  </a:lnTo>
                  <a:lnTo>
                    <a:pt x="5334" y="5333"/>
                  </a:lnTo>
                  <a:lnTo>
                    <a:pt x="1428" y="11144"/>
                  </a:lnTo>
                  <a:lnTo>
                    <a:pt x="0" y="18287"/>
                  </a:lnTo>
                  <a:lnTo>
                    <a:pt x="0" y="1261871"/>
                  </a:lnTo>
                  <a:lnTo>
                    <a:pt x="1428" y="1268988"/>
                  </a:lnTo>
                  <a:lnTo>
                    <a:pt x="5334" y="1274802"/>
                  </a:lnTo>
                  <a:lnTo>
                    <a:pt x="11144" y="1278722"/>
                  </a:lnTo>
                  <a:lnTo>
                    <a:pt x="18287" y="1280159"/>
                  </a:lnTo>
                  <a:lnTo>
                    <a:pt x="91439" y="1280159"/>
                  </a:lnTo>
                  <a:lnTo>
                    <a:pt x="98583" y="1278722"/>
                  </a:lnTo>
                  <a:lnTo>
                    <a:pt x="104394" y="1274802"/>
                  </a:lnTo>
                  <a:lnTo>
                    <a:pt x="108299" y="1268988"/>
                  </a:lnTo>
                  <a:lnTo>
                    <a:pt x="109727" y="1261871"/>
                  </a:lnTo>
                  <a:lnTo>
                    <a:pt x="109727" y="18287"/>
                  </a:lnTo>
                  <a:lnTo>
                    <a:pt x="108299" y="11144"/>
                  </a:lnTo>
                  <a:lnTo>
                    <a:pt x="104394" y="5333"/>
                  </a:lnTo>
                  <a:lnTo>
                    <a:pt x="98583" y="1428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1B797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663308" y="4587664"/>
            <a:ext cx="4530725" cy="769620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450" b="1">
                <a:solidFill>
                  <a:srgbClr val="091F3C"/>
                </a:solidFill>
                <a:latin typeface="Arial"/>
                <a:cs typeface="Arial"/>
              </a:rPr>
              <a:t>print()</a:t>
            </a:r>
            <a:r>
              <a:rPr dirty="0" sz="1450" spc="-30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091F3C"/>
                </a:solidFill>
                <a:latin typeface="Arial"/>
                <a:cs typeface="Arial"/>
              </a:rPr>
              <a:t>shows</a:t>
            </a:r>
            <a:r>
              <a:rPr dirty="0" sz="1450" spc="-3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091F3C"/>
                </a:solidFill>
                <a:latin typeface="Arial"/>
                <a:cs typeface="Arial"/>
              </a:rPr>
              <a:t>output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ts val="1360"/>
              </a:lnSpc>
              <a:spcBef>
                <a:spcPts val="615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print()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writes to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screen</a:t>
            </a:r>
            <a:r>
              <a:rPr dirty="0" sz="1150" spc="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—</a:t>
            </a:r>
            <a:r>
              <a:rPr dirty="0" sz="11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your main</a:t>
            </a:r>
            <a:r>
              <a:rPr dirty="0" sz="1150" spc="-4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way to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see</a:t>
            </a:r>
            <a:r>
              <a:rPr dirty="0" sz="11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what</a:t>
            </a:r>
            <a:r>
              <a:rPr dirty="0" sz="1150" spc="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a</a:t>
            </a:r>
            <a:r>
              <a:rPr dirty="0" sz="11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program</a:t>
            </a:r>
            <a:r>
              <a:rPr dirty="0" sz="1150" spc="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is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ts val="1360"/>
              </a:lnSpc>
            </a:pP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doing.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Property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IBT</a:t>
            </a:r>
            <a:r>
              <a:rPr dirty="0" spc="-35"/>
              <a:t> </a:t>
            </a:r>
            <a:r>
              <a:rPr dirty="0"/>
              <a:t>College</a:t>
            </a:r>
            <a:r>
              <a:rPr dirty="0" spc="-15"/>
              <a:t> </a:t>
            </a:r>
            <a:r>
              <a:rPr dirty="0" spc="-10"/>
              <a:t>Canada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6</a:t>
            </a:fld>
            <a:r>
              <a:rPr dirty="0" spc="-5"/>
              <a:t> </a:t>
            </a:r>
            <a:r>
              <a:rPr dirty="0"/>
              <a:t>/ </a:t>
            </a:r>
            <a:r>
              <a:rPr dirty="0" spc="-25"/>
              <a:t>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343915"/>
            <a:ext cx="24530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C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14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I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38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1</a:t>
            </a:r>
            <a:r>
              <a:rPr dirty="0" sz="1100" spc="38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·</a:t>
            </a:r>
            <a:r>
              <a:rPr dirty="0" sz="1100" spc="39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M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37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P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Y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14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H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Variables</a:t>
            </a:r>
            <a:r>
              <a:rPr dirty="0" spc="-110"/>
              <a:t> </a:t>
            </a:r>
            <a:r>
              <a:rPr dirty="0"/>
              <a:t>&amp;</a:t>
            </a:r>
            <a:r>
              <a:rPr dirty="0" spc="-95"/>
              <a:t> </a:t>
            </a:r>
            <a:r>
              <a:rPr dirty="0" spc="-10"/>
              <a:t>Naming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0219" y="1423466"/>
            <a:ext cx="10938510" cy="534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dirty="0" sz="1450" b="1">
                <a:solidFill>
                  <a:srgbClr val="1A2333"/>
                </a:solidFill>
                <a:latin typeface="Arial"/>
                <a:cs typeface="Arial"/>
              </a:rPr>
              <a:t>A</a:t>
            </a:r>
            <a:r>
              <a:rPr dirty="0" sz="1450" spc="-100" b="1">
                <a:solidFill>
                  <a:srgbClr val="1A2333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1A2333"/>
                </a:solidFill>
                <a:latin typeface="Arial"/>
                <a:cs typeface="Arial"/>
              </a:rPr>
              <a:t>variable</a:t>
            </a:r>
            <a:r>
              <a:rPr dirty="0" sz="1450" spc="-25" b="1">
                <a:solidFill>
                  <a:srgbClr val="1A2333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1A2333"/>
                </a:solidFill>
                <a:latin typeface="Arial"/>
                <a:cs typeface="Arial"/>
              </a:rPr>
              <a:t>is</a:t>
            </a:r>
            <a:r>
              <a:rPr dirty="0" sz="1450" spc="-50" b="1">
                <a:solidFill>
                  <a:srgbClr val="1A2333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1A2333"/>
                </a:solidFill>
                <a:latin typeface="Arial"/>
                <a:cs typeface="Arial"/>
              </a:rPr>
              <a:t>a</a:t>
            </a:r>
            <a:r>
              <a:rPr dirty="0" sz="1450" spc="-40" b="1">
                <a:solidFill>
                  <a:srgbClr val="1A2333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1A2333"/>
                </a:solidFill>
                <a:latin typeface="Arial"/>
                <a:cs typeface="Arial"/>
              </a:rPr>
              <a:t>name</a:t>
            </a:r>
            <a:r>
              <a:rPr dirty="0" sz="1450" spc="-45" b="1">
                <a:solidFill>
                  <a:srgbClr val="1A2333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1A2333"/>
                </a:solidFill>
                <a:latin typeface="Arial"/>
                <a:cs typeface="Arial"/>
              </a:rPr>
              <a:t>that</a:t>
            </a:r>
            <a:r>
              <a:rPr dirty="0" sz="1450" spc="-25" b="1">
                <a:solidFill>
                  <a:srgbClr val="1A2333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1A2333"/>
                </a:solidFill>
                <a:latin typeface="Arial"/>
                <a:cs typeface="Arial"/>
              </a:rPr>
              <a:t>holds</a:t>
            </a:r>
            <a:r>
              <a:rPr dirty="0" sz="1450" spc="-50" b="1">
                <a:solidFill>
                  <a:srgbClr val="1A2333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1A2333"/>
                </a:solidFill>
                <a:latin typeface="Arial"/>
                <a:cs typeface="Arial"/>
              </a:rPr>
              <a:t>a</a:t>
            </a:r>
            <a:r>
              <a:rPr dirty="0" sz="1450" spc="-45" b="1">
                <a:solidFill>
                  <a:srgbClr val="1A2333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1A2333"/>
                </a:solidFill>
                <a:latin typeface="Arial"/>
                <a:cs typeface="Arial"/>
              </a:rPr>
              <a:t>value.</a:t>
            </a:r>
            <a:r>
              <a:rPr dirty="0" sz="1450" spc="-10" b="1">
                <a:solidFill>
                  <a:srgbClr val="1A2333"/>
                </a:solidFill>
                <a:latin typeface="Arial"/>
                <a:cs typeface="Arial"/>
              </a:rPr>
              <a:t> </a:t>
            </a:r>
            <a:r>
              <a:rPr dirty="0" sz="1450" spc="-35">
                <a:solidFill>
                  <a:srgbClr val="495468"/>
                </a:solidFill>
                <a:latin typeface="Arial MT"/>
                <a:cs typeface="Arial MT"/>
              </a:rPr>
              <a:t>You</a:t>
            </a:r>
            <a:r>
              <a:rPr dirty="0" sz="14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495468"/>
                </a:solidFill>
                <a:latin typeface="Arial MT"/>
                <a:cs typeface="Arial MT"/>
              </a:rPr>
              <a:t>assign</a:t>
            </a:r>
            <a:r>
              <a:rPr dirty="0" sz="1450" spc="-4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495468"/>
                </a:solidFill>
                <a:latin typeface="Arial MT"/>
                <a:cs typeface="Arial MT"/>
              </a:rPr>
              <a:t>with</a:t>
            </a:r>
            <a:r>
              <a:rPr dirty="0" sz="14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495468"/>
                </a:solidFill>
                <a:latin typeface="Arial MT"/>
                <a:cs typeface="Arial MT"/>
              </a:rPr>
              <a:t>=,</a:t>
            </a:r>
            <a:r>
              <a:rPr dirty="0" sz="1450" spc="-4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495468"/>
                </a:solidFill>
                <a:latin typeface="Arial MT"/>
                <a:cs typeface="Arial MT"/>
              </a:rPr>
              <a:t>then</a:t>
            </a:r>
            <a:r>
              <a:rPr dirty="0" sz="145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495468"/>
                </a:solidFill>
                <a:latin typeface="Arial MT"/>
                <a:cs typeface="Arial MT"/>
              </a:rPr>
              <a:t>use</a:t>
            </a:r>
            <a:r>
              <a:rPr dirty="0" sz="1450" spc="-4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450" spc="-5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495468"/>
                </a:solidFill>
                <a:latin typeface="Arial MT"/>
                <a:cs typeface="Arial MT"/>
              </a:rPr>
              <a:t>name</a:t>
            </a:r>
            <a:r>
              <a:rPr dirty="0" sz="145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495468"/>
                </a:solidFill>
                <a:latin typeface="Arial MT"/>
                <a:cs typeface="Arial MT"/>
              </a:rPr>
              <a:t>anywhere</a:t>
            </a:r>
            <a:r>
              <a:rPr dirty="0" sz="1450" spc="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495468"/>
                </a:solidFill>
                <a:latin typeface="Arial MT"/>
                <a:cs typeface="Arial MT"/>
              </a:rPr>
              <a:t>you</a:t>
            </a:r>
            <a:r>
              <a:rPr dirty="0" sz="14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495468"/>
                </a:solidFill>
                <a:latin typeface="Arial MT"/>
                <a:cs typeface="Arial MT"/>
              </a:rPr>
              <a:t>need</a:t>
            </a:r>
            <a:r>
              <a:rPr dirty="0" sz="14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450" spc="-4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495468"/>
                </a:solidFill>
                <a:latin typeface="Arial MT"/>
                <a:cs typeface="Arial MT"/>
              </a:rPr>
              <a:t>value.</a:t>
            </a:r>
            <a:r>
              <a:rPr dirty="0" sz="14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495468"/>
                </a:solidFill>
                <a:latin typeface="Arial MT"/>
                <a:cs typeface="Arial MT"/>
              </a:rPr>
              <a:t>Python</a:t>
            </a:r>
            <a:r>
              <a:rPr dirty="0" sz="14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495468"/>
                </a:solidFill>
                <a:latin typeface="Arial MT"/>
                <a:cs typeface="Arial MT"/>
              </a:rPr>
              <a:t>figures</a:t>
            </a:r>
            <a:r>
              <a:rPr dirty="0" sz="14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495468"/>
                </a:solidFill>
                <a:latin typeface="Arial MT"/>
                <a:cs typeface="Arial MT"/>
              </a:rPr>
              <a:t>out</a:t>
            </a:r>
            <a:r>
              <a:rPr dirty="0" sz="145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450" spc="-25">
                <a:solidFill>
                  <a:srgbClr val="495468"/>
                </a:solidFill>
                <a:latin typeface="Arial MT"/>
                <a:cs typeface="Arial MT"/>
              </a:rPr>
              <a:t>the </a:t>
            </a:r>
            <a:r>
              <a:rPr dirty="0" sz="1450">
                <a:solidFill>
                  <a:srgbClr val="495468"/>
                </a:solidFill>
                <a:latin typeface="Arial MT"/>
                <a:cs typeface="Arial MT"/>
              </a:rPr>
              <a:t>type</a:t>
            </a:r>
            <a:r>
              <a:rPr dirty="0" sz="14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495468"/>
                </a:solidFill>
                <a:latin typeface="Arial MT"/>
                <a:cs typeface="Arial MT"/>
              </a:rPr>
              <a:t>for</a:t>
            </a:r>
            <a:r>
              <a:rPr dirty="0" sz="14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450" spc="-20">
                <a:solidFill>
                  <a:srgbClr val="495468"/>
                </a:solidFill>
                <a:latin typeface="Arial MT"/>
                <a:cs typeface="Arial MT"/>
              </a:rPr>
              <a:t>you.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173" y="2148829"/>
            <a:ext cx="5790565" cy="2864485"/>
            <a:chOff x="457173" y="2148829"/>
            <a:chExt cx="5790565" cy="286448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73" y="2148829"/>
              <a:ext cx="5790491" cy="28643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2920" y="2194559"/>
              <a:ext cx="5669280" cy="2743200"/>
            </a:xfrm>
            <a:custGeom>
              <a:avLst/>
              <a:gdLst/>
              <a:ahLst/>
              <a:cxnLst/>
              <a:rect l="l" t="t" r="r" b="b"/>
              <a:pathLst>
                <a:path w="5669280" h="2743200">
                  <a:moveTo>
                    <a:pt x="5623559" y="0"/>
                  </a:moveTo>
                  <a:lnTo>
                    <a:pt x="45732" y="0"/>
                  </a:lnTo>
                  <a:lnTo>
                    <a:pt x="27930" y="3589"/>
                  </a:lnTo>
                  <a:lnTo>
                    <a:pt x="13393" y="13382"/>
                  </a:lnTo>
                  <a:lnTo>
                    <a:pt x="3593" y="27914"/>
                  </a:lnTo>
                  <a:lnTo>
                    <a:pt x="0" y="45719"/>
                  </a:lnTo>
                  <a:lnTo>
                    <a:pt x="0" y="2697479"/>
                  </a:lnTo>
                  <a:lnTo>
                    <a:pt x="3593" y="2715285"/>
                  </a:lnTo>
                  <a:lnTo>
                    <a:pt x="13393" y="2729817"/>
                  </a:lnTo>
                  <a:lnTo>
                    <a:pt x="27930" y="2739610"/>
                  </a:lnTo>
                  <a:lnTo>
                    <a:pt x="45732" y="2743200"/>
                  </a:lnTo>
                  <a:lnTo>
                    <a:pt x="5623559" y="2743200"/>
                  </a:lnTo>
                  <a:lnTo>
                    <a:pt x="5641365" y="2739610"/>
                  </a:lnTo>
                  <a:lnTo>
                    <a:pt x="5655897" y="2729817"/>
                  </a:lnTo>
                  <a:lnTo>
                    <a:pt x="5665690" y="2715285"/>
                  </a:lnTo>
                  <a:lnTo>
                    <a:pt x="5669280" y="2697479"/>
                  </a:lnTo>
                  <a:lnTo>
                    <a:pt x="5669280" y="45719"/>
                  </a:lnTo>
                  <a:lnTo>
                    <a:pt x="5665690" y="27914"/>
                  </a:lnTo>
                  <a:lnTo>
                    <a:pt x="5655897" y="13382"/>
                  </a:lnTo>
                  <a:lnTo>
                    <a:pt x="5641365" y="3589"/>
                  </a:lnTo>
                  <a:lnTo>
                    <a:pt x="5623559" y="0"/>
                  </a:lnTo>
                  <a:close/>
                </a:path>
              </a:pathLst>
            </a:custGeom>
            <a:solidFill>
              <a:srgbClr val="1A23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654812" y="2283079"/>
            <a:ext cx="2555240" cy="787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student_name</a:t>
            </a:r>
            <a:r>
              <a:rPr dirty="0" sz="1250" spc="-4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50" spc="-4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"Almaz</a:t>
            </a:r>
            <a:r>
              <a:rPr dirty="0" sz="1250" spc="-5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Bekele"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age</a:t>
            </a:r>
            <a:r>
              <a:rPr dirty="0" sz="1250" spc="-3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24</a:t>
            </a:r>
            <a:endParaRPr sz="1250">
              <a:latin typeface="Consolas"/>
              <a:cs typeface="Consolas"/>
            </a:endParaRPr>
          </a:p>
          <a:p>
            <a:pPr marL="12700" marR="92075">
              <a:lnSpc>
                <a:spcPct val="100000"/>
              </a:lnSpc>
              <a:tabLst>
                <a:tab pos="2018664" algn="l"/>
              </a:tabLst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balance</a:t>
            </a:r>
            <a:r>
              <a:rPr dirty="0" sz="1250" spc="-3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50" spc="-3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1500.50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	#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ETB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is_enrolled</a:t>
            </a:r>
            <a:r>
              <a:rPr dirty="0" sz="1250" spc="-4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50" spc="-5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20">
                <a:solidFill>
                  <a:srgbClr val="E6ECF3"/>
                </a:solidFill>
                <a:latin typeface="Consolas"/>
                <a:cs typeface="Consolas"/>
              </a:rPr>
              <a:t>True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4812" y="3235579"/>
            <a:ext cx="168402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print(student_name)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print(age</a:t>
            </a:r>
            <a:r>
              <a:rPr dirty="0" sz="1250" spc="-5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+</a:t>
            </a:r>
            <a:r>
              <a:rPr dirty="0" sz="1250" spc="-3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1)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61371" y="3235579"/>
            <a:ext cx="124714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#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Almaz</a:t>
            </a:r>
            <a:r>
              <a:rPr dirty="0" sz="1250" spc="-3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Bekele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#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25</a:t>
            </a:r>
            <a:endParaRPr sz="1250">
              <a:latin typeface="Consolas"/>
              <a:cs typeface="Consola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368753" y="2162534"/>
            <a:ext cx="5382260" cy="2851150"/>
            <a:chOff x="6368753" y="2162534"/>
            <a:chExt cx="5382260" cy="285115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8753" y="2162534"/>
              <a:ext cx="5382090" cy="285067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400800" y="2194559"/>
              <a:ext cx="5288280" cy="2743200"/>
            </a:xfrm>
            <a:custGeom>
              <a:avLst/>
              <a:gdLst/>
              <a:ahLst/>
              <a:cxnLst/>
              <a:rect l="l" t="t" r="r" b="b"/>
              <a:pathLst>
                <a:path w="5288280" h="2743200">
                  <a:moveTo>
                    <a:pt x="521487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2670047"/>
                  </a:lnTo>
                  <a:lnTo>
                    <a:pt x="5750" y="2698515"/>
                  </a:lnTo>
                  <a:lnTo>
                    <a:pt x="21431" y="2721768"/>
                  </a:lnTo>
                  <a:lnTo>
                    <a:pt x="44684" y="2737449"/>
                  </a:lnTo>
                  <a:lnTo>
                    <a:pt x="73151" y="2743200"/>
                  </a:lnTo>
                  <a:lnTo>
                    <a:pt x="5214874" y="2743200"/>
                  </a:lnTo>
                  <a:lnTo>
                    <a:pt x="5243341" y="2737449"/>
                  </a:lnTo>
                  <a:lnTo>
                    <a:pt x="5266594" y="2721768"/>
                  </a:lnTo>
                  <a:lnTo>
                    <a:pt x="5282275" y="2698515"/>
                  </a:lnTo>
                  <a:lnTo>
                    <a:pt x="5288026" y="2670047"/>
                  </a:lnTo>
                  <a:lnTo>
                    <a:pt x="5288026" y="73151"/>
                  </a:lnTo>
                  <a:lnTo>
                    <a:pt x="5282275" y="44684"/>
                  </a:lnTo>
                  <a:lnTo>
                    <a:pt x="5266594" y="21431"/>
                  </a:lnTo>
                  <a:lnTo>
                    <a:pt x="5243341" y="5750"/>
                  </a:lnTo>
                  <a:lnTo>
                    <a:pt x="5214874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617589" y="2423286"/>
            <a:ext cx="3619500" cy="1197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091F3C"/>
                </a:solidFill>
                <a:latin typeface="Arial"/>
                <a:cs typeface="Arial"/>
              </a:rPr>
              <a:t>Naming</a:t>
            </a:r>
            <a:r>
              <a:rPr dirty="0" sz="1500" spc="-1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091F3C"/>
                </a:solidFill>
                <a:latin typeface="Arial"/>
                <a:cs typeface="Arial"/>
              </a:rPr>
              <a:t>rules</a:t>
            </a:r>
            <a:r>
              <a:rPr dirty="0" sz="1500" spc="-30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091F3C"/>
                </a:solidFill>
                <a:latin typeface="Arial"/>
                <a:cs typeface="Arial"/>
              </a:rPr>
              <a:t>&amp;</a:t>
            </a:r>
            <a:r>
              <a:rPr dirty="0" sz="1500" spc="-10" b="1">
                <a:solidFill>
                  <a:srgbClr val="091F3C"/>
                </a:solidFill>
                <a:latin typeface="Arial"/>
                <a:cs typeface="Arial"/>
              </a:rPr>
              <a:t> habits</a:t>
            </a:r>
            <a:endParaRPr sz="1500">
              <a:latin typeface="Arial"/>
              <a:cs typeface="Arial"/>
            </a:endParaRPr>
          </a:p>
          <a:p>
            <a:pPr marL="217804" indent="-205104">
              <a:lnSpc>
                <a:spcPct val="100000"/>
              </a:lnSpc>
              <a:spcBef>
                <a:spcPts val="969"/>
              </a:spcBef>
              <a:buClr>
                <a:srgbClr val="2D8A56"/>
              </a:buClr>
              <a:buFont typeface="Segoe UI Symbol"/>
              <a:buChar char="✓"/>
              <a:tabLst>
                <a:tab pos="217804" algn="l"/>
              </a:tabLst>
            </a:pP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Use</a:t>
            </a:r>
            <a:r>
              <a:rPr dirty="0" sz="1250" spc="-4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lowercase</a:t>
            </a:r>
            <a:r>
              <a:rPr dirty="0" sz="1250" spc="-4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with</a:t>
            </a:r>
            <a:r>
              <a:rPr dirty="0" sz="1250" spc="-4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underscores:</a:t>
            </a:r>
            <a:r>
              <a:rPr dirty="0" sz="12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2333"/>
                </a:solidFill>
                <a:latin typeface="Consolas"/>
                <a:cs typeface="Consolas"/>
              </a:rPr>
              <a:t>student_name</a:t>
            </a:r>
            <a:endParaRPr sz="1200">
              <a:latin typeface="Consolas"/>
              <a:cs typeface="Consolas"/>
            </a:endParaRPr>
          </a:p>
          <a:p>
            <a:pPr marL="217804" indent="-205104">
              <a:lnSpc>
                <a:spcPct val="100000"/>
              </a:lnSpc>
              <a:spcBef>
                <a:spcPts val="155"/>
              </a:spcBef>
              <a:buClr>
                <a:srgbClr val="2D8A56"/>
              </a:buClr>
              <a:buFont typeface="Segoe UI Symbol"/>
              <a:buChar char="✓"/>
              <a:tabLst>
                <a:tab pos="217804" algn="l"/>
              </a:tabLst>
            </a:pP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Make</a:t>
            </a:r>
            <a:r>
              <a:rPr dirty="0" sz="1250" spc="-4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names</a:t>
            </a:r>
            <a:r>
              <a:rPr dirty="0" sz="12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descriptive:</a:t>
            </a:r>
            <a:r>
              <a:rPr dirty="0" sz="12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2333"/>
                </a:solidFill>
                <a:latin typeface="Consolas"/>
                <a:cs typeface="Consolas"/>
              </a:rPr>
              <a:t>age</a:t>
            </a:r>
            <a:r>
              <a:rPr dirty="0" sz="1200" spc="-300">
                <a:solidFill>
                  <a:srgbClr val="1A233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beats</a:t>
            </a:r>
            <a:r>
              <a:rPr dirty="0" sz="12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50">
                <a:solidFill>
                  <a:srgbClr val="1A2333"/>
                </a:solidFill>
                <a:latin typeface="Consolas"/>
                <a:cs typeface="Consolas"/>
              </a:rPr>
              <a:t>a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250">
                <a:solidFill>
                  <a:srgbClr val="B33A3A"/>
                </a:solidFill>
                <a:latin typeface="Segoe UI Symbol"/>
                <a:cs typeface="Segoe UI Symbol"/>
              </a:rPr>
              <a:t>✗</a:t>
            </a:r>
            <a:r>
              <a:rPr dirty="0" sz="1250" spc="305">
                <a:solidFill>
                  <a:srgbClr val="B33A3A"/>
                </a:solidFill>
                <a:latin typeface="Segoe UI Symbol"/>
                <a:cs typeface="Segoe UI Symbol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Can't</a:t>
            </a:r>
            <a:r>
              <a:rPr dirty="0" sz="12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start</a:t>
            </a:r>
            <a:r>
              <a:rPr dirty="0" sz="12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with</a:t>
            </a:r>
            <a:r>
              <a:rPr dirty="0" sz="12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a</a:t>
            </a:r>
            <a:r>
              <a:rPr dirty="0" sz="12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number</a:t>
            </a:r>
            <a:r>
              <a:rPr dirty="0" sz="12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or</a:t>
            </a:r>
            <a:r>
              <a:rPr dirty="0" sz="12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contain </a:t>
            </a:r>
            <a:r>
              <a:rPr dirty="0" sz="1250" spc="-10">
                <a:solidFill>
                  <a:srgbClr val="495468"/>
                </a:solidFill>
                <a:latin typeface="Arial MT"/>
                <a:cs typeface="Arial MT"/>
              </a:rPr>
              <a:t>spaces.</a:t>
            </a: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250">
                <a:solidFill>
                  <a:srgbClr val="B33A3A"/>
                </a:solidFill>
                <a:latin typeface="Segoe UI Symbol"/>
                <a:cs typeface="Segoe UI Symbol"/>
              </a:rPr>
              <a:t>✗</a:t>
            </a:r>
            <a:r>
              <a:rPr dirty="0" sz="1250" spc="265">
                <a:solidFill>
                  <a:srgbClr val="B33A3A"/>
                </a:solidFill>
                <a:latin typeface="Segoe UI Symbol"/>
                <a:cs typeface="Segoe UI Symbol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Avoid</a:t>
            </a:r>
            <a:r>
              <a:rPr dirty="0" sz="12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reserved</a:t>
            </a:r>
            <a:r>
              <a:rPr dirty="0" sz="12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words</a:t>
            </a:r>
            <a:r>
              <a:rPr dirty="0" sz="125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like</a:t>
            </a:r>
            <a:r>
              <a:rPr dirty="0" sz="12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2333"/>
                </a:solidFill>
                <a:latin typeface="Consolas"/>
                <a:cs typeface="Consolas"/>
              </a:rPr>
              <a:t>if</a:t>
            </a:r>
            <a:r>
              <a:rPr dirty="0" sz="1200" spc="-315">
                <a:solidFill>
                  <a:srgbClr val="1A233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or</a:t>
            </a:r>
            <a:r>
              <a:rPr dirty="0" sz="12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1A2333"/>
                </a:solidFill>
                <a:latin typeface="Consolas"/>
                <a:cs typeface="Consolas"/>
              </a:rPr>
              <a:t>for</a:t>
            </a:r>
            <a:r>
              <a:rPr dirty="0" sz="1250" spc="-20">
                <a:solidFill>
                  <a:srgbClr val="495468"/>
                </a:solidFill>
                <a:latin typeface="Arial MT"/>
                <a:cs typeface="Arial MT"/>
              </a:rPr>
              <a:t>.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02919" y="5166359"/>
            <a:ext cx="11186160" cy="777240"/>
          </a:xfrm>
          <a:custGeom>
            <a:avLst/>
            <a:gdLst/>
            <a:ahLst/>
            <a:cxnLst/>
            <a:rect l="l" t="t" r="r" b="b"/>
            <a:pathLst>
              <a:path w="11186160" h="777239">
                <a:moveTo>
                  <a:pt x="11131041" y="0"/>
                </a:moveTo>
                <a:lnTo>
                  <a:pt x="54864" y="0"/>
                </a:lnTo>
                <a:lnTo>
                  <a:pt x="33507" y="4304"/>
                </a:lnTo>
                <a:lnTo>
                  <a:pt x="16068" y="16049"/>
                </a:lnTo>
                <a:lnTo>
                  <a:pt x="4311" y="33486"/>
                </a:lnTo>
                <a:lnTo>
                  <a:pt x="0" y="54863"/>
                </a:lnTo>
                <a:lnTo>
                  <a:pt x="0" y="722376"/>
                </a:lnTo>
                <a:lnTo>
                  <a:pt x="4311" y="743732"/>
                </a:lnTo>
                <a:lnTo>
                  <a:pt x="16068" y="761171"/>
                </a:lnTo>
                <a:lnTo>
                  <a:pt x="33507" y="772928"/>
                </a:lnTo>
                <a:lnTo>
                  <a:pt x="54864" y="777239"/>
                </a:lnTo>
                <a:lnTo>
                  <a:pt x="11131041" y="777239"/>
                </a:lnTo>
                <a:lnTo>
                  <a:pt x="11152366" y="772928"/>
                </a:lnTo>
                <a:lnTo>
                  <a:pt x="11169808" y="761171"/>
                </a:lnTo>
                <a:lnTo>
                  <a:pt x="11181584" y="743732"/>
                </a:lnTo>
                <a:lnTo>
                  <a:pt x="11185906" y="722376"/>
                </a:lnTo>
                <a:lnTo>
                  <a:pt x="11185906" y="54863"/>
                </a:lnTo>
                <a:lnTo>
                  <a:pt x="11181584" y="33486"/>
                </a:lnTo>
                <a:lnTo>
                  <a:pt x="11169808" y="16049"/>
                </a:lnTo>
                <a:lnTo>
                  <a:pt x="11152366" y="4304"/>
                </a:lnTo>
                <a:lnTo>
                  <a:pt x="11131041" y="0"/>
                </a:lnTo>
                <a:close/>
              </a:path>
            </a:pathLst>
          </a:custGeom>
          <a:solidFill>
            <a:srgbClr val="FFF7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64540" y="5438952"/>
            <a:ext cx="932942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b="1">
                <a:solidFill>
                  <a:srgbClr val="6B530F"/>
                </a:solidFill>
                <a:latin typeface="Arial"/>
                <a:cs typeface="Arial"/>
              </a:rPr>
              <a:t>Good</a:t>
            </a:r>
            <a:r>
              <a:rPr dirty="0" sz="1250" spc="-40" b="1">
                <a:solidFill>
                  <a:srgbClr val="6B530F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6B530F"/>
                </a:solidFill>
                <a:latin typeface="Arial"/>
                <a:cs typeface="Arial"/>
              </a:rPr>
              <a:t>names</a:t>
            </a:r>
            <a:r>
              <a:rPr dirty="0" sz="1250" spc="-25" b="1">
                <a:solidFill>
                  <a:srgbClr val="6B530F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6B530F"/>
                </a:solidFill>
                <a:latin typeface="Arial"/>
                <a:cs typeface="Arial"/>
              </a:rPr>
              <a:t>are</a:t>
            </a:r>
            <a:r>
              <a:rPr dirty="0" sz="1250" spc="-10" b="1">
                <a:solidFill>
                  <a:srgbClr val="6B530F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6B530F"/>
                </a:solidFill>
                <a:latin typeface="Arial"/>
                <a:cs typeface="Arial"/>
              </a:rPr>
              <a:t>documentation.</a:t>
            </a:r>
            <a:r>
              <a:rPr dirty="0" sz="1250" spc="290" b="1">
                <a:solidFill>
                  <a:srgbClr val="6B530F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B530F"/>
                </a:solidFill>
                <a:latin typeface="Arial MT"/>
                <a:cs typeface="Arial MT"/>
              </a:rPr>
              <a:t>A</a:t>
            </a:r>
            <a:r>
              <a:rPr dirty="0" sz="1250" spc="-8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6B530F"/>
                </a:solidFill>
                <a:latin typeface="Arial MT"/>
                <a:cs typeface="Arial MT"/>
              </a:rPr>
              <a:t>reader</a:t>
            </a:r>
            <a:r>
              <a:rPr dirty="0" sz="1250" spc="-3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6B530F"/>
                </a:solidFill>
                <a:latin typeface="Arial MT"/>
                <a:cs typeface="Arial MT"/>
              </a:rPr>
              <a:t>should</a:t>
            </a:r>
            <a:r>
              <a:rPr dirty="0" sz="1250" spc="-2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6B530F"/>
                </a:solidFill>
                <a:latin typeface="Arial MT"/>
                <a:cs typeface="Arial MT"/>
              </a:rPr>
              <a:t>understand</a:t>
            </a:r>
            <a:r>
              <a:rPr dirty="0" sz="1250" spc="-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6B530F"/>
                </a:solidFill>
                <a:latin typeface="Arial MT"/>
                <a:cs typeface="Arial MT"/>
              </a:rPr>
              <a:t>what</a:t>
            </a:r>
            <a:r>
              <a:rPr dirty="0" sz="1250" spc="-2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6B530F"/>
                </a:solidFill>
                <a:latin typeface="Arial MT"/>
                <a:cs typeface="Arial MT"/>
              </a:rPr>
              <a:t>a</a:t>
            </a:r>
            <a:r>
              <a:rPr dirty="0" sz="1250" spc="-2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6B530F"/>
                </a:solidFill>
                <a:latin typeface="Arial MT"/>
                <a:cs typeface="Arial MT"/>
              </a:rPr>
              <a:t>variable</a:t>
            </a:r>
            <a:r>
              <a:rPr dirty="0" sz="1250" spc="-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6B530F"/>
                </a:solidFill>
                <a:latin typeface="Arial MT"/>
                <a:cs typeface="Arial MT"/>
              </a:rPr>
              <a:t>holds</a:t>
            </a:r>
            <a:r>
              <a:rPr dirty="0" sz="1250" spc="-2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6B530F"/>
                </a:solidFill>
                <a:latin typeface="Arial MT"/>
                <a:cs typeface="Arial MT"/>
              </a:rPr>
              <a:t>from</a:t>
            </a:r>
            <a:r>
              <a:rPr dirty="0" sz="1250" spc="-4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6B530F"/>
                </a:solidFill>
                <a:latin typeface="Arial MT"/>
                <a:cs typeface="Arial MT"/>
              </a:rPr>
              <a:t>its</a:t>
            </a:r>
            <a:r>
              <a:rPr dirty="0" sz="1250" spc="-2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6B530F"/>
                </a:solidFill>
                <a:latin typeface="Arial MT"/>
                <a:cs typeface="Arial MT"/>
              </a:rPr>
              <a:t>name</a:t>
            </a:r>
            <a:r>
              <a:rPr dirty="0" sz="1250" spc="-3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6B530F"/>
                </a:solidFill>
                <a:latin typeface="Arial MT"/>
                <a:cs typeface="Arial MT"/>
              </a:rPr>
              <a:t>alone</a:t>
            </a:r>
            <a:r>
              <a:rPr dirty="0" sz="1250" spc="-5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6B530F"/>
                </a:solidFill>
                <a:latin typeface="Arial MT"/>
                <a:cs typeface="Arial MT"/>
              </a:rPr>
              <a:t>—</a:t>
            </a:r>
            <a:r>
              <a:rPr dirty="0" sz="1250" spc="-3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6B530F"/>
                </a:solidFill>
                <a:latin typeface="Arial MT"/>
                <a:cs typeface="Arial MT"/>
              </a:rPr>
              <a:t>no</a:t>
            </a:r>
            <a:r>
              <a:rPr dirty="0" sz="1250" spc="-2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6B530F"/>
                </a:solidFill>
                <a:latin typeface="Arial MT"/>
                <a:cs typeface="Arial MT"/>
              </a:rPr>
              <a:t>comment</a:t>
            </a:r>
            <a:r>
              <a:rPr dirty="0" sz="1250" spc="-3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6B530F"/>
                </a:solidFill>
                <a:latin typeface="Arial MT"/>
                <a:cs typeface="Arial MT"/>
              </a:rPr>
              <a:t>required.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Property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IBT</a:t>
            </a:r>
            <a:r>
              <a:rPr dirty="0" spc="-35"/>
              <a:t> </a:t>
            </a:r>
            <a:r>
              <a:rPr dirty="0"/>
              <a:t>College</a:t>
            </a:r>
            <a:r>
              <a:rPr dirty="0" spc="-15"/>
              <a:t> </a:t>
            </a:r>
            <a:r>
              <a:rPr dirty="0" spc="-10"/>
              <a:t>Canada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6</a:t>
            </a:fld>
            <a:r>
              <a:rPr dirty="0" spc="-5"/>
              <a:t> </a:t>
            </a:r>
            <a:r>
              <a:rPr dirty="0"/>
              <a:t>/ </a:t>
            </a:r>
            <a:r>
              <a:rPr dirty="0" spc="-25"/>
              <a:t>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862184" y="1862454"/>
            <a:ext cx="1832610" cy="2738755"/>
          </a:xfrm>
          <a:custGeom>
            <a:avLst/>
            <a:gdLst/>
            <a:ahLst/>
            <a:cxnLst/>
            <a:rect l="l" t="t" r="r" b="b"/>
            <a:pathLst>
              <a:path w="1832609" h="2738754">
                <a:moveTo>
                  <a:pt x="967359" y="0"/>
                </a:moveTo>
                <a:lnTo>
                  <a:pt x="911431" y="1113"/>
                </a:lnTo>
                <a:lnTo>
                  <a:pt x="856951" y="4453"/>
                </a:lnTo>
                <a:lnTo>
                  <a:pt x="803919" y="10020"/>
                </a:lnTo>
                <a:lnTo>
                  <a:pt x="752338" y="17811"/>
                </a:lnTo>
                <a:lnTo>
                  <a:pt x="702206" y="27827"/>
                </a:lnTo>
                <a:lnTo>
                  <a:pt x="653525" y="40067"/>
                </a:lnTo>
                <a:lnTo>
                  <a:pt x="606296" y="54531"/>
                </a:lnTo>
                <a:lnTo>
                  <a:pt x="560519" y="71217"/>
                </a:lnTo>
                <a:lnTo>
                  <a:pt x="516194" y="90124"/>
                </a:lnTo>
                <a:lnTo>
                  <a:pt x="473324" y="111253"/>
                </a:lnTo>
                <a:lnTo>
                  <a:pt x="431908" y="134602"/>
                </a:lnTo>
                <a:lnTo>
                  <a:pt x="391946" y="160171"/>
                </a:lnTo>
                <a:lnTo>
                  <a:pt x="353441" y="187960"/>
                </a:lnTo>
                <a:lnTo>
                  <a:pt x="319378" y="216037"/>
                </a:lnTo>
                <a:lnTo>
                  <a:pt x="287348" y="246602"/>
                </a:lnTo>
                <a:lnTo>
                  <a:pt x="257350" y="279656"/>
                </a:lnTo>
                <a:lnTo>
                  <a:pt x="229384" y="315198"/>
                </a:lnTo>
                <a:lnTo>
                  <a:pt x="203449" y="353228"/>
                </a:lnTo>
                <a:lnTo>
                  <a:pt x="179545" y="393746"/>
                </a:lnTo>
                <a:lnTo>
                  <a:pt x="157670" y="436752"/>
                </a:lnTo>
                <a:lnTo>
                  <a:pt x="137825" y="482247"/>
                </a:lnTo>
                <a:lnTo>
                  <a:pt x="120009" y="530230"/>
                </a:lnTo>
                <a:lnTo>
                  <a:pt x="104221" y="580701"/>
                </a:lnTo>
                <a:lnTo>
                  <a:pt x="90460" y="633660"/>
                </a:lnTo>
                <a:lnTo>
                  <a:pt x="78727" y="689107"/>
                </a:lnTo>
                <a:lnTo>
                  <a:pt x="69021" y="747042"/>
                </a:lnTo>
                <a:lnTo>
                  <a:pt x="61341" y="807466"/>
                </a:lnTo>
                <a:lnTo>
                  <a:pt x="582295" y="859536"/>
                </a:lnTo>
                <a:lnTo>
                  <a:pt x="588212" y="796826"/>
                </a:lnTo>
                <a:lnTo>
                  <a:pt x="597472" y="739432"/>
                </a:lnTo>
                <a:lnTo>
                  <a:pt x="610076" y="687352"/>
                </a:lnTo>
                <a:lnTo>
                  <a:pt x="626024" y="640585"/>
                </a:lnTo>
                <a:lnTo>
                  <a:pt x="645315" y="599126"/>
                </a:lnTo>
                <a:lnTo>
                  <a:pt x="667950" y="562975"/>
                </a:lnTo>
                <a:lnTo>
                  <a:pt x="693928" y="532130"/>
                </a:lnTo>
                <a:lnTo>
                  <a:pt x="728039" y="501987"/>
                </a:lnTo>
                <a:lnTo>
                  <a:pt x="765861" y="477341"/>
                </a:lnTo>
                <a:lnTo>
                  <a:pt x="807402" y="458184"/>
                </a:lnTo>
                <a:lnTo>
                  <a:pt x="852668" y="444509"/>
                </a:lnTo>
                <a:lnTo>
                  <a:pt x="901667" y="436309"/>
                </a:lnTo>
                <a:lnTo>
                  <a:pt x="954405" y="433578"/>
                </a:lnTo>
                <a:lnTo>
                  <a:pt x="1007596" y="436182"/>
                </a:lnTo>
                <a:lnTo>
                  <a:pt x="1056809" y="443996"/>
                </a:lnTo>
                <a:lnTo>
                  <a:pt x="1102042" y="457025"/>
                </a:lnTo>
                <a:lnTo>
                  <a:pt x="1143296" y="475271"/>
                </a:lnTo>
                <a:lnTo>
                  <a:pt x="1180570" y="498738"/>
                </a:lnTo>
                <a:lnTo>
                  <a:pt x="1213866" y="527431"/>
                </a:lnTo>
                <a:lnTo>
                  <a:pt x="1242567" y="560990"/>
                </a:lnTo>
                <a:lnTo>
                  <a:pt x="1266058" y="599054"/>
                </a:lnTo>
                <a:lnTo>
                  <a:pt x="1284335" y="641619"/>
                </a:lnTo>
                <a:lnTo>
                  <a:pt x="1297394" y="688683"/>
                </a:lnTo>
                <a:lnTo>
                  <a:pt x="1305232" y="740241"/>
                </a:lnTo>
                <a:lnTo>
                  <a:pt x="1307846" y="796290"/>
                </a:lnTo>
                <a:lnTo>
                  <a:pt x="1305645" y="841543"/>
                </a:lnTo>
                <a:lnTo>
                  <a:pt x="1299041" y="886952"/>
                </a:lnTo>
                <a:lnTo>
                  <a:pt x="1288031" y="932516"/>
                </a:lnTo>
                <a:lnTo>
                  <a:pt x="1272614" y="978236"/>
                </a:lnTo>
                <a:lnTo>
                  <a:pt x="1252787" y="1024112"/>
                </a:lnTo>
                <a:lnTo>
                  <a:pt x="1228549" y="1070143"/>
                </a:lnTo>
                <a:lnTo>
                  <a:pt x="1199896" y="1116330"/>
                </a:lnTo>
                <a:lnTo>
                  <a:pt x="1165636" y="1161276"/>
                </a:lnTo>
                <a:lnTo>
                  <a:pt x="1116193" y="1218009"/>
                </a:lnTo>
                <a:lnTo>
                  <a:pt x="1085776" y="1250795"/>
                </a:lnTo>
                <a:lnTo>
                  <a:pt x="1051560" y="1286525"/>
                </a:lnTo>
                <a:lnTo>
                  <a:pt x="1013544" y="1325201"/>
                </a:lnTo>
                <a:lnTo>
                  <a:pt x="971728" y="1366821"/>
                </a:lnTo>
                <a:lnTo>
                  <a:pt x="926111" y="1411384"/>
                </a:lnTo>
                <a:lnTo>
                  <a:pt x="876692" y="1458891"/>
                </a:lnTo>
                <a:lnTo>
                  <a:pt x="823470" y="1509342"/>
                </a:lnTo>
                <a:lnTo>
                  <a:pt x="715811" y="1610116"/>
                </a:lnTo>
                <a:lnTo>
                  <a:pt x="667184" y="1656382"/>
                </a:lnTo>
                <a:lnTo>
                  <a:pt x="620564" y="1701533"/>
                </a:lnTo>
                <a:lnTo>
                  <a:pt x="575950" y="1745569"/>
                </a:lnTo>
                <a:lnTo>
                  <a:pt x="533342" y="1788490"/>
                </a:lnTo>
                <a:lnTo>
                  <a:pt x="492741" y="1830297"/>
                </a:lnTo>
                <a:lnTo>
                  <a:pt x="454147" y="1870990"/>
                </a:lnTo>
                <a:lnTo>
                  <a:pt x="417559" y="1910568"/>
                </a:lnTo>
                <a:lnTo>
                  <a:pt x="382978" y="1949032"/>
                </a:lnTo>
                <a:lnTo>
                  <a:pt x="350403" y="1986382"/>
                </a:lnTo>
                <a:lnTo>
                  <a:pt x="319835" y="2022619"/>
                </a:lnTo>
                <a:lnTo>
                  <a:pt x="291273" y="2057742"/>
                </a:lnTo>
                <a:lnTo>
                  <a:pt x="264718" y="2091751"/>
                </a:lnTo>
                <a:lnTo>
                  <a:pt x="240169" y="2124647"/>
                </a:lnTo>
                <a:lnTo>
                  <a:pt x="217627" y="2156430"/>
                </a:lnTo>
                <a:lnTo>
                  <a:pt x="178562" y="2216658"/>
                </a:lnTo>
                <a:lnTo>
                  <a:pt x="152493" y="2261716"/>
                </a:lnTo>
                <a:lnTo>
                  <a:pt x="128390" y="2307253"/>
                </a:lnTo>
                <a:lnTo>
                  <a:pt x="106253" y="2353267"/>
                </a:lnTo>
                <a:lnTo>
                  <a:pt x="86082" y="2399758"/>
                </a:lnTo>
                <a:lnTo>
                  <a:pt x="67879" y="2446725"/>
                </a:lnTo>
                <a:lnTo>
                  <a:pt x="51643" y="2494169"/>
                </a:lnTo>
                <a:lnTo>
                  <a:pt x="37375" y="2542087"/>
                </a:lnTo>
                <a:lnTo>
                  <a:pt x="25077" y="2590480"/>
                </a:lnTo>
                <a:lnTo>
                  <a:pt x="14748" y="2639347"/>
                </a:lnTo>
                <a:lnTo>
                  <a:pt x="6388" y="2688687"/>
                </a:lnTo>
                <a:lnTo>
                  <a:pt x="0" y="2738501"/>
                </a:lnTo>
                <a:lnTo>
                  <a:pt x="1832483" y="2738501"/>
                </a:lnTo>
                <a:lnTo>
                  <a:pt x="1832483" y="2252980"/>
                </a:lnTo>
                <a:lnTo>
                  <a:pt x="794385" y="2252980"/>
                </a:lnTo>
                <a:lnTo>
                  <a:pt x="816433" y="2217404"/>
                </a:lnTo>
                <a:lnTo>
                  <a:pt x="841613" y="2181352"/>
                </a:lnTo>
                <a:lnTo>
                  <a:pt x="869912" y="2144823"/>
                </a:lnTo>
                <a:lnTo>
                  <a:pt x="901319" y="2107819"/>
                </a:lnTo>
                <a:lnTo>
                  <a:pt x="939652" y="2067254"/>
                </a:lnTo>
                <a:lnTo>
                  <a:pt x="995889" y="2011600"/>
                </a:lnTo>
                <a:lnTo>
                  <a:pt x="1030719" y="1978114"/>
                </a:lnTo>
                <a:lnTo>
                  <a:pt x="1070022" y="1940856"/>
                </a:lnTo>
                <a:lnTo>
                  <a:pt x="1113796" y="1899825"/>
                </a:lnTo>
                <a:lnTo>
                  <a:pt x="1162040" y="1855023"/>
                </a:lnTo>
                <a:lnTo>
                  <a:pt x="1262722" y="1762130"/>
                </a:lnTo>
                <a:lnTo>
                  <a:pt x="1307641" y="1719930"/>
                </a:lnTo>
                <a:lnTo>
                  <a:pt x="1349511" y="1679849"/>
                </a:lnTo>
                <a:lnTo>
                  <a:pt x="1388330" y="1641886"/>
                </a:lnTo>
                <a:lnTo>
                  <a:pt x="1424098" y="1606042"/>
                </a:lnTo>
                <a:lnTo>
                  <a:pt x="1456814" y="1572315"/>
                </a:lnTo>
                <a:lnTo>
                  <a:pt x="1486478" y="1540708"/>
                </a:lnTo>
                <a:lnTo>
                  <a:pt x="1513089" y="1511218"/>
                </a:lnTo>
                <a:lnTo>
                  <a:pt x="1557147" y="1458595"/>
                </a:lnTo>
                <a:lnTo>
                  <a:pt x="1591752" y="1413262"/>
                </a:lnTo>
                <a:lnTo>
                  <a:pt x="1623943" y="1368419"/>
                </a:lnTo>
                <a:lnTo>
                  <a:pt x="1653719" y="1324067"/>
                </a:lnTo>
                <a:lnTo>
                  <a:pt x="1681083" y="1280207"/>
                </a:lnTo>
                <a:lnTo>
                  <a:pt x="1706035" y="1236842"/>
                </a:lnTo>
                <a:lnTo>
                  <a:pt x="1728579" y="1193972"/>
                </a:lnTo>
                <a:lnTo>
                  <a:pt x="1748714" y="1151600"/>
                </a:lnTo>
                <a:lnTo>
                  <a:pt x="1766443" y="1109726"/>
                </a:lnTo>
                <a:lnTo>
                  <a:pt x="1783937" y="1061797"/>
                </a:lnTo>
                <a:lnTo>
                  <a:pt x="1798752" y="1013151"/>
                </a:lnTo>
                <a:lnTo>
                  <a:pt x="1810883" y="963785"/>
                </a:lnTo>
                <a:lnTo>
                  <a:pt x="1820326" y="913697"/>
                </a:lnTo>
                <a:lnTo>
                  <a:pt x="1827077" y="862885"/>
                </a:lnTo>
                <a:lnTo>
                  <a:pt x="1831130" y="811346"/>
                </a:lnTo>
                <a:lnTo>
                  <a:pt x="1832483" y="759079"/>
                </a:lnTo>
                <a:lnTo>
                  <a:pt x="1830879" y="705871"/>
                </a:lnTo>
                <a:lnTo>
                  <a:pt x="1826070" y="654134"/>
                </a:lnTo>
                <a:lnTo>
                  <a:pt x="1818054" y="603869"/>
                </a:lnTo>
                <a:lnTo>
                  <a:pt x="1806833" y="555074"/>
                </a:lnTo>
                <a:lnTo>
                  <a:pt x="1792407" y="507751"/>
                </a:lnTo>
                <a:lnTo>
                  <a:pt x="1774777" y="461899"/>
                </a:lnTo>
                <a:lnTo>
                  <a:pt x="1753942" y="417517"/>
                </a:lnTo>
                <a:lnTo>
                  <a:pt x="1729904" y="374607"/>
                </a:lnTo>
                <a:lnTo>
                  <a:pt x="1702663" y="333168"/>
                </a:lnTo>
                <a:lnTo>
                  <a:pt x="1672218" y="293200"/>
                </a:lnTo>
                <a:lnTo>
                  <a:pt x="1638572" y="254703"/>
                </a:lnTo>
                <a:lnTo>
                  <a:pt x="1601724" y="217678"/>
                </a:lnTo>
                <a:lnTo>
                  <a:pt x="1567884" y="187707"/>
                </a:lnTo>
                <a:lnTo>
                  <a:pt x="1532280" y="159953"/>
                </a:lnTo>
                <a:lnTo>
                  <a:pt x="1494911" y="134416"/>
                </a:lnTo>
                <a:lnTo>
                  <a:pt x="1455777" y="111097"/>
                </a:lnTo>
                <a:lnTo>
                  <a:pt x="1414878" y="89996"/>
                </a:lnTo>
                <a:lnTo>
                  <a:pt x="1372214" y="71114"/>
                </a:lnTo>
                <a:lnTo>
                  <a:pt x="1327784" y="54451"/>
                </a:lnTo>
                <a:lnTo>
                  <a:pt x="1281590" y="40008"/>
                </a:lnTo>
                <a:lnTo>
                  <a:pt x="1233631" y="27785"/>
                </a:lnTo>
                <a:lnTo>
                  <a:pt x="1183906" y="17784"/>
                </a:lnTo>
                <a:lnTo>
                  <a:pt x="1132417" y="10004"/>
                </a:lnTo>
                <a:lnTo>
                  <a:pt x="1079163" y="4446"/>
                </a:lnTo>
                <a:lnTo>
                  <a:pt x="1024143" y="1111"/>
                </a:lnTo>
                <a:lnTo>
                  <a:pt x="967359" y="0"/>
                </a:lnTo>
                <a:close/>
              </a:path>
            </a:pathLst>
          </a:custGeom>
          <a:solidFill>
            <a:srgbClr val="4F46E4">
              <a:alpha val="3803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81659" y="2385187"/>
            <a:ext cx="165925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E4B546"/>
                </a:solidFill>
                <a:latin typeface="Arial"/>
                <a:cs typeface="Arial"/>
              </a:rPr>
              <a:t>S</a:t>
            </a:r>
            <a:r>
              <a:rPr dirty="0" sz="1400" spc="-95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E4B546"/>
                </a:solidFill>
                <a:latin typeface="Arial"/>
                <a:cs typeface="Arial"/>
              </a:rPr>
              <a:t>E</a:t>
            </a:r>
            <a:r>
              <a:rPr dirty="0" sz="1400" spc="-95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4B546"/>
                </a:solidFill>
                <a:latin typeface="Arial"/>
                <a:cs typeface="Arial"/>
              </a:rPr>
              <a:t>C</a:t>
            </a:r>
            <a:r>
              <a:rPr dirty="0" sz="1400" spc="-100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4B546"/>
                </a:solidFill>
                <a:latin typeface="Arial"/>
                <a:cs typeface="Arial"/>
              </a:rPr>
              <a:t>T</a:t>
            </a:r>
            <a:r>
              <a:rPr dirty="0" sz="1400" spc="-100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4B546"/>
                </a:solidFill>
                <a:latin typeface="Arial"/>
                <a:cs typeface="Arial"/>
              </a:rPr>
              <a:t>I</a:t>
            </a:r>
            <a:r>
              <a:rPr dirty="0" sz="1400" spc="-85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4B546"/>
                </a:solidFill>
                <a:latin typeface="Arial"/>
                <a:cs typeface="Arial"/>
              </a:rPr>
              <a:t>O</a:t>
            </a:r>
            <a:r>
              <a:rPr dirty="0" sz="1400" spc="-95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4B546"/>
                </a:solidFill>
                <a:latin typeface="Arial"/>
                <a:cs typeface="Arial"/>
              </a:rPr>
              <a:t>N</a:t>
            </a:r>
            <a:r>
              <a:rPr dirty="0" sz="1400" spc="95" b="1">
                <a:solidFill>
                  <a:srgbClr val="E4B546"/>
                </a:solidFill>
                <a:latin typeface="Arial"/>
                <a:cs typeface="Arial"/>
              </a:rPr>
              <a:t>  </a:t>
            </a:r>
            <a:r>
              <a:rPr dirty="0" sz="1400" b="1">
                <a:solidFill>
                  <a:srgbClr val="E4B546"/>
                </a:solidFill>
                <a:latin typeface="Arial"/>
                <a:cs typeface="Arial"/>
              </a:rPr>
              <a:t>T</a:t>
            </a:r>
            <a:r>
              <a:rPr dirty="0" sz="1400" spc="-100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4B546"/>
                </a:solidFill>
                <a:latin typeface="Arial"/>
                <a:cs typeface="Arial"/>
              </a:rPr>
              <a:t>W</a:t>
            </a:r>
            <a:r>
              <a:rPr dirty="0" sz="1400" spc="-100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spc="-50" b="1">
                <a:solidFill>
                  <a:srgbClr val="E4B546"/>
                </a:solidFill>
                <a:latin typeface="Arial"/>
                <a:cs typeface="Arial"/>
              </a:rPr>
              <a:t>O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FFFFF"/>
                </a:solidFill>
              </a:rPr>
              <a:t>Data</a:t>
            </a:r>
            <a:r>
              <a:rPr dirty="0" sz="4000" spc="-114">
                <a:solidFill>
                  <a:srgbClr val="FFFFFF"/>
                </a:solidFill>
              </a:rPr>
              <a:t> </a:t>
            </a:r>
            <a:r>
              <a:rPr dirty="0" sz="4000" spc="-35">
                <a:solidFill>
                  <a:srgbClr val="FFFFFF"/>
                </a:solidFill>
              </a:rPr>
              <a:t>Types</a:t>
            </a:r>
            <a:r>
              <a:rPr dirty="0" sz="4000" spc="-125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&amp;</a:t>
            </a:r>
            <a:r>
              <a:rPr dirty="0" sz="4000" spc="-130">
                <a:solidFill>
                  <a:srgbClr val="FFFFFF"/>
                </a:solidFill>
              </a:rPr>
              <a:t> </a:t>
            </a:r>
            <a:r>
              <a:rPr dirty="0" sz="4000" spc="-10">
                <a:solidFill>
                  <a:srgbClr val="FFFFFF"/>
                </a:solidFill>
              </a:rPr>
              <a:t>Operators</a:t>
            </a:r>
            <a:endParaRPr sz="4000"/>
          </a:p>
        </p:txBody>
      </p:sp>
      <p:sp>
        <p:nvSpPr>
          <p:cNvPr id="5" name="object 5"/>
          <p:cNvSpPr txBox="1"/>
          <p:nvPr/>
        </p:nvSpPr>
        <p:spPr>
          <a:xfrm>
            <a:off x="599948" y="4098417"/>
            <a:ext cx="6725284" cy="476884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200"/>
              </a:spcBef>
            </a:pP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The</a:t>
            </a:r>
            <a:r>
              <a:rPr dirty="0" sz="1500" spc="-3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kinds</a:t>
            </a:r>
            <a:r>
              <a:rPr dirty="0" sz="1500" spc="-4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of</a:t>
            </a:r>
            <a:r>
              <a:rPr dirty="0" sz="1500" spc="-3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data</a:t>
            </a:r>
            <a:r>
              <a:rPr dirty="0" sz="1500" spc="-40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Python</a:t>
            </a:r>
            <a:r>
              <a:rPr dirty="0" sz="1500" spc="-30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works</a:t>
            </a:r>
            <a:r>
              <a:rPr dirty="0" sz="1500" spc="-30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with,</a:t>
            </a:r>
            <a:r>
              <a:rPr dirty="0" sz="1500" spc="-2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and</a:t>
            </a:r>
            <a:r>
              <a:rPr dirty="0" sz="1500" spc="-30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the</a:t>
            </a:r>
            <a:r>
              <a:rPr dirty="0" sz="1500" spc="-4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operators</a:t>
            </a:r>
            <a:r>
              <a:rPr dirty="0" sz="1500" spc="-6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that</a:t>
            </a:r>
            <a:r>
              <a:rPr dirty="0" sz="1500" spc="-4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compute,</a:t>
            </a:r>
            <a:r>
              <a:rPr dirty="0" sz="1500" spc="-5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6D8FB8"/>
                </a:solidFill>
                <a:latin typeface="Arial MT"/>
                <a:cs typeface="Arial MT"/>
              </a:rPr>
              <a:t>compare,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and</a:t>
            </a:r>
            <a:r>
              <a:rPr dirty="0" sz="1500" spc="-50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combine</a:t>
            </a:r>
            <a:r>
              <a:rPr dirty="0" sz="1500" spc="-5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 spc="-20">
                <a:solidFill>
                  <a:srgbClr val="6D8FB8"/>
                </a:solidFill>
                <a:latin typeface="Arial MT"/>
                <a:cs typeface="Arial MT"/>
              </a:rPr>
              <a:t>them.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6" name="object 6" descr="/home/claude/decks/assets/ibt_logo_trim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359" y="5989320"/>
            <a:ext cx="528726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343915"/>
            <a:ext cx="367030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C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I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38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2</a:t>
            </a:r>
            <a:r>
              <a:rPr dirty="0" sz="1100" spc="38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·</a:t>
            </a:r>
            <a:r>
              <a:rPr dirty="0" sz="1100" spc="39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D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A</a:t>
            </a:r>
            <a:r>
              <a:rPr dirty="0" sz="1100" spc="-14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A</a:t>
            </a:r>
            <a:r>
              <a:rPr dirty="0" sz="1100" spc="43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Y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P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4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&amp;</a:t>
            </a:r>
            <a:r>
              <a:rPr dirty="0" sz="1100" spc="39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P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R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A</a:t>
            </a:r>
            <a:r>
              <a:rPr dirty="0" sz="1100" spc="-14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R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Numbers</a:t>
            </a:r>
            <a:r>
              <a:rPr dirty="0" spc="-45"/>
              <a:t> </a:t>
            </a:r>
            <a:r>
              <a:rPr dirty="0"/>
              <a:t>—</a:t>
            </a:r>
            <a:r>
              <a:rPr dirty="0" spc="-20"/>
              <a:t> </a:t>
            </a:r>
            <a:r>
              <a:rPr dirty="0"/>
              <a:t>int</a:t>
            </a:r>
            <a:r>
              <a:rPr dirty="0" spc="-15"/>
              <a:t> </a:t>
            </a:r>
            <a:r>
              <a:rPr dirty="0"/>
              <a:t>&amp;</a:t>
            </a:r>
            <a:r>
              <a:rPr dirty="0" spc="-25"/>
              <a:t> </a:t>
            </a:r>
            <a:r>
              <a:rPr dirty="0" spc="-10"/>
              <a:t>float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70867" y="1613829"/>
            <a:ext cx="5504180" cy="2119630"/>
            <a:chOff x="470867" y="1613829"/>
            <a:chExt cx="5504180" cy="21196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67" y="1613829"/>
              <a:ext cx="5504023" cy="21192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2919" y="1645920"/>
              <a:ext cx="5410200" cy="2011680"/>
            </a:xfrm>
            <a:custGeom>
              <a:avLst/>
              <a:gdLst/>
              <a:ahLst/>
              <a:cxnLst/>
              <a:rect l="l" t="t" r="r" b="b"/>
              <a:pathLst>
                <a:path w="5410200" h="2011679">
                  <a:moveTo>
                    <a:pt x="533692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1938527"/>
                  </a:lnTo>
                  <a:lnTo>
                    <a:pt x="5748" y="1966995"/>
                  </a:lnTo>
                  <a:lnTo>
                    <a:pt x="21426" y="1990248"/>
                  </a:lnTo>
                  <a:lnTo>
                    <a:pt x="44678" y="2005929"/>
                  </a:lnTo>
                  <a:lnTo>
                    <a:pt x="73151" y="2011679"/>
                  </a:lnTo>
                  <a:lnTo>
                    <a:pt x="5336920" y="2011679"/>
                  </a:lnTo>
                  <a:lnTo>
                    <a:pt x="5365388" y="2005929"/>
                  </a:lnTo>
                  <a:lnTo>
                    <a:pt x="5388641" y="1990248"/>
                  </a:lnTo>
                  <a:lnTo>
                    <a:pt x="5404322" y="1966995"/>
                  </a:lnTo>
                  <a:lnTo>
                    <a:pt x="5410072" y="1938527"/>
                  </a:lnTo>
                  <a:lnTo>
                    <a:pt x="5410072" y="73151"/>
                  </a:lnTo>
                  <a:lnTo>
                    <a:pt x="5404322" y="44684"/>
                  </a:lnTo>
                  <a:lnTo>
                    <a:pt x="5388641" y="21431"/>
                  </a:lnTo>
                  <a:lnTo>
                    <a:pt x="5365388" y="5750"/>
                  </a:lnTo>
                  <a:lnTo>
                    <a:pt x="533692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31519" y="1874520"/>
              <a:ext cx="1188720" cy="502920"/>
            </a:xfrm>
            <a:custGeom>
              <a:avLst/>
              <a:gdLst/>
              <a:ahLst/>
              <a:cxnLst/>
              <a:rect l="l" t="t" r="r" b="b"/>
              <a:pathLst>
                <a:path w="1188720" h="502919">
                  <a:moveTo>
                    <a:pt x="1133856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448055"/>
                  </a:lnTo>
                  <a:lnTo>
                    <a:pt x="4311" y="469433"/>
                  </a:lnTo>
                  <a:lnTo>
                    <a:pt x="16068" y="486870"/>
                  </a:lnTo>
                  <a:lnTo>
                    <a:pt x="33507" y="498615"/>
                  </a:lnTo>
                  <a:lnTo>
                    <a:pt x="54864" y="502919"/>
                  </a:lnTo>
                  <a:lnTo>
                    <a:pt x="1133856" y="502919"/>
                  </a:lnTo>
                  <a:lnTo>
                    <a:pt x="1155233" y="498615"/>
                  </a:lnTo>
                  <a:lnTo>
                    <a:pt x="1172670" y="486870"/>
                  </a:lnTo>
                  <a:lnTo>
                    <a:pt x="1184415" y="469433"/>
                  </a:lnTo>
                  <a:lnTo>
                    <a:pt x="1188720" y="448055"/>
                  </a:lnTo>
                  <a:lnTo>
                    <a:pt x="1188720" y="54863"/>
                  </a:lnTo>
                  <a:lnTo>
                    <a:pt x="1184415" y="33486"/>
                  </a:lnTo>
                  <a:lnTo>
                    <a:pt x="1172670" y="16049"/>
                  </a:lnTo>
                  <a:lnTo>
                    <a:pt x="1155233" y="4304"/>
                  </a:lnTo>
                  <a:lnTo>
                    <a:pt x="1133856" y="0"/>
                  </a:lnTo>
                  <a:close/>
                </a:path>
              </a:pathLst>
            </a:custGeom>
            <a:solidFill>
              <a:srgbClr val="2D5C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146454" y="1979117"/>
            <a:ext cx="359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Consolas"/>
                <a:cs typeface="Consolas"/>
              </a:rPr>
              <a:t>int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90673" y="1995881"/>
            <a:ext cx="135763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091F3C"/>
                </a:solidFill>
                <a:latin typeface="Arial"/>
                <a:cs typeface="Arial"/>
              </a:rPr>
              <a:t>Whole</a:t>
            </a:r>
            <a:r>
              <a:rPr dirty="0" sz="1400" spc="-3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91F3C"/>
                </a:solidFill>
                <a:latin typeface="Arial"/>
                <a:cs typeface="Arial"/>
              </a:rPr>
              <a:t>numbers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72083" y="2455189"/>
            <a:ext cx="5101590" cy="1108710"/>
            <a:chOff x="672083" y="2455189"/>
            <a:chExt cx="5101590" cy="110871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2083" y="2455189"/>
              <a:ext cx="5101590" cy="110868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31519" y="2514600"/>
              <a:ext cx="4953000" cy="960119"/>
            </a:xfrm>
            <a:custGeom>
              <a:avLst/>
              <a:gdLst/>
              <a:ahLst/>
              <a:cxnLst/>
              <a:rect l="l" t="t" r="r" b="b"/>
              <a:pathLst>
                <a:path w="4953000" h="960120">
                  <a:moveTo>
                    <a:pt x="4907153" y="0"/>
                  </a:moveTo>
                  <a:lnTo>
                    <a:pt x="45720" y="0"/>
                  </a:ln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20"/>
                  </a:lnTo>
                  <a:lnTo>
                    <a:pt x="0" y="914400"/>
                  </a:lnTo>
                  <a:lnTo>
                    <a:pt x="3593" y="932205"/>
                  </a:lnTo>
                  <a:lnTo>
                    <a:pt x="13392" y="946737"/>
                  </a:lnTo>
                  <a:lnTo>
                    <a:pt x="27924" y="956530"/>
                  </a:lnTo>
                  <a:lnTo>
                    <a:pt x="45720" y="960120"/>
                  </a:lnTo>
                  <a:lnTo>
                    <a:pt x="4907153" y="960120"/>
                  </a:lnTo>
                  <a:lnTo>
                    <a:pt x="4924958" y="956530"/>
                  </a:lnTo>
                  <a:lnTo>
                    <a:pt x="4939490" y="946737"/>
                  </a:lnTo>
                  <a:lnTo>
                    <a:pt x="4949283" y="932205"/>
                  </a:lnTo>
                  <a:lnTo>
                    <a:pt x="4952872" y="914400"/>
                  </a:lnTo>
                  <a:lnTo>
                    <a:pt x="4952872" y="45720"/>
                  </a:lnTo>
                  <a:lnTo>
                    <a:pt x="4949283" y="27914"/>
                  </a:lnTo>
                  <a:lnTo>
                    <a:pt x="4939490" y="13382"/>
                  </a:lnTo>
                  <a:lnTo>
                    <a:pt x="4924958" y="3589"/>
                  </a:lnTo>
                  <a:lnTo>
                    <a:pt x="4907153" y="0"/>
                  </a:lnTo>
                  <a:close/>
                </a:path>
              </a:pathLst>
            </a:custGeom>
            <a:solidFill>
              <a:srgbClr val="1A23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883411" y="2603119"/>
            <a:ext cx="1033144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age</a:t>
            </a:r>
            <a:r>
              <a:rPr dirty="0" sz="120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0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 spc="-25">
                <a:solidFill>
                  <a:srgbClr val="E6ECF3"/>
                </a:solidFill>
                <a:latin typeface="Consolas"/>
                <a:cs typeface="Consolas"/>
              </a:rPr>
              <a:t>24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quantity</a:t>
            </a:r>
            <a:r>
              <a:rPr dirty="0" sz="120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0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 spc="-50">
                <a:solidFill>
                  <a:srgbClr val="E6ECF3"/>
                </a:solidFill>
                <a:latin typeface="Consolas"/>
                <a:cs typeface="Consolas"/>
              </a:rPr>
              <a:t>3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year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00" spc="-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2026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246827" y="1613829"/>
            <a:ext cx="5504180" cy="2119630"/>
            <a:chOff x="6246827" y="1613829"/>
            <a:chExt cx="5504180" cy="211963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6827" y="1613829"/>
              <a:ext cx="5504023" cy="21192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278753" y="1645920"/>
              <a:ext cx="5410200" cy="2011680"/>
            </a:xfrm>
            <a:custGeom>
              <a:avLst/>
              <a:gdLst/>
              <a:ahLst/>
              <a:cxnLst/>
              <a:rect l="l" t="t" r="r" b="b"/>
              <a:pathLst>
                <a:path w="5410200" h="2011679">
                  <a:moveTo>
                    <a:pt x="533692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938527"/>
                  </a:lnTo>
                  <a:lnTo>
                    <a:pt x="5750" y="1966995"/>
                  </a:lnTo>
                  <a:lnTo>
                    <a:pt x="21431" y="1990248"/>
                  </a:lnTo>
                  <a:lnTo>
                    <a:pt x="44684" y="2005929"/>
                  </a:lnTo>
                  <a:lnTo>
                    <a:pt x="73151" y="2011679"/>
                  </a:lnTo>
                  <a:lnTo>
                    <a:pt x="5336921" y="2011679"/>
                  </a:lnTo>
                  <a:lnTo>
                    <a:pt x="5365388" y="2005929"/>
                  </a:lnTo>
                  <a:lnTo>
                    <a:pt x="5388641" y="1990248"/>
                  </a:lnTo>
                  <a:lnTo>
                    <a:pt x="5404322" y="1966995"/>
                  </a:lnTo>
                  <a:lnTo>
                    <a:pt x="5410073" y="1938527"/>
                  </a:lnTo>
                  <a:lnTo>
                    <a:pt x="5410073" y="73151"/>
                  </a:lnTo>
                  <a:lnTo>
                    <a:pt x="5404322" y="44684"/>
                  </a:lnTo>
                  <a:lnTo>
                    <a:pt x="5388641" y="21431"/>
                  </a:lnTo>
                  <a:lnTo>
                    <a:pt x="5365388" y="5750"/>
                  </a:lnTo>
                  <a:lnTo>
                    <a:pt x="5336921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507353" y="1874520"/>
              <a:ext cx="1188720" cy="502920"/>
            </a:xfrm>
            <a:custGeom>
              <a:avLst/>
              <a:gdLst/>
              <a:ahLst/>
              <a:cxnLst/>
              <a:rect l="l" t="t" r="r" b="b"/>
              <a:pathLst>
                <a:path w="1188720" h="502919">
                  <a:moveTo>
                    <a:pt x="1133855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448055"/>
                  </a:lnTo>
                  <a:lnTo>
                    <a:pt x="4304" y="469433"/>
                  </a:lnTo>
                  <a:lnTo>
                    <a:pt x="16049" y="486870"/>
                  </a:lnTo>
                  <a:lnTo>
                    <a:pt x="33486" y="498615"/>
                  </a:lnTo>
                  <a:lnTo>
                    <a:pt x="54864" y="502919"/>
                  </a:lnTo>
                  <a:lnTo>
                    <a:pt x="1133855" y="502919"/>
                  </a:lnTo>
                  <a:lnTo>
                    <a:pt x="1155180" y="498615"/>
                  </a:lnTo>
                  <a:lnTo>
                    <a:pt x="1172622" y="486870"/>
                  </a:lnTo>
                  <a:lnTo>
                    <a:pt x="1184398" y="469433"/>
                  </a:lnTo>
                  <a:lnTo>
                    <a:pt x="1188720" y="448055"/>
                  </a:lnTo>
                  <a:lnTo>
                    <a:pt x="1188720" y="54863"/>
                  </a:lnTo>
                  <a:lnTo>
                    <a:pt x="1184398" y="33486"/>
                  </a:lnTo>
                  <a:lnTo>
                    <a:pt x="1172622" y="16049"/>
                  </a:lnTo>
                  <a:lnTo>
                    <a:pt x="1155180" y="4304"/>
                  </a:lnTo>
                  <a:lnTo>
                    <a:pt x="1133855" y="0"/>
                  </a:lnTo>
                  <a:close/>
                </a:path>
              </a:pathLst>
            </a:custGeom>
            <a:solidFill>
              <a:srgbClr val="1B797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811518" y="1979117"/>
            <a:ext cx="5835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Consolas"/>
                <a:cs typeface="Consolas"/>
              </a:rPr>
              <a:t>float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67268" y="1995881"/>
            <a:ext cx="150749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091F3C"/>
                </a:solidFill>
                <a:latin typeface="Arial"/>
                <a:cs typeface="Arial"/>
              </a:rPr>
              <a:t>Decimal</a:t>
            </a:r>
            <a:r>
              <a:rPr dirty="0" sz="1400" spc="-40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91F3C"/>
                </a:solidFill>
                <a:latin typeface="Arial"/>
                <a:cs typeface="Arial"/>
              </a:rPr>
              <a:t>numbers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448044" y="2455189"/>
            <a:ext cx="5101590" cy="1108710"/>
            <a:chOff x="6448044" y="2455189"/>
            <a:chExt cx="5101590" cy="1108710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8044" y="2455189"/>
              <a:ext cx="5101590" cy="110868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507353" y="2514600"/>
              <a:ext cx="4953000" cy="960119"/>
            </a:xfrm>
            <a:custGeom>
              <a:avLst/>
              <a:gdLst/>
              <a:ahLst/>
              <a:cxnLst/>
              <a:rect l="l" t="t" r="r" b="b"/>
              <a:pathLst>
                <a:path w="4953000" h="960120">
                  <a:moveTo>
                    <a:pt x="4907153" y="0"/>
                  </a:moveTo>
                  <a:lnTo>
                    <a:pt x="45720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914400"/>
                  </a:lnTo>
                  <a:lnTo>
                    <a:pt x="3589" y="932205"/>
                  </a:lnTo>
                  <a:lnTo>
                    <a:pt x="13382" y="946737"/>
                  </a:lnTo>
                  <a:lnTo>
                    <a:pt x="27914" y="956530"/>
                  </a:lnTo>
                  <a:lnTo>
                    <a:pt x="45720" y="960120"/>
                  </a:lnTo>
                  <a:lnTo>
                    <a:pt x="4907153" y="960120"/>
                  </a:lnTo>
                  <a:lnTo>
                    <a:pt x="4924905" y="956530"/>
                  </a:lnTo>
                  <a:lnTo>
                    <a:pt x="4939442" y="946737"/>
                  </a:lnTo>
                  <a:lnTo>
                    <a:pt x="4949265" y="932205"/>
                  </a:lnTo>
                  <a:lnTo>
                    <a:pt x="4952873" y="914400"/>
                  </a:lnTo>
                  <a:lnTo>
                    <a:pt x="4952873" y="45720"/>
                  </a:lnTo>
                  <a:lnTo>
                    <a:pt x="4949265" y="27914"/>
                  </a:lnTo>
                  <a:lnTo>
                    <a:pt x="4939442" y="13382"/>
                  </a:lnTo>
                  <a:lnTo>
                    <a:pt x="4924905" y="3589"/>
                  </a:lnTo>
                  <a:lnTo>
                    <a:pt x="4907153" y="0"/>
                  </a:lnTo>
                  <a:close/>
                </a:path>
              </a:pathLst>
            </a:custGeom>
            <a:solidFill>
              <a:srgbClr val="1A23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6660006" y="2603119"/>
            <a:ext cx="128587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price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 49.99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tax_rate</a:t>
            </a:r>
            <a:r>
              <a:rPr dirty="0" sz="120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0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0.15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pi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 3.14159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70895" y="3854155"/>
            <a:ext cx="11280140" cy="2165350"/>
            <a:chOff x="470895" y="3854155"/>
            <a:chExt cx="11280140" cy="2165350"/>
          </a:xfrm>
        </p:grpSpPr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0895" y="3854155"/>
              <a:ext cx="11279926" cy="216488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02919" y="3886200"/>
              <a:ext cx="11186160" cy="2057400"/>
            </a:xfrm>
            <a:custGeom>
              <a:avLst/>
              <a:gdLst/>
              <a:ahLst/>
              <a:cxnLst/>
              <a:rect l="l" t="t" r="r" b="b"/>
              <a:pathLst>
                <a:path w="11186160" h="2057400">
                  <a:moveTo>
                    <a:pt x="11112627" y="0"/>
                  </a:moveTo>
                  <a:lnTo>
                    <a:pt x="73164" y="0"/>
                  </a:lnTo>
                  <a:lnTo>
                    <a:pt x="44684" y="5750"/>
                  </a:lnTo>
                  <a:lnTo>
                    <a:pt x="21428" y="21431"/>
                  </a:lnTo>
                  <a:lnTo>
                    <a:pt x="5749" y="44684"/>
                  </a:lnTo>
                  <a:lnTo>
                    <a:pt x="0" y="73151"/>
                  </a:lnTo>
                  <a:lnTo>
                    <a:pt x="0" y="1984235"/>
                  </a:lnTo>
                  <a:lnTo>
                    <a:pt x="5749" y="2012715"/>
                  </a:lnTo>
                  <a:lnTo>
                    <a:pt x="21428" y="2035971"/>
                  </a:lnTo>
                  <a:lnTo>
                    <a:pt x="44684" y="2051650"/>
                  </a:lnTo>
                  <a:lnTo>
                    <a:pt x="73164" y="2057400"/>
                  </a:lnTo>
                  <a:lnTo>
                    <a:pt x="11112627" y="2057400"/>
                  </a:lnTo>
                  <a:lnTo>
                    <a:pt x="11141168" y="2051650"/>
                  </a:lnTo>
                  <a:lnTo>
                    <a:pt x="11164458" y="2035971"/>
                  </a:lnTo>
                  <a:lnTo>
                    <a:pt x="11180153" y="2012715"/>
                  </a:lnTo>
                  <a:lnTo>
                    <a:pt x="11185906" y="1984235"/>
                  </a:lnTo>
                  <a:lnTo>
                    <a:pt x="11185906" y="73151"/>
                  </a:lnTo>
                  <a:lnTo>
                    <a:pt x="11180153" y="44684"/>
                  </a:lnTo>
                  <a:lnTo>
                    <a:pt x="11164458" y="21431"/>
                  </a:lnTo>
                  <a:lnTo>
                    <a:pt x="11141168" y="5750"/>
                  </a:lnTo>
                  <a:lnTo>
                    <a:pt x="11112627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764540" y="4077080"/>
            <a:ext cx="25990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91F3C"/>
                </a:solidFill>
                <a:latin typeface="Arial"/>
                <a:cs typeface="Arial"/>
              </a:rPr>
              <a:t>They</a:t>
            </a:r>
            <a:r>
              <a:rPr dirty="0" sz="1400" spc="-30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91F3C"/>
                </a:solidFill>
                <a:latin typeface="Arial"/>
                <a:cs typeface="Arial"/>
              </a:rPr>
              <a:t>mix</a:t>
            </a:r>
            <a:r>
              <a:rPr dirty="0" sz="1400" spc="-30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91F3C"/>
                </a:solidFill>
                <a:latin typeface="Arial"/>
                <a:cs typeface="Arial"/>
              </a:rPr>
              <a:t>freely</a:t>
            </a:r>
            <a:r>
              <a:rPr dirty="0" sz="1400" spc="-40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91F3C"/>
                </a:solidFill>
                <a:latin typeface="Arial"/>
                <a:cs typeface="Arial"/>
              </a:rPr>
              <a:t>in</a:t>
            </a:r>
            <a:r>
              <a:rPr dirty="0" sz="1400" spc="-1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91F3C"/>
                </a:solidFill>
                <a:latin typeface="Arial"/>
                <a:cs typeface="Arial"/>
              </a:rPr>
              <a:t>calculations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17804" y="4375378"/>
            <a:ext cx="5726430" cy="1520190"/>
            <a:chOff x="717804" y="4375378"/>
            <a:chExt cx="5726430" cy="1520190"/>
          </a:xfrm>
        </p:grpSpPr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7804" y="4375378"/>
              <a:ext cx="5726430" cy="152019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77240" y="4434840"/>
              <a:ext cx="5577840" cy="1371600"/>
            </a:xfrm>
            <a:custGeom>
              <a:avLst/>
              <a:gdLst/>
              <a:ahLst/>
              <a:cxnLst/>
              <a:rect l="l" t="t" r="r" b="b"/>
              <a:pathLst>
                <a:path w="5577840" h="1371600">
                  <a:moveTo>
                    <a:pt x="5532120" y="0"/>
                  </a:moveTo>
                  <a:lnTo>
                    <a:pt x="45707" y="0"/>
                  </a:lnTo>
                  <a:lnTo>
                    <a:pt x="27919" y="3589"/>
                  </a:lnTo>
                  <a:lnTo>
                    <a:pt x="13390" y="13382"/>
                  </a:lnTo>
                  <a:lnTo>
                    <a:pt x="3593" y="27914"/>
                  </a:lnTo>
                  <a:lnTo>
                    <a:pt x="0" y="45720"/>
                  </a:lnTo>
                  <a:lnTo>
                    <a:pt x="0" y="1325880"/>
                  </a:lnTo>
                  <a:lnTo>
                    <a:pt x="3593" y="1343675"/>
                  </a:lnTo>
                  <a:lnTo>
                    <a:pt x="13390" y="1358207"/>
                  </a:lnTo>
                  <a:lnTo>
                    <a:pt x="27919" y="1368006"/>
                  </a:lnTo>
                  <a:lnTo>
                    <a:pt x="45707" y="1371600"/>
                  </a:lnTo>
                  <a:lnTo>
                    <a:pt x="5532120" y="1371600"/>
                  </a:lnTo>
                  <a:lnTo>
                    <a:pt x="5549925" y="1368006"/>
                  </a:lnTo>
                  <a:lnTo>
                    <a:pt x="5564457" y="1358207"/>
                  </a:lnTo>
                  <a:lnTo>
                    <a:pt x="5574250" y="1343675"/>
                  </a:lnTo>
                  <a:lnTo>
                    <a:pt x="5577840" y="1325880"/>
                  </a:lnTo>
                  <a:lnTo>
                    <a:pt x="5577840" y="45720"/>
                  </a:lnTo>
                  <a:lnTo>
                    <a:pt x="5574250" y="27914"/>
                  </a:lnTo>
                  <a:lnTo>
                    <a:pt x="5564457" y="13382"/>
                  </a:lnTo>
                  <a:lnTo>
                    <a:pt x="5549925" y="3589"/>
                  </a:lnTo>
                  <a:lnTo>
                    <a:pt x="5532120" y="0"/>
                  </a:lnTo>
                  <a:close/>
                </a:path>
              </a:pathLst>
            </a:custGeom>
            <a:solidFill>
              <a:srgbClr val="1A23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929132" y="4523613"/>
            <a:ext cx="1399540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E6ECF3"/>
                </a:solidFill>
                <a:latin typeface="Consolas"/>
                <a:cs typeface="Consolas"/>
              </a:rPr>
              <a:t>price</a:t>
            </a:r>
            <a:r>
              <a:rPr dirty="0" sz="115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15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15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150" spc="-25">
                <a:solidFill>
                  <a:srgbClr val="E6ECF3"/>
                </a:solidFill>
                <a:latin typeface="Consolas"/>
                <a:cs typeface="Consolas"/>
              </a:rPr>
              <a:t>250</a:t>
            </a:r>
            <a:endParaRPr sz="11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150">
                <a:solidFill>
                  <a:srgbClr val="E6ECF3"/>
                </a:solidFill>
                <a:latin typeface="Consolas"/>
                <a:cs typeface="Consolas"/>
              </a:rPr>
              <a:t>total</a:t>
            </a:r>
            <a:r>
              <a:rPr dirty="0" sz="115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15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150" spc="-1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150">
                <a:solidFill>
                  <a:srgbClr val="E6ECF3"/>
                </a:solidFill>
                <a:latin typeface="Consolas"/>
                <a:cs typeface="Consolas"/>
              </a:rPr>
              <a:t>price</a:t>
            </a:r>
            <a:r>
              <a:rPr dirty="0" sz="1150" spc="-1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150">
                <a:solidFill>
                  <a:srgbClr val="E6ECF3"/>
                </a:solidFill>
                <a:latin typeface="Consolas"/>
                <a:cs typeface="Consolas"/>
              </a:rPr>
              <a:t>*</a:t>
            </a:r>
            <a:r>
              <a:rPr dirty="0" sz="115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150" spc="-50">
                <a:solidFill>
                  <a:srgbClr val="E6ECF3"/>
                </a:solidFill>
                <a:latin typeface="Consolas"/>
                <a:cs typeface="Consolas"/>
              </a:rPr>
              <a:t>3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Property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IBT</a:t>
            </a:r>
            <a:r>
              <a:rPr dirty="0" spc="-35"/>
              <a:t> </a:t>
            </a:r>
            <a:r>
              <a:rPr dirty="0"/>
              <a:t>College</a:t>
            </a:r>
            <a:r>
              <a:rPr dirty="0" spc="-15"/>
              <a:t> </a:t>
            </a:r>
            <a:r>
              <a:rPr dirty="0" spc="-10"/>
              <a:t>Canada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11</a:t>
            </a:fld>
            <a:r>
              <a:rPr dirty="0"/>
              <a:t> /</a:t>
            </a:r>
            <a:r>
              <a:rPr dirty="0" spc="-10"/>
              <a:t> </a:t>
            </a:r>
            <a:r>
              <a:rPr dirty="0" spc="-25"/>
              <a:t>30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2466433" y="4523613"/>
            <a:ext cx="914400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E6ECF3"/>
                </a:solidFill>
                <a:latin typeface="Consolas"/>
                <a:cs typeface="Consolas"/>
              </a:rPr>
              <a:t>#</a:t>
            </a:r>
            <a:r>
              <a:rPr dirty="0" sz="1150" spc="-1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150">
                <a:solidFill>
                  <a:srgbClr val="E6ECF3"/>
                </a:solidFill>
                <a:latin typeface="Consolas"/>
                <a:cs typeface="Consolas"/>
              </a:rPr>
              <a:t>int</a:t>
            </a:r>
            <a:r>
              <a:rPr dirty="0" sz="1150" spc="-10">
                <a:solidFill>
                  <a:srgbClr val="E6ECF3"/>
                </a:solidFill>
                <a:latin typeface="Consolas"/>
                <a:cs typeface="Consolas"/>
              </a:rPr>
              <a:t> (ETB) </a:t>
            </a:r>
            <a:r>
              <a:rPr dirty="0" sz="1150">
                <a:solidFill>
                  <a:srgbClr val="E6ECF3"/>
                </a:solidFill>
                <a:latin typeface="Consolas"/>
                <a:cs typeface="Consolas"/>
              </a:rPr>
              <a:t>#</a:t>
            </a:r>
            <a:r>
              <a:rPr dirty="0" sz="1150" spc="-1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150">
                <a:solidFill>
                  <a:srgbClr val="E6ECF3"/>
                </a:solidFill>
                <a:latin typeface="Consolas"/>
                <a:cs typeface="Consolas"/>
              </a:rPr>
              <a:t>750</a:t>
            </a:r>
            <a:r>
              <a:rPr dirty="0" sz="1150" spc="-10">
                <a:solidFill>
                  <a:srgbClr val="E6ECF3"/>
                </a:solidFill>
                <a:latin typeface="Consolas"/>
                <a:cs typeface="Consolas"/>
              </a:rPr>
              <a:t> (int)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29132" y="4874133"/>
            <a:ext cx="261429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E6ECF3"/>
                </a:solidFill>
                <a:latin typeface="Consolas"/>
                <a:cs typeface="Consolas"/>
              </a:rPr>
              <a:t>with_tax</a:t>
            </a:r>
            <a:r>
              <a:rPr dirty="0" sz="115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15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150" spc="-1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150">
                <a:solidFill>
                  <a:srgbClr val="E6ECF3"/>
                </a:solidFill>
                <a:latin typeface="Consolas"/>
                <a:cs typeface="Consolas"/>
              </a:rPr>
              <a:t>total</a:t>
            </a:r>
            <a:r>
              <a:rPr dirty="0" sz="115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150">
                <a:solidFill>
                  <a:srgbClr val="E6ECF3"/>
                </a:solidFill>
                <a:latin typeface="Consolas"/>
                <a:cs typeface="Consolas"/>
              </a:rPr>
              <a:t>* 1.15</a:t>
            </a:r>
            <a:r>
              <a:rPr dirty="0" sz="1150" spc="-15">
                <a:solidFill>
                  <a:srgbClr val="E6ECF3"/>
                </a:solidFill>
                <a:latin typeface="Consolas"/>
                <a:cs typeface="Consolas"/>
              </a:rPr>
              <a:t>  </a:t>
            </a:r>
            <a:r>
              <a:rPr dirty="0" sz="1150">
                <a:solidFill>
                  <a:srgbClr val="E6ECF3"/>
                </a:solidFill>
                <a:latin typeface="Consolas"/>
                <a:cs typeface="Consolas"/>
              </a:rPr>
              <a:t>#</a:t>
            </a:r>
            <a:r>
              <a:rPr dirty="0" sz="1150" spc="-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150" spc="-20">
                <a:solidFill>
                  <a:srgbClr val="E6ECF3"/>
                </a:solidFill>
                <a:latin typeface="Consolas"/>
                <a:cs typeface="Consolas"/>
              </a:rPr>
              <a:t>862.5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029068" y="4491303"/>
            <a:ext cx="4366895" cy="464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Mixing an</a:t>
            </a:r>
            <a:r>
              <a:rPr dirty="0" sz="12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int</a:t>
            </a:r>
            <a:r>
              <a:rPr dirty="0" sz="12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and</a:t>
            </a:r>
            <a:r>
              <a:rPr dirty="0" sz="12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a</a:t>
            </a:r>
            <a:r>
              <a:rPr dirty="0" sz="125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float</a:t>
            </a:r>
            <a:r>
              <a:rPr dirty="0" sz="12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 b="1">
                <a:solidFill>
                  <a:srgbClr val="1A2333"/>
                </a:solidFill>
                <a:latin typeface="Arial"/>
                <a:cs typeface="Arial"/>
              </a:rPr>
              <a:t>always</a:t>
            </a:r>
            <a:r>
              <a:rPr dirty="0" sz="1250" spc="-10" b="1">
                <a:solidFill>
                  <a:srgbClr val="1A2333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1A2333"/>
                </a:solidFill>
                <a:latin typeface="Arial"/>
                <a:cs typeface="Arial"/>
              </a:rPr>
              <a:t>gives</a:t>
            </a:r>
            <a:r>
              <a:rPr dirty="0" sz="1250" spc="5" b="1">
                <a:solidFill>
                  <a:srgbClr val="1A2333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1A2333"/>
                </a:solidFill>
                <a:latin typeface="Arial"/>
                <a:cs typeface="Arial"/>
              </a:rPr>
              <a:t>a</a:t>
            </a:r>
            <a:r>
              <a:rPr dirty="0" sz="1250" spc="-20" b="1">
                <a:solidFill>
                  <a:srgbClr val="1A2333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1A2333"/>
                </a:solidFill>
                <a:latin typeface="Arial"/>
                <a:cs typeface="Arial"/>
              </a:rPr>
              <a:t>float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.</a:t>
            </a:r>
            <a:r>
              <a:rPr dirty="0" sz="1250" spc="-4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Python </a:t>
            </a:r>
            <a:r>
              <a:rPr dirty="0" sz="1250" spc="-10">
                <a:solidFill>
                  <a:srgbClr val="495468"/>
                </a:solidFill>
                <a:latin typeface="Arial MT"/>
                <a:cs typeface="Arial MT"/>
              </a:rPr>
              <a:t>widens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to</a:t>
            </a:r>
            <a:r>
              <a:rPr dirty="0" sz="12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keep</a:t>
            </a:r>
            <a:r>
              <a:rPr dirty="0" sz="12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2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decimal</a:t>
            </a:r>
            <a:r>
              <a:rPr dirty="0" sz="1250" spc="-4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95468"/>
                </a:solidFill>
                <a:latin typeface="Arial MT"/>
                <a:cs typeface="Arial MT"/>
              </a:rPr>
              <a:t>precision.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343915"/>
            <a:ext cx="367030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C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I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38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2</a:t>
            </a:r>
            <a:r>
              <a:rPr dirty="0" sz="1100" spc="38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·</a:t>
            </a:r>
            <a:r>
              <a:rPr dirty="0" sz="1100" spc="39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D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A</a:t>
            </a:r>
            <a:r>
              <a:rPr dirty="0" sz="1100" spc="-14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A</a:t>
            </a:r>
            <a:r>
              <a:rPr dirty="0" sz="1100" spc="43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Y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P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4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&amp;</a:t>
            </a:r>
            <a:r>
              <a:rPr dirty="0" sz="1100" spc="39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P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R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A</a:t>
            </a:r>
            <a:r>
              <a:rPr dirty="0" sz="1100" spc="-14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R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Strings</a:t>
            </a:r>
            <a:r>
              <a:rPr dirty="0" spc="-70"/>
              <a:t> </a:t>
            </a:r>
            <a:r>
              <a:rPr dirty="0"/>
              <a:t>&amp;</a:t>
            </a:r>
            <a:r>
              <a:rPr dirty="0" spc="-65"/>
              <a:t> </a:t>
            </a:r>
            <a:r>
              <a:rPr dirty="0" spc="-10"/>
              <a:t>f-strings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0219" y="1378965"/>
            <a:ext cx="571563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A</a:t>
            </a:r>
            <a:r>
              <a:rPr dirty="0" sz="1400" spc="-6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string</a:t>
            </a:r>
            <a:r>
              <a:rPr dirty="0" sz="14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is</a:t>
            </a:r>
            <a:r>
              <a:rPr dirty="0" sz="1400" spc="-2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text</a:t>
            </a:r>
            <a:r>
              <a:rPr dirty="0" sz="14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in</a:t>
            </a:r>
            <a:r>
              <a:rPr dirty="0" sz="1400" spc="-1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quotes.</a:t>
            </a:r>
            <a:r>
              <a:rPr dirty="0" sz="1400" spc="-4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f-strings</a:t>
            </a:r>
            <a:r>
              <a:rPr dirty="0" sz="1400" spc="-4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let</a:t>
            </a:r>
            <a:r>
              <a:rPr dirty="0" sz="1400" spc="-2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you</a:t>
            </a:r>
            <a:r>
              <a:rPr dirty="0" sz="1400" spc="-2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drop</a:t>
            </a:r>
            <a:r>
              <a:rPr dirty="0" sz="1400" spc="-4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variables</a:t>
            </a:r>
            <a:r>
              <a:rPr dirty="0" sz="1400" spc="-4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straight</a:t>
            </a:r>
            <a:r>
              <a:rPr dirty="0" sz="1400" spc="-4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into</a:t>
            </a:r>
            <a:r>
              <a:rPr dirty="0" sz="14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spc="-10" i="1">
                <a:solidFill>
                  <a:srgbClr val="495468"/>
                </a:solidFill>
                <a:latin typeface="Arial"/>
                <a:cs typeface="Arial"/>
              </a:rPr>
              <a:t>text.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174" y="1783055"/>
            <a:ext cx="6064885" cy="3778885"/>
            <a:chOff x="457174" y="1783055"/>
            <a:chExt cx="6064885" cy="377888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74" y="1783055"/>
              <a:ext cx="6064809" cy="377880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2920" y="1828799"/>
              <a:ext cx="5943600" cy="3657600"/>
            </a:xfrm>
            <a:custGeom>
              <a:avLst/>
              <a:gdLst/>
              <a:ahLst/>
              <a:cxnLst/>
              <a:rect l="l" t="t" r="r" b="b"/>
              <a:pathLst>
                <a:path w="5943600" h="3657600">
                  <a:moveTo>
                    <a:pt x="5897880" y="0"/>
                  </a:moveTo>
                  <a:lnTo>
                    <a:pt x="45720" y="0"/>
                  </a:ln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20"/>
                  </a:lnTo>
                  <a:lnTo>
                    <a:pt x="0" y="3611879"/>
                  </a:lnTo>
                  <a:lnTo>
                    <a:pt x="3593" y="3629685"/>
                  </a:lnTo>
                  <a:lnTo>
                    <a:pt x="13392" y="3644217"/>
                  </a:lnTo>
                  <a:lnTo>
                    <a:pt x="27924" y="3654010"/>
                  </a:lnTo>
                  <a:lnTo>
                    <a:pt x="45720" y="3657600"/>
                  </a:lnTo>
                  <a:lnTo>
                    <a:pt x="5897880" y="3657600"/>
                  </a:lnTo>
                  <a:lnTo>
                    <a:pt x="5915685" y="3654010"/>
                  </a:lnTo>
                  <a:lnTo>
                    <a:pt x="5930217" y="3644217"/>
                  </a:lnTo>
                  <a:lnTo>
                    <a:pt x="5940010" y="3629685"/>
                  </a:lnTo>
                  <a:lnTo>
                    <a:pt x="5943600" y="3611879"/>
                  </a:lnTo>
                  <a:lnTo>
                    <a:pt x="5943600" y="45720"/>
                  </a:lnTo>
                  <a:lnTo>
                    <a:pt x="5940010" y="27914"/>
                  </a:lnTo>
                  <a:lnTo>
                    <a:pt x="5930217" y="13382"/>
                  </a:lnTo>
                  <a:lnTo>
                    <a:pt x="5915685" y="3589"/>
                  </a:lnTo>
                  <a:lnTo>
                    <a:pt x="5897880" y="0"/>
                  </a:lnTo>
                  <a:close/>
                </a:path>
              </a:pathLst>
            </a:custGeom>
            <a:solidFill>
              <a:srgbClr val="1A23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654812" y="1916938"/>
            <a:ext cx="142176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first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"Dawit"</a:t>
            </a:r>
            <a:endParaRPr sz="12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last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50" spc="-3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"Tesfaye"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4812" y="2488819"/>
            <a:ext cx="220599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#</a:t>
            </a:r>
            <a:r>
              <a:rPr dirty="0" sz="1250" spc="-4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Joining</a:t>
            </a:r>
            <a:r>
              <a:rPr dirty="0" sz="1250" spc="-3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with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50">
                <a:solidFill>
                  <a:srgbClr val="E6ECF3"/>
                </a:solidFill>
                <a:latin typeface="Consolas"/>
                <a:cs typeface="Consolas"/>
              </a:rPr>
              <a:t>+</a:t>
            </a:r>
            <a:endParaRPr sz="12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full</a:t>
            </a:r>
            <a:r>
              <a:rPr dirty="0" sz="125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first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+</a:t>
            </a:r>
            <a:r>
              <a:rPr dirty="0" sz="125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"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"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+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20">
                <a:solidFill>
                  <a:srgbClr val="E6ECF3"/>
                </a:solidFill>
                <a:latin typeface="Consolas"/>
                <a:cs typeface="Consolas"/>
              </a:rPr>
              <a:t>last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4812" y="3060319"/>
            <a:ext cx="3167380" cy="596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139825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#</a:t>
            </a:r>
            <a:r>
              <a:rPr dirty="0" sz="1250" spc="-20">
                <a:solidFill>
                  <a:srgbClr val="E6ECF3"/>
                </a:solidFill>
                <a:latin typeface="Consolas"/>
                <a:cs typeface="Consolas"/>
              </a:rPr>
              <a:t> f-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string</a:t>
            </a:r>
            <a:r>
              <a:rPr dirty="0" sz="1250" spc="-2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—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cleaner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msg</a:t>
            </a:r>
            <a:r>
              <a:rPr dirty="0" sz="1250" spc="-4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f"Selam,</a:t>
            </a:r>
            <a:r>
              <a:rPr dirty="0" sz="1250" spc="-3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{full}!"</a:t>
            </a:r>
            <a:endParaRPr sz="12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1146175" algn="l"/>
              </a:tabLst>
            </a:pP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print(msg)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	#</a:t>
            </a:r>
            <a:r>
              <a:rPr dirty="0" sz="1250" spc="-3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Selam,</a:t>
            </a:r>
            <a:r>
              <a:rPr dirty="0" sz="1250" spc="-3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Dawit</a:t>
            </a:r>
            <a:r>
              <a:rPr dirty="0" sz="1250" spc="-3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Tesfaye!</a:t>
            </a:r>
            <a:endParaRPr sz="1250">
              <a:latin typeface="Consolas"/>
              <a:cs typeface="Consola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43071" y="1796755"/>
            <a:ext cx="5107940" cy="766445"/>
            <a:chOff x="6643071" y="1796755"/>
            <a:chExt cx="5107940" cy="76644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43071" y="1796755"/>
              <a:ext cx="5107774" cy="76589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675119" y="1828799"/>
              <a:ext cx="5013960" cy="658495"/>
            </a:xfrm>
            <a:custGeom>
              <a:avLst/>
              <a:gdLst/>
              <a:ahLst/>
              <a:cxnLst/>
              <a:rect l="l" t="t" r="r" b="b"/>
              <a:pathLst>
                <a:path w="5013959" h="658494">
                  <a:moveTo>
                    <a:pt x="494055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585215"/>
                  </a:lnTo>
                  <a:lnTo>
                    <a:pt x="5750" y="613683"/>
                  </a:lnTo>
                  <a:lnTo>
                    <a:pt x="21431" y="636936"/>
                  </a:lnTo>
                  <a:lnTo>
                    <a:pt x="44684" y="652617"/>
                  </a:lnTo>
                  <a:lnTo>
                    <a:pt x="73151" y="658367"/>
                  </a:lnTo>
                  <a:lnTo>
                    <a:pt x="4940554" y="658367"/>
                  </a:lnTo>
                  <a:lnTo>
                    <a:pt x="4969021" y="652617"/>
                  </a:lnTo>
                  <a:lnTo>
                    <a:pt x="4992274" y="636936"/>
                  </a:lnTo>
                  <a:lnTo>
                    <a:pt x="5007955" y="613683"/>
                  </a:lnTo>
                  <a:lnTo>
                    <a:pt x="5013706" y="585215"/>
                  </a:lnTo>
                  <a:lnTo>
                    <a:pt x="5013706" y="73151"/>
                  </a:lnTo>
                  <a:lnTo>
                    <a:pt x="5007955" y="44684"/>
                  </a:lnTo>
                  <a:lnTo>
                    <a:pt x="4992274" y="21431"/>
                  </a:lnTo>
                  <a:lnTo>
                    <a:pt x="4969021" y="5750"/>
                  </a:lnTo>
                  <a:lnTo>
                    <a:pt x="4940554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846189" y="2041398"/>
            <a:ext cx="54864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10" b="1">
                <a:solidFill>
                  <a:srgbClr val="1B4D8E"/>
                </a:solidFill>
                <a:latin typeface="Consolas"/>
                <a:cs typeface="Consolas"/>
              </a:rPr>
              <a:t>len(s)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629650" y="2049017"/>
            <a:ext cx="131635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Length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of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string.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615683" y="2500922"/>
            <a:ext cx="5162550" cy="807085"/>
            <a:chOff x="6615683" y="2500922"/>
            <a:chExt cx="5162550" cy="80708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15683" y="2500922"/>
              <a:ext cx="5162550" cy="80691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675119" y="2560320"/>
              <a:ext cx="5013960" cy="658495"/>
            </a:xfrm>
            <a:custGeom>
              <a:avLst/>
              <a:gdLst/>
              <a:ahLst/>
              <a:cxnLst/>
              <a:rect l="l" t="t" r="r" b="b"/>
              <a:pathLst>
                <a:path w="5013959" h="658494">
                  <a:moveTo>
                    <a:pt x="494055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585215"/>
                  </a:lnTo>
                  <a:lnTo>
                    <a:pt x="5750" y="613683"/>
                  </a:lnTo>
                  <a:lnTo>
                    <a:pt x="21431" y="636936"/>
                  </a:lnTo>
                  <a:lnTo>
                    <a:pt x="44684" y="652617"/>
                  </a:lnTo>
                  <a:lnTo>
                    <a:pt x="73151" y="658367"/>
                  </a:lnTo>
                  <a:lnTo>
                    <a:pt x="4940554" y="658367"/>
                  </a:lnTo>
                  <a:lnTo>
                    <a:pt x="4969021" y="652617"/>
                  </a:lnTo>
                  <a:lnTo>
                    <a:pt x="4992274" y="636936"/>
                  </a:lnTo>
                  <a:lnTo>
                    <a:pt x="5007955" y="613683"/>
                  </a:lnTo>
                  <a:lnTo>
                    <a:pt x="5013706" y="585215"/>
                  </a:lnTo>
                  <a:lnTo>
                    <a:pt x="5013706" y="73151"/>
                  </a:lnTo>
                  <a:lnTo>
                    <a:pt x="5007955" y="44684"/>
                  </a:lnTo>
                  <a:lnTo>
                    <a:pt x="4992274" y="21431"/>
                  </a:lnTo>
                  <a:lnTo>
                    <a:pt x="4969021" y="5750"/>
                  </a:lnTo>
                  <a:lnTo>
                    <a:pt x="4940554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846189" y="2772613"/>
            <a:ext cx="72263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10" b="1">
                <a:solidFill>
                  <a:srgbClr val="1B4D8E"/>
                </a:solidFill>
                <a:latin typeface="Consolas"/>
                <a:cs typeface="Consolas"/>
              </a:rPr>
              <a:t>.upper()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629650" y="2780233"/>
            <a:ext cx="127063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ALL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CAPS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version.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615683" y="3232442"/>
            <a:ext cx="5162550" cy="807085"/>
            <a:chOff x="6615683" y="3232442"/>
            <a:chExt cx="5162550" cy="807085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15683" y="3232442"/>
              <a:ext cx="5162550" cy="80691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675119" y="3291839"/>
              <a:ext cx="5013960" cy="658495"/>
            </a:xfrm>
            <a:custGeom>
              <a:avLst/>
              <a:gdLst/>
              <a:ahLst/>
              <a:cxnLst/>
              <a:rect l="l" t="t" r="r" b="b"/>
              <a:pathLst>
                <a:path w="5013959" h="658495">
                  <a:moveTo>
                    <a:pt x="494055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585216"/>
                  </a:lnTo>
                  <a:lnTo>
                    <a:pt x="5750" y="613683"/>
                  </a:lnTo>
                  <a:lnTo>
                    <a:pt x="21431" y="636936"/>
                  </a:lnTo>
                  <a:lnTo>
                    <a:pt x="44684" y="652617"/>
                  </a:lnTo>
                  <a:lnTo>
                    <a:pt x="73151" y="658368"/>
                  </a:lnTo>
                  <a:lnTo>
                    <a:pt x="4940554" y="658368"/>
                  </a:lnTo>
                  <a:lnTo>
                    <a:pt x="4969021" y="652617"/>
                  </a:lnTo>
                  <a:lnTo>
                    <a:pt x="4992274" y="636936"/>
                  </a:lnTo>
                  <a:lnTo>
                    <a:pt x="5007955" y="613683"/>
                  </a:lnTo>
                  <a:lnTo>
                    <a:pt x="5013706" y="585216"/>
                  </a:lnTo>
                  <a:lnTo>
                    <a:pt x="5013706" y="73151"/>
                  </a:lnTo>
                  <a:lnTo>
                    <a:pt x="5007955" y="44684"/>
                  </a:lnTo>
                  <a:lnTo>
                    <a:pt x="4992274" y="21431"/>
                  </a:lnTo>
                  <a:lnTo>
                    <a:pt x="4969021" y="5750"/>
                  </a:lnTo>
                  <a:lnTo>
                    <a:pt x="4940554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6846189" y="3504691"/>
            <a:ext cx="72199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10" b="1">
                <a:solidFill>
                  <a:srgbClr val="1B4D8E"/>
                </a:solidFill>
                <a:latin typeface="Consolas"/>
                <a:cs typeface="Consolas"/>
              </a:rPr>
              <a:t>.lower()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29650" y="3512311"/>
            <a:ext cx="141605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all</a:t>
            </a:r>
            <a:r>
              <a:rPr dirty="0" sz="115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lowercase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version.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615683" y="3963961"/>
            <a:ext cx="5162550" cy="807085"/>
            <a:chOff x="6615683" y="3963961"/>
            <a:chExt cx="5162550" cy="807085"/>
          </a:xfrm>
        </p:grpSpPr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15683" y="3963961"/>
              <a:ext cx="5162550" cy="80691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675119" y="4023359"/>
              <a:ext cx="5013960" cy="658495"/>
            </a:xfrm>
            <a:custGeom>
              <a:avLst/>
              <a:gdLst/>
              <a:ahLst/>
              <a:cxnLst/>
              <a:rect l="l" t="t" r="r" b="b"/>
              <a:pathLst>
                <a:path w="5013959" h="658495">
                  <a:moveTo>
                    <a:pt x="494055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585215"/>
                  </a:lnTo>
                  <a:lnTo>
                    <a:pt x="5750" y="613683"/>
                  </a:lnTo>
                  <a:lnTo>
                    <a:pt x="21431" y="636936"/>
                  </a:lnTo>
                  <a:lnTo>
                    <a:pt x="44684" y="652617"/>
                  </a:lnTo>
                  <a:lnTo>
                    <a:pt x="73151" y="658367"/>
                  </a:lnTo>
                  <a:lnTo>
                    <a:pt x="4940554" y="658367"/>
                  </a:lnTo>
                  <a:lnTo>
                    <a:pt x="4969021" y="652617"/>
                  </a:lnTo>
                  <a:lnTo>
                    <a:pt x="4992274" y="636936"/>
                  </a:lnTo>
                  <a:lnTo>
                    <a:pt x="5007955" y="613683"/>
                  </a:lnTo>
                  <a:lnTo>
                    <a:pt x="5013706" y="585215"/>
                  </a:lnTo>
                  <a:lnTo>
                    <a:pt x="5013706" y="73151"/>
                  </a:lnTo>
                  <a:lnTo>
                    <a:pt x="5007955" y="44684"/>
                  </a:lnTo>
                  <a:lnTo>
                    <a:pt x="4992274" y="21431"/>
                  </a:lnTo>
                  <a:lnTo>
                    <a:pt x="4969021" y="5750"/>
                  </a:lnTo>
                  <a:lnTo>
                    <a:pt x="4940554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6846189" y="4236211"/>
            <a:ext cx="72199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10" b="1">
                <a:solidFill>
                  <a:srgbClr val="1B4D8E"/>
                </a:solidFill>
                <a:latin typeface="Consolas"/>
                <a:cs typeface="Consolas"/>
              </a:rPr>
              <a:t>.strip()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29650" y="4243832"/>
            <a:ext cx="192405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Remove</a:t>
            </a:r>
            <a:r>
              <a:rPr dirty="0" sz="1150" spc="-5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surrounding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spaces.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615683" y="4695481"/>
            <a:ext cx="5162550" cy="807085"/>
            <a:chOff x="6615683" y="4695481"/>
            <a:chExt cx="5162550" cy="807085"/>
          </a:xfrm>
        </p:grpSpPr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15683" y="4695481"/>
              <a:ext cx="5162550" cy="80691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675119" y="4754879"/>
              <a:ext cx="5013960" cy="658495"/>
            </a:xfrm>
            <a:custGeom>
              <a:avLst/>
              <a:gdLst/>
              <a:ahLst/>
              <a:cxnLst/>
              <a:rect l="l" t="t" r="r" b="b"/>
              <a:pathLst>
                <a:path w="5013959" h="658495">
                  <a:moveTo>
                    <a:pt x="494055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585216"/>
                  </a:lnTo>
                  <a:lnTo>
                    <a:pt x="5750" y="613683"/>
                  </a:lnTo>
                  <a:lnTo>
                    <a:pt x="21431" y="636936"/>
                  </a:lnTo>
                  <a:lnTo>
                    <a:pt x="44684" y="652617"/>
                  </a:lnTo>
                  <a:lnTo>
                    <a:pt x="73151" y="658368"/>
                  </a:lnTo>
                  <a:lnTo>
                    <a:pt x="4940554" y="658368"/>
                  </a:lnTo>
                  <a:lnTo>
                    <a:pt x="4969021" y="652617"/>
                  </a:lnTo>
                  <a:lnTo>
                    <a:pt x="4992274" y="636936"/>
                  </a:lnTo>
                  <a:lnTo>
                    <a:pt x="5007955" y="613683"/>
                  </a:lnTo>
                  <a:lnTo>
                    <a:pt x="5013706" y="585216"/>
                  </a:lnTo>
                  <a:lnTo>
                    <a:pt x="5013706" y="73152"/>
                  </a:lnTo>
                  <a:lnTo>
                    <a:pt x="5007955" y="44684"/>
                  </a:lnTo>
                  <a:lnTo>
                    <a:pt x="4992274" y="21431"/>
                  </a:lnTo>
                  <a:lnTo>
                    <a:pt x="4969021" y="5750"/>
                  </a:lnTo>
                  <a:lnTo>
                    <a:pt x="4940554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6846189" y="4967985"/>
            <a:ext cx="72199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b="1">
                <a:solidFill>
                  <a:srgbClr val="1B4D8E"/>
                </a:solidFill>
                <a:latin typeface="Consolas"/>
                <a:cs typeface="Consolas"/>
              </a:rPr>
              <a:t>"a"</a:t>
            </a:r>
            <a:r>
              <a:rPr dirty="0" sz="1250" spc="-30" b="1">
                <a:solidFill>
                  <a:srgbClr val="1B4D8E"/>
                </a:solidFill>
                <a:latin typeface="Consolas"/>
                <a:cs typeface="Consolas"/>
              </a:rPr>
              <a:t> </a:t>
            </a:r>
            <a:r>
              <a:rPr dirty="0" sz="1250" b="1">
                <a:solidFill>
                  <a:srgbClr val="1B4D8E"/>
                </a:solidFill>
                <a:latin typeface="Consolas"/>
                <a:cs typeface="Consolas"/>
              </a:rPr>
              <a:t>in</a:t>
            </a:r>
            <a:r>
              <a:rPr dirty="0" sz="1250" spc="-25" b="1">
                <a:solidFill>
                  <a:srgbClr val="1B4D8E"/>
                </a:solidFill>
                <a:latin typeface="Consolas"/>
                <a:cs typeface="Consolas"/>
              </a:rPr>
              <a:t> </a:t>
            </a:r>
            <a:r>
              <a:rPr dirty="0" sz="1250" spc="-50" b="1">
                <a:solidFill>
                  <a:srgbClr val="1B4D8E"/>
                </a:solidFill>
                <a:latin typeface="Consolas"/>
                <a:cs typeface="Consolas"/>
              </a:rPr>
              <a:t>s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Property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IBT</a:t>
            </a:r>
            <a:r>
              <a:rPr dirty="0" spc="-35"/>
              <a:t> </a:t>
            </a:r>
            <a:r>
              <a:rPr dirty="0"/>
              <a:t>College</a:t>
            </a:r>
            <a:r>
              <a:rPr dirty="0" spc="-15"/>
              <a:t> </a:t>
            </a:r>
            <a:r>
              <a:rPr dirty="0" spc="-10"/>
              <a:t>Canada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11</a:t>
            </a:fld>
            <a:r>
              <a:rPr dirty="0"/>
              <a:t> /</a:t>
            </a:r>
            <a:r>
              <a:rPr dirty="0" spc="-10"/>
              <a:t> </a:t>
            </a:r>
            <a:r>
              <a:rPr dirty="0" spc="-25"/>
              <a:t>30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8629650" y="4975605"/>
            <a:ext cx="185928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Check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if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text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appears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inside.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343915"/>
            <a:ext cx="367030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C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I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38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2</a:t>
            </a:r>
            <a:r>
              <a:rPr dirty="0" sz="1100" spc="38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·</a:t>
            </a:r>
            <a:r>
              <a:rPr dirty="0" sz="1100" spc="39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D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A</a:t>
            </a:r>
            <a:r>
              <a:rPr dirty="0" sz="1100" spc="-14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A</a:t>
            </a:r>
            <a:r>
              <a:rPr dirty="0" sz="1100" spc="43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Y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P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4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&amp;</a:t>
            </a:r>
            <a:r>
              <a:rPr dirty="0" sz="1100" spc="39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P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R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A</a:t>
            </a:r>
            <a:r>
              <a:rPr dirty="0" sz="1100" spc="-14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R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/>
              <a:t>Booleans,</a:t>
            </a:r>
            <a:r>
              <a:rPr dirty="0" sz="2700" spc="-65"/>
              <a:t> </a:t>
            </a:r>
            <a:r>
              <a:rPr dirty="0" sz="2700"/>
              <a:t>None</a:t>
            </a:r>
            <a:r>
              <a:rPr dirty="0" sz="2700" spc="-65"/>
              <a:t> </a:t>
            </a:r>
            <a:r>
              <a:rPr dirty="0" sz="2700"/>
              <a:t>&amp;</a:t>
            </a:r>
            <a:r>
              <a:rPr dirty="0" sz="2700" spc="-75"/>
              <a:t> </a:t>
            </a:r>
            <a:r>
              <a:rPr dirty="0" sz="2700" spc="-20"/>
              <a:t>Type</a:t>
            </a:r>
            <a:r>
              <a:rPr dirty="0" sz="2700" spc="-60"/>
              <a:t> </a:t>
            </a:r>
            <a:r>
              <a:rPr dirty="0" sz="2700" spc="-10"/>
              <a:t>Conversion</a:t>
            </a:r>
            <a:endParaRPr sz="2700"/>
          </a:p>
        </p:txBody>
      </p:sp>
      <p:grpSp>
        <p:nvGrpSpPr>
          <p:cNvPr id="4" name="object 4"/>
          <p:cNvGrpSpPr/>
          <p:nvPr/>
        </p:nvGrpSpPr>
        <p:grpSpPr>
          <a:xfrm>
            <a:off x="470904" y="1659478"/>
            <a:ext cx="5580380" cy="1936750"/>
            <a:chOff x="470904" y="1659478"/>
            <a:chExt cx="5580380" cy="19367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904" y="1659478"/>
              <a:ext cx="5580148" cy="193647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2920" y="1691640"/>
              <a:ext cx="5486400" cy="1828800"/>
            </a:xfrm>
            <a:custGeom>
              <a:avLst/>
              <a:gdLst/>
              <a:ahLst/>
              <a:cxnLst/>
              <a:rect l="l" t="t" r="r" b="b"/>
              <a:pathLst>
                <a:path w="5486400" h="1828800">
                  <a:moveTo>
                    <a:pt x="5413247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1755648"/>
                  </a:lnTo>
                  <a:lnTo>
                    <a:pt x="5748" y="1784115"/>
                  </a:lnTo>
                  <a:lnTo>
                    <a:pt x="21426" y="1807368"/>
                  </a:lnTo>
                  <a:lnTo>
                    <a:pt x="44678" y="1823049"/>
                  </a:lnTo>
                  <a:lnTo>
                    <a:pt x="73151" y="1828800"/>
                  </a:lnTo>
                  <a:lnTo>
                    <a:pt x="5413247" y="1828800"/>
                  </a:lnTo>
                  <a:lnTo>
                    <a:pt x="5441715" y="1823049"/>
                  </a:lnTo>
                  <a:lnTo>
                    <a:pt x="5464968" y="1807368"/>
                  </a:lnTo>
                  <a:lnTo>
                    <a:pt x="5480649" y="1784115"/>
                  </a:lnTo>
                  <a:lnTo>
                    <a:pt x="5486400" y="1755648"/>
                  </a:lnTo>
                  <a:lnTo>
                    <a:pt x="5486400" y="73151"/>
                  </a:lnTo>
                  <a:lnTo>
                    <a:pt x="5480649" y="44684"/>
                  </a:lnTo>
                  <a:lnTo>
                    <a:pt x="5464968" y="21431"/>
                  </a:lnTo>
                  <a:lnTo>
                    <a:pt x="5441715" y="5750"/>
                  </a:lnTo>
                  <a:lnTo>
                    <a:pt x="5413247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18819" y="1881886"/>
            <a:ext cx="149352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091F3C"/>
                </a:solidFill>
                <a:latin typeface="Arial"/>
                <a:cs typeface="Arial"/>
              </a:rPr>
              <a:t>Booleans</a:t>
            </a:r>
            <a:r>
              <a:rPr dirty="0" sz="1400" spc="-60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91F3C"/>
                </a:solidFill>
                <a:latin typeface="Arial"/>
                <a:cs typeface="Arial"/>
              </a:rPr>
              <a:t>&amp;</a:t>
            </a:r>
            <a:r>
              <a:rPr dirty="0" sz="1400" spc="-2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091F3C"/>
                </a:solidFill>
                <a:latin typeface="Arial"/>
                <a:cs typeface="Arial"/>
              </a:rPr>
              <a:t>None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72083" y="2180844"/>
            <a:ext cx="5177790" cy="1291590"/>
            <a:chOff x="672083" y="2180844"/>
            <a:chExt cx="5177790" cy="129159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2083" y="2180844"/>
              <a:ext cx="5177790" cy="129158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31519" y="2240280"/>
              <a:ext cx="5029200" cy="1143000"/>
            </a:xfrm>
            <a:custGeom>
              <a:avLst/>
              <a:gdLst/>
              <a:ahLst/>
              <a:cxnLst/>
              <a:rect l="l" t="t" r="r" b="b"/>
              <a:pathLst>
                <a:path w="5029200" h="1143000">
                  <a:moveTo>
                    <a:pt x="4983480" y="0"/>
                  </a:moveTo>
                  <a:lnTo>
                    <a:pt x="45720" y="0"/>
                  </a:ln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20"/>
                  </a:lnTo>
                  <a:lnTo>
                    <a:pt x="0" y="1097280"/>
                  </a:lnTo>
                  <a:lnTo>
                    <a:pt x="3593" y="1115085"/>
                  </a:lnTo>
                  <a:lnTo>
                    <a:pt x="13392" y="1129617"/>
                  </a:lnTo>
                  <a:lnTo>
                    <a:pt x="27924" y="1139410"/>
                  </a:lnTo>
                  <a:lnTo>
                    <a:pt x="45720" y="1143000"/>
                  </a:lnTo>
                  <a:lnTo>
                    <a:pt x="4983480" y="1143000"/>
                  </a:lnTo>
                  <a:lnTo>
                    <a:pt x="5001285" y="1139410"/>
                  </a:lnTo>
                  <a:lnTo>
                    <a:pt x="5015817" y="1129617"/>
                  </a:lnTo>
                  <a:lnTo>
                    <a:pt x="5025610" y="1115085"/>
                  </a:lnTo>
                  <a:lnTo>
                    <a:pt x="5029200" y="1097280"/>
                  </a:lnTo>
                  <a:lnTo>
                    <a:pt x="5029200" y="45720"/>
                  </a:lnTo>
                  <a:lnTo>
                    <a:pt x="5025610" y="27914"/>
                  </a:lnTo>
                  <a:lnTo>
                    <a:pt x="5015817" y="13382"/>
                  </a:lnTo>
                  <a:lnTo>
                    <a:pt x="5001285" y="3589"/>
                  </a:lnTo>
                  <a:lnTo>
                    <a:pt x="4983480" y="0"/>
                  </a:lnTo>
                  <a:close/>
                </a:path>
              </a:pathLst>
            </a:custGeom>
            <a:solidFill>
              <a:srgbClr val="1A23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883411" y="2328798"/>
            <a:ext cx="15386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is_enrolled</a:t>
            </a:r>
            <a:r>
              <a:rPr dirty="0" sz="120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00" spc="-3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True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has_paid</a:t>
            </a:r>
            <a:r>
              <a:rPr dirty="0" sz="120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0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False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balance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0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None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81478" y="2694559"/>
            <a:ext cx="12020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#</a:t>
            </a:r>
            <a:r>
              <a:rPr dirty="0" sz="120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no</a:t>
            </a:r>
            <a:r>
              <a:rPr dirty="0" sz="120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value</a:t>
            </a:r>
            <a:r>
              <a:rPr dirty="0" sz="1200" spc="-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 spc="-25">
                <a:solidFill>
                  <a:srgbClr val="E6ECF3"/>
                </a:solidFill>
                <a:latin typeface="Consolas"/>
                <a:cs typeface="Consolas"/>
              </a:rPr>
              <a:t>yet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5940" y="3621815"/>
            <a:ext cx="5163820" cy="46545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250" spc="-20" b="1">
                <a:solidFill>
                  <a:srgbClr val="2D8A56"/>
                </a:solidFill>
                <a:latin typeface="Consolas"/>
                <a:cs typeface="Consolas"/>
              </a:rPr>
              <a:t>True</a:t>
            </a:r>
            <a:r>
              <a:rPr dirty="0" sz="1250" spc="-335" b="1">
                <a:solidFill>
                  <a:srgbClr val="2D8A56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/</a:t>
            </a:r>
            <a:r>
              <a:rPr dirty="0" sz="1250" spc="-4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 spc="-20" b="1">
                <a:solidFill>
                  <a:srgbClr val="B33A3A"/>
                </a:solidFill>
                <a:latin typeface="Consolas"/>
                <a:cs typeface="Consolas"/>
              </a:rPr>
              <a:t>False</a:t>
            </a:r>
            <a:r>
              <a:rPr dirty="0" sz="1250" spc="-340" b="1">
                <a:solidFill>
                  <a:srgbClr val="B33A3A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are</a:t>
            </a:r>
            <a:r>
              <a:rPr dirty="0" sz="12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2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only booleans.</a:t>
            </a:r>
            <a:r>
              <a:rPr dirty="0" sz="1250" spc="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 spc="-20" b="1">
                <a:solidFill>
                  <a:srgbClr val="6B3E9F"/>
                </a:solidFill>
                <a:latin typeface="Consolas"/>
                <a:cs typeface="Consolas"/>
              </a:rPr>
              <a:t>None</a:t>
            </a:r>
            <a:r>
              <a:rPr dirty="0" sz="1250" spc="-330" b="1">
                <a:solidFill>
                  <a:srgbClr val="6B3E9F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means "no</a:t>
            </a:r>
            <a:r>
              <a:rPr dirty="0" sz="12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value</a:t>
            </a:r>
            <a:r>
              <a:rPr dirty="0" sz="1250" spc="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yet" —</a:t>
            </a:r>
            <a:r>
              <a:rPr dirty="0" sz="12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95468"/>
                </a:solidFill>
                <a:latin typeface="Arial MT"/>
                <a:cs typeface="Arial MT"/>
              </a:rPr>
              <a:t>useful</a:t>
            </a: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before</a:t>
            </a:r>
            <a:r>
              <a:rPr dirty="0" sz="12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something</a:t>
            </a:r>
            <a:r>
              <a:rPr dirty="0" sz="12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is</a:t>
            </a:r>
            <a:r>
              <a:rPr dirty="0" sz="12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 spc="-20">
                <a:solidFill>
                  <a:srgbClr val="495468"/>
                </a:solidFill>
                <a:latin typeface="Arial MT"/>
                <a:cs typeface="Arial MT"/>
              </a:rPr>
              <a:t>set.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368753" y="1659615"/>
            <a:ext cx="5382260" cy="2988310"/>
            <a:chOff x="6368753" y="1659615"/>
            <a:chExt cx="5382260" cy="298831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68753" y="1659615"/>
              <a:ext cx="5382090" cy="298783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400800" y="1691640"/>
              <a:ext cx="5288280" cy="2880360"/>
            </a:xfrm>
            <a:custGeom>
              <a:avLst/>
              <a:gdLst/>
              <a:ahLst/>
              <a:cxnLst/>
              <a:rect l="l" t="t" r="r" b="b"/>
              <a:pathLst>
                <a:path w="5288280" h="2880360">
                  <a:moveTo>
                    <a:pt x="521487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2807208"/>
                  </a:lnTo>
                  <a:lnTo>
                    <a:pt x="5750" y="2835675"/>
                  </a:lnTo>
                  <a:lnTo>
                    <a:pt x="21431" y="2858928"/>
                  </a:lnTo>
                  <a:lnTo>
                    <a:pt x="44684" y="2874609"/>
                  </a:lnTo>
                  <a:lnTo>
                    <a:pt x="73151" y="2880360"/>
                  </a:lnTo>
                  <a:lnTo>
                    <a:pt x="5214874" y="2880360"/>
                  </a:lnTo>
                  <a:lnTo>
                    <a:pt x="5243341" y="2874609"/>
                  </a:lnTo>
                  <a:lnTo>
                    <a:pt x="5266594" y="2858928"/>
                  </a:lnTo>
                  <a:lnTo>
                    <a:pt x="5282275" y="2835675"/>
                  </a:lnTo>
                  <a:lnTo>
                    <a:pt x="5288026" y="2807208"/>
                  </a:lnTo>
                  <a:lnTo>
                    <a:pt x="5288026" y="73151"/>
                  </a:lnTo>
                  <a:lnTo>
                    <a:pt x="5282275" y="44684"/>
                  </a:lnTo>
                  <a:lnTo>
                    <a:pt x="5266594" y="21431"/>
                  </a:lnTo>
                  <a:lnTo>
                    <a:pt x="5243341" y="5750"/>
                  </a:lnTo>
                  <a:lnTo>
                    <a:pt x="5214874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617589" y="1881886"/>
            <a:ext cx="220916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 b="1">
                <a:solidFill>
                  <a:srgbClr val="091F3C"/>
                </a:solidFill>
                <a:latin typeface="Arial"/>
                <a:cs typeface="Arial"/>
              </a:rPr>
              <a:t>Type</a:t>
            </a:r>
            <a:r>
              <a:rPr dirty="0" sz="1400" spc="-5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91F3C"/>
                </a:solidFill>
                <a:latin typeface="Arial"/>
                <a:cs typeface="Arial"/>
              </a:rPr>
              <a:t>conversion</a:t>
            </a:r>
            <a:r>
              <a:rPr dirty="0" sz="1400" spc="-90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91F3C"/>
                </a:solidFill>
                <a:latin typeface="Arial"/>
                <a:cs typeface="Arial"/>
              </a:rPr>
              <a:t>(casting)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569964" y="2180844"/>
            <a:ext cx="5040630" cy="2343150"/>
            <a:chOff x="6569964" y="2180844"/>
            <a:chExt cx="5040630" cy="2343150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69964" y="2180844"/>
              <a:ext cx="5040630" cy="234314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629400" y="2240280"/>
              <a:ext cx="4892040" cy="2194560"/>
            </a:xfrm>
            <a:custGeom>
              <a:avLst/>
              <a:gdLst/>
              <a:ahLst/>
              <a:cxnLst/>
              <a:rect l="l" t="t" r="r" b="b"/>
              <a:pathLst>
                <a:path w="4892040" h="2194560">
                  <a:moveTo>
                    <a:pt x="4846320" y="0"/>
                  </a:moveTo>
                  <a:lnTo>
                    <a:pt x="45720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2148840"/>
                  </a:lnTo>
                  <a:lnTo>
                    <a:pt x="3589" y="2166645"/>
                  </a:lnTo>
                  <a:lnTo>
                    <a:pt x="13382" y="2181177"/>
                  </a:lnTo>
                  <a:lnTo>
                    <a:pt x="27914" y="2190970"/>
                  </a:lnTo>
                  <a:lnTo>
                    <a:pt x="45720" y="2194560"/>
                  </a:lnTo>
                  <a:lnTo>
                    <a:pt x="4846320" y="2194560"/>
                  </a:lnTo>
                  <a:lnTo>
                    <a:pt x="4864125" y="2190970"/>
                  </a:lnTo>
                  <a:lnTo>
                    <a:pt x="4878657" y="2181177"/>
                  </a:lnTo>
                  <a:lnTo>
                    <a:pt x="4888450" y="2166645"/>
                  </a:lnTo>
                  <a:lnTo>
                    <a:pt x="4892040" y="2148840"/>
                  </a:lnTo>
                  <a:lnTo>
                    <a:pt x="4892040" y="45720"/>
                  </a:lnTo>
                  <a:lnTo>
                    <a:pt x="4888450" y="27914"/>
                  </a:lnTo>
                  <a:lnTo>
                    <a:pt x="4878657" y="13382"/>
                  </a:lnTo>
                  <a:lnTo>
                    <a:pt x="4864125" y="3589"/>
                  </a:lnTo>
                  <a:lnTo>
                    <a:pt x="4846320" y="0"/>
                  </a:lnTo>
                  <a:close/>
                </a:path>
              </a:pathLst>
            </a:custGeom>
            <a:solidFill>
              <a:srgbClr val="1A23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782181" y="2328798"/>
            <a:ext cx="16236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age_text</a:t>
            </a:r>
            <a:r>
              <a:rPr dirty="0" sz="120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0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"24"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age</a:t>
            </a:r>
            <a:r>
              <a:rPr dirty="0" sz="120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0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int(age_text)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715527" y="2511678"/>
            <a:ext cx="3625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# </a:t>
            </a:r>
            <a:r>
              <a:rPr dirty="0" sz="1200" spc="-25">
                <a:solidFill>
                  <a:srgbClr val="E6ECF3"/>
                </a:solidFill>
                <a:latin typeface="Consolas"/>
                <a:cs typeface="Consolas"/>
              </a:rPr>
              <a:t>24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82181" y="2877439"/>
            <a:ext cx="170751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price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 float("250")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label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 str(750)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715527" y="2877439"/>
            <a:ext cx="6140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# 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250.0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# 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"750"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782181" y="3426078"/>
            <a:ext cx="25469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#</a:t>
            </a:r>
            <a:r>
              <a:rPr dirty="0" sz="1200" spc="-3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input()</a:t>
            </a:r>
            <a:r>
              <a:rPr dirty="0" sz="120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always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returns</a:t>
            </a:r>
            <a:r>
              <a:rPr dirty="0" sz="120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text!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02919" y="4800600"/>
            <a:ext cx="11186160" cy="1097280"/>
          </a:xfrm>
          <a:custGeom>
            <a:avLst/>
            <a:gdLst/>
            <a:ahLst/>
            <a:cxnLst/>
            <a:rect l="l" t="t" r="r" b="b"/>
            <a:pathLst>
              <a:path w="11186160" h="1097279">
                <a:moveTo>
                  <a:pt x="11131041" y="0"/>
                </a:moveTo>
                <a:lnTo>
                  <a:pt x="54864" y="0"/>
                </a:lnTo>
                <a:lnTo>
                  <a:pt x="33507" y="4304"/>
                </a:lnTo>
                <a:lnTo>
                  <a:pt x="16068" y="16049"/>
                </a:lnTo>
                <a:lnTo>
                  <a:pt x="4311" y="33486"/>
                </a:lnTo>
                <a:lnTo>
                  <a:pt x="0" y="54863"/>
                </a:lnTo>
                <a:lnTo>
                  <a:pt x="0" y="1042416"/>
                </a:lnTo>
                <a:lnTo>
                  <a:pt x="4311" y="1063772"/>
                </a:lnTo>
                <a:lnTo>
                  <a:pt x="16068" y="1081211"/>
                </a:lnTo>
                <a:lnTo>
                  <a:pt x="33507" y="1092968"/>
                </a:lnTo>
                <a:lnTo>
                  <a:pt x="54864" y="1097280"/>
                </a:lnTo>
                <a:lnTo>
                  <a:pt x="11131041" y="1097280"/>
                </a:lnTo>
                <a:lnTo>
                  <a:pt x="11152366" y="1092968"/>
                </a:lnTo>
                <a:lnTo>
                  <a:pt x="11169808" y="1081211"/>
                </a:lnTo>
                <a:lnTo>
                  <a:pt x="11181584" y="1063772"/>
                </a:lnTo>
                <a:lnTo>
                  <a:pt x="11185906" y="1042416"/>
                </a:lnTo>
                <a:lnTo>
                  <a:pt x="11185906" y="54863"/>
                </a:lnTo>
                <a:lnTo>
                  <a:pt x="11181584" y="33486"/>
                </a:lnTo>
                <a:lnTo>
                  <a:pt x="11169808" y="16049"/>
                </a:lnTo>
                <a:lnTo>
                  <a:pt x="11152366" y="4304"/>
                </a:lnTo>
                <a:lnTo>
                  <a:pt x="11131041" y="0"/>
                </a:lnTo>
                <a:close/>
              </a:path>
            </a:pathLst>
          </a:custGeom>
          <a:solidFill>
            <a:srgbClr val="FFF7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764540" y="5237226"/>
            <a:ext cx="1008570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b="1">
                <a:solidFill>
                  <a:srgbClr val="6B530F"/>
                </a:solidFill>
                <a:latin typeface="Arial"/>
                <a:cs typeface="Arial"/>
              </a:rPr>
              <a:t>Common</a:t>
            </a:r>
            <a:r>
              <a:rPr dirty="0" sz="1250" spc="-65" b="1">
                <a:solidFill>
                  <a:srgbClr val="6B530F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6B530F"/>
                </a:solidFill>
                <a:latin typeface="Arial"/>
                <a:cs typeface="Arial"/>
              </a:rPr>
              <a:t>bug:</a:t>
            </a:r>
            <a:r>
              <a:rPr dirty="0" sz="1250" spc="305" b="1">
                <a:solidFill>
                  <a:srgbClr val="6B530F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B530F"/>
                </a:solidFill>
                <a:latin typeface="Arial MT"/>
                <a:cs typeface="Arial MT"/>
              </a:rPr>
              <a:t>input()</a:t>
            </a:r>
            <a:r>
              <a:rPr dirty="0" sz="1250" spc="-2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6B530F"/>
                </a:solidFill>
                <a:latin typeface="Arial MT"/>
                <a:cs typeface="Arial MT"/>
              </a:rPr>
              <a:t>gives</a:t>
            </a:r>
            <a:r>
              <a:rPr dirty="0" sz="1250" spc="-1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6B530F"/>
                </a:solidFill>
                <a:latin typeface="Arial MT"/>
                <a:cs typeface="Arial MT"/>
              </a:rPr>
              <a:t>you a</a:t>
            </a:r>
            <a:r>
              <a:rPr dirty="0" sz="1250" spc="-1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6B530F"/>
                </a:solidFill>
                <a:latin typeface="Arial MT"/>
                <a:cs typeface="Arial MT"/>
              </a:rPr>
              <a:t>string,</a:t>
            </a:r>
            <a:r>
              <a:rPr dirty="0" sz="1250" spc="-2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6B530F"/>
                </a:solidFill>
                <a:latin typeface="Arial MT"/>
                <a:cs typeface="Arial MT"/>
              </a:rPr>
              <a:t>even</a:t>
            </a:r>
            <a:r>
              <a:rPr dirty="0" sz="1250" spc="1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6B530F"/>
                </a:solidFill>
                <a:latin typeface="Arial MT"/>
                <a:cs typeface="Arial MT"/>
              </a:rPr>
              <a:t>for</a:t>
            </a:r>
            <a:r>
              <a:rPr dirty="0" sz="1250" spc="-1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6B530F"/>
                </a:solidFill>
                <a:latin typeface="Arial MT"/>
                <a:cs typeface="Arial MT"/>
              </a:rPr>
              <a:t>numbers.</a:t>
            </a:r>
            <a:r>
              <a:rPr dirty="0" sz="1250" spc="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250" b="1">
                <a:solidFill>
                  <a:srgbClr val="6B530F"/>
                </a:solidFill>
                <a:latin typeface="Consolas"/>
                <a:cs typeface="Consolas"/>
              </a:rPr>
              <a:t>"24"</a:t>
            </a:r>
            <a:r>
              <a:rPr dirty="0" sz="1250" spc="-35" b="1">
                <a:solidFill>
                  <a:srgbClr val="6B530F"/>
                </a:solidFill>
                <a:latin typeface="Consolas"/>
                <a:cs typeface="Consolas"/>
              </a:rPr>
              <a:t> </a:t>
            </a:r>
            <a:r>
              <a:rPr dirty="0" sz="1250" b="1">
                <a:solidFill>
                  <a:srgbClr val="6B530F"/>
                </a:solidFill>
                <a:latin typeface="Consolas"/>
                <a:cs typeface="Consolas"/>
              </a:rPr>
              <a:t>+</a:t>
            </a:r>
            <a:r>
              <a:rPr dirty="0" sz="1250" spc="-50" b="1">
                <a:solidFill>
                  <a:srgbClr val="6B530F"/>
                </a:solidFill>
                <a:latin typeface="Consolas"/>
                <a:cs typeface="Consolas"/>
              </a:rPr>
              <a:t> </a:t>
            </a:r>
            <a:r>
              <a:rPr dirty="0" sz="1250" spc="-10" b="1">
                <a:solidFill>
                  <a:srgbClr val="6B530F"/>
                </a:solidFill>
                <a:latin typeface="Consolas"/>
                <a:cs typeface="Consolas"/>
              </a:rPr>
              <a:t>1</a:t>
            </a:r>
            <a:r>
              <a:rPr dirty="0" sz="1250" spc="-330" b="1">
                <a:solidFill>
                  <a:srgbClr val="6B530F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6B530F"/>
                </a:solidFill>
                <a:latin typeface="Arial MT"/>
                <a:cs typeface="Arial MT"/>
              </a:rPr>
              <a:t>is</a:t>
            </a:r>
            <a:r>
              <a:rPr dirty="0" sz="1250" spc="-2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6B530F"/>
                </a:solidFill>
                <a:latin typeface="Arial MT"/>
                <a:cs typeface="Arial MT"/>
              </a:rPr>
              <a:t>an</a:t>
            </a:r>
            <a:r>
              <a:rPr dirty="0" sz="1250" spc="-1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6B530F"/>
                </a:solidFill>
                <a:latin typeface="Arial MT"/>
                <a:cs typeface="Arial MT"/>
              </a:rPr>
              <a:t>error</a:t>
            </a:r>
            <a:r>
              <a:rPr dirty="0" sz="1250" spc="-3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6B530F"/>
                </a:solidFill>
                <a:latin typeface="Arial MT"/>
                <a:cs typeface="Arial MT"/>
              </a:rPr>
              <a:t>—</a:t>
            </a:r>
            <a:r>
              <a:rPr dirty="0" sz="1250" spc="-2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6B530F"/>
                </a:solidFill>
                <a:latin typeface="Arial MT"/>
                <a:cs typeface="Arial MT"/>
              </a:rPr>
              <a:t>you must</a:t>
            </a:r>
            <a:r>
              <a:rPr dirty="0" sz="1250" spc="-2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6B530F"/>
                </a:solidFill>
                <a:latin typeface="Arial MT"/>
                <a:cs typeface="Arial MT"/>
              </a:rPr>
              <a:t>convert first</a:t>
            </a:r>
            <a:r>
              <a:rPr dirty="0" sz="1250" spc="-2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6B530F"/>
                </a:solidFill>
                <a:latin typeface="Arial MT"/>
                <a:cs typeface="Arial MT"/>
              </a:rPr>
              <a:t>with </a:t>
            </a:r>
            <a:r>
              <a:rPr dirty="0" sz="1250" spc="-20" b="1">
                <a:solidFill>
                  <a:srgbClr val="6B530F"/>
                </a:solidFill>
                <a:latin typeface="Consolas"/>
                <a:cs typeface="Consolas"/>
              </a:rPr>
              <a:t>int(...)</a:t>
            </a:r>
            <a:r>
              <a:rPr dirty="0" sz="1250" spc="-320" b="1">
                <a:solidFill>
                  <a:srgbClr val="6B530F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6B530F"/>
                </a:solidFill>
                <a:latin typeface="Arial MT"/>
                <a:cs typeface="Arial MT"/>
              </a:rPr>
              <a:t>before</a:t>
            </a:r>
            <a:r>
              <a:rPr dirty="0" sz="1250" spc="-1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6B530F"/>
                </a:solidFill>
                <a:latin typeface="Arial MT"/>
                <a:cs typeface="Arial MT"/>
              </a:rPr>
              <a:t>doing </a:t>
            </a:r>
            <a:r>
              <a:rPr dirty="0" sz="1250" spc="-10">
                <a:solidFill>
                  <a:srgbClr val="6B530F"/>
                </a:solidFill>
                <a:latin typeface="Arial MT"/>
                <a:cs typeface="Arial MT"/>
              </a:rPr>
              <a:t>maths.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Property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IBT</a:t>
            </a:r>
            <a:r>
              <a:rPr dirty="0" spc="-35"/>
              <a:t> </a:t>
            </a:r>
            <a:r>
              <a:rPr dirty="0"/>
              <a:t>College</a:t>
            </a:r>
            <a:r>
              <a:rPr dirty="0" spc="-15"/>
              <a:t> </a:t>
            </a:r>
            <a:r>
              <a:rPr dirty="0" spc="-10"/>
              <a:t>Canada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11</a:t>
            </a:fld>
            <a:r>
              <a:rPr dirty="0"/>
              <a:t> /</a:t>
            </a:r>
            <a:r>
              <a:rPr dirty="0" spc="-10"/>
              <a:t> </a:t>
            </a:r>
            <a:r>
              <a:rPr dirty="0" spc="-25"/>
              <a:t>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343915"/>
            <a:ext cx="367030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C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I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38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2</a:t>
            </a:r>
            <a:r>
              <a:rPr dirty="0" sz="1100" spc="38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·</a:t>
            </a:r>
            <a:r>
              <a:rPr dirty="0" sz="1100" spc="39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D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A</a:t>
            </a:r>
            <a:r>
              <a:rPr dirty="0" sz="1100" spc="-14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A</a:t>
            </a:r>
            <a:r>
              <a:rPr dirty="0" sz="1100" spc="43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Y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P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4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&amp;</a:t>
            </a:r>
            <a:r>
              <a:rPr dirty="0" sz="1100" spc="39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P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R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A</a:t>
            </a:r>
            <a:r>
              <a:rPr dirty="0" sz="1100" spc="-14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R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Arithmetic</a:t>
            </a:r>
            <a:r>
              <a:rPr dirty="0" spc="-15"/>
              <a:t> </a:t>
            </a:r>
            <a:r>
              <a:rPr dirty="0" spc="-10"/>
              <a:t>Operators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70867" y="1659298"/>
            <a:ext cx="5504180" cy="949325"/>
            <a:chOff x="470867" y="1659298"/>
            <a:chExt cx="5504180" cy="9493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67" y="1659298"/>
              <a:ext cx="5504023" cy="94918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2919" y="1691639"/>
              <a:ext cx="5410200" cy="841375"/>
            </a:xfrm>
            <a:custGeom>
              <a:avLst/>
              <a:gdLst/>
              <a:ahLst/>
              <a:cxnLst/>
              <a:rect l="l" t="t" r="r" b="b"/>
              <a:pathLst>
                <a:path w="5410200" h="841375">
                  <a:moveTo>
                    <a:pt x="533692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768096"/>
                  </a:lnTo>
                  <a:lnTo>
                    <a:pt x="5748" y="796563"/>
                  </a:lnTo>
                  <a:lnTo>
                    <a:pt x="21426" y="819816"/>
                  </a:lnTo>
                  <a:lnTo>
                    <a:pt x="44678" y="835497"/>
                  </a:lnTo>
                  <a:lnTo>
                    <a:pt x="73151" y="841248"/>
                  </a:lnTo>
                  <a:lnTo>
                    <a:pt x="5336920" y="841248"/>
                  </a:lnTo>
                  <a:lnTo>
                    <a:pt x="5365388" y="835497"/>
                  </a:lnTo>
                  <a:lnTo>
                    <a:pt x="5388641" y="819816"/>
                  </a:lnTo>
                  <a:lnTo>
                    <a:pt x="5404322" y="796563"/>
                  </a:lnTo>
                  <a:lnTo>
                    <a:pt x="5410072" y="768096"/>
                  </a:lnTo>
                  <a:lnTo>
                    <a:pt x="5410072" y="73151"/>
                  </a:lnTo>
                  <a:lnTo>
                    <a:pt x="5404322" y="44684"/>
                  </a:lnTo>
                  <a:lnTo>
                    <a:pt x="5388641" y="21431"/>
                  </a:lnTo>
                  <a:lnTo>
                    <a:pt x="5365388" y="5750"/>
                  </a:lnTo>
                  <a:lnTo>
                    <a:pt x="533692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85799" y="1883663"/>
              <a:ext cx="777240" cy="457200"/>
            </a:xfrm>
            <a:custGeom>
              <a:avLst/>
              <a:gdLst/>
              <a:ahLst/>
              <a:cxnLst/>
              <a:rect l="l" t="t" r="r" b="b"/>
              <a:pathLst>
                <a:path w="777240" h="457200">
                  <a:moveTo>
                    <a:pt x="722376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402336"/>
                  </a:lnTo>
                  <a:lnTo>
                    <a:pt x="4311" y="423713"/>
                  </a:lnTo>
                  <a:lnTo>
                    <a:pt x="16068" y="441150"/>
                  </a:lnTo>
                  <a:lnTo>
                    <a:pt x="33507" y="452895"/>
                  </a:lnTo>
                  <a:lnTo>
                    <a:pt x="54864" y="457200"/>
                  </a:lnTo>
                  <a:lnTo>
                    <a:pt x="722376" y="457200"/>
                  </a:lnTo>
                  <a:lnTo>
                    <a:pt x="743753" y="452895"/>
                  </a:lnTo>
                  <a:lnTo>
                    <a:pt x="761190" y="441150"/>
                  </a:lnTo>
                  <a:lnTo>
                    <a:pt x="772935" y="423713"/>
                  </a:lnTo>
                  <a:lnTo>
                    <a:pt x="777240" y="402336"/>
                  </a:lnTo>
                  <a:lnTo>
                    <a:pt x="777240" y="54863"/>
                  </a:lnTo>
                  <a:lnTo>
                    <a:pt x="772935" y="33486"/>
                  </a:lnTo>
                  <a:lnTo>
                    <a:pt x="761190" y="16049"/>
                  </a:lnTo>
                  <a:lnTo>
                    <a:pt x="743753" y="4304"/>
                  </a:lnTo>
                  <a:lnTo>
                    <a:pt x="722376" y="0"/>
                  </a:lnTo>
                  <a:close/>
                </a:path>
              </a:pathLst>
            </a:custGeom>
            <a:solidFill>
              <a:srgbClr val="1B4D8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05941" y="1965401"/>
            <a:ext cx="1371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Consolas"/>
                <a:cs typeface="Consolas"/>
              </a:rPr>
              <a:t>+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7753" y="1881886"/>
            <a:ext cx="949325" cy="522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091F3C"/>
                </a:solidFill>
                <a:latin typeface="Arial"/>
                <a:cs typeface="Arial"/>
              </a:rPr>
              <a:t>Addition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dirty="0" sz="1200">
                <a:solidFill>
                  <a:srgbClr val="1B7979"/>
                </a:solidFill>
                <a:latin typeface="Consolas"/>
                <a:cs typeface="Consolas"/>
              </a:rPr>
              <a:t>5</a:t>
            </a:r>
            <a:r>
              <a:rPr dirty="0" sz="1200" spc="-5">
                <a:solidFill>
                  <a:srgbClr val="1B7979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1B7979"/>
                </a:solidFill>
                <a:latin typeface="Consolas"/>
                <a:cs typeface="Consolas"/>
              </a:rPr>
              <a:t>+</a:t>
            </a:r>
            <a:r>
              <a:rPr dirty="0" sz="1200" spc="-5">
                <a:solidFill>
                  <a:srgbClr val="1B7979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1B7979"/>
                </a:solidFill>
                <a:latin typeface="Consolas"/>
                <a:cs typeface="Consolas"/>
              </a:rPr>
              <a:t>2</a:t>
            </a:r>
            <a:r>
              <a:rPr dirty="0" sz="1200" spc="-5">
                <a:solidFill>
                  <a:srgbClr val="1B7979"/>
                </a:solidFill>
                <a:latin typeface="Consolas"/>
                <a:cs typeface="Consolas"/>
              </a:rPr>
              <a:t>  </a:t>
            </a:r>
            <a:r>
              <a:rPr dirty="0" sz="1200">
                <a:solidFill>
                  <a:srgbClr val="1B7979"/>
                </a:solidFill>
                <a:latin typeface="Consolas"/>
                <a:cs typeface="Consolas"/>
              </a:rPr>
              <a:t>→  </a:t>
            </a:r>
            <a:r>
              <a:rPr dirty="0" sz="1200" spc="-50">
                <a:solidFill>
                  <a:srgbClr val="1B7979"/>
                </a:solidFill>
                <a:latin typeface="Consolas"/>
                <a:cs typeface="Consolas"/>
              </a:rPr>
              <a:t>7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246827" y="1659298"/>
            <a:ext cx="5504180" cy="949325"/>
            <a:chOff x="6246827" y="1659298"/>
            <a:chExt cx="5504180" cy="94932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6827" y="1659298"/>
              <a:ext cx="5504023" cy="94918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278753" y="1691639"/>
              <a:ext cx="5410200" cy="841375"/>
            </a:xfrm>
            <a:custGeom>
              <a:avLst/>
              <a:gdLst/>
              <a:ahLst/>
              <a:cxnLst/>
              <a:rect l="l" t="t" r="r" b="b"/>
              <a:pathLst>
                <a:path w="5410200" h="841375">
                  <a:moveTo>
                    <a:pt x="533692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768096"/>
                  </a:lnTo>
                  <a:lnTo>
                    <a:pt x="5750" y="796563"/>
                  </a:lnTo>
                  <a:lnTo>
                    <a:pt x="21431" y="819816"/>
                  </a:lnTo>
                  <a:lnTo>
                    <a:pt x="44684" y="835497"/>
                  </a:lnTo>
                  <a:lnTo>
                    <a:pt x="73151" y="841248"/>
                  </a:lnTo>
                  <a:lnTo>
                    <a:pt x="5336921" y="841248"/>
                  </a:lnTo>
                  <a:lnTo>
                    <a:pt x="5365388" y="835497"/>
                  </a:lnTo>
                  <a:lnTo>
                    <a:pt x="5388641" y="819816"/>
                  </a:lnTo>
                  <a:lnTo>
                    <a:pt x="5404322" y="796563"/>
                  </a:lnTo>
                  <a:lnTo>
                    <a:pt x="5410073" y="768096"/>
                  </a:lnTo>
                  <a:lnTo>
                    <a:pt x="5410073" y="73151"/>
                  </a:lnTo>
                  <a:lnTo>
                    <a:pt x="5404322" y="44684"/>
                  </a:lnTo>
                  <a:lnTo>
                    <a:pt x="5388641" y="21431"/>
                  </a:lnTo>
                  <a:lnTo>
                    <a:pt x="5365388" y="5750"/>
                  </a:lnTo>
                  <a:lnTo>
                    <a:pt x="5336921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461633" y="1883663"/>
              <a:ext cx="777240" cy="457200"/>
            </a:xfrm>
            <a:custGeom>
              <a:avLst/>
              <a:gdLst/>
              <a:ahLst/>
              <a:cxnLst/>
              <a:rect l="l" t="t" r="r" b="b"/>
              <a:pathLst>
                <a:path w="777240" h="457200">
                  <a:moveTo>
                    <a:pt x="722375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402336"/>
                  </a:lnTo>
                  <a:lnTo>
                    <a:pt x="4304" y="423713"/>
                  </a:lnTo>
                  <a:lnTo>
                    <a:pt x="16049" y="441150"/>
                  </a:lnTo>
                  <a:lnTo>
                    <a:pt x="33486" y="452895"/>
                  </a:lnTo>
                  <a:lnTo>
                    <a:pt x="54863" y="457200"/>
                  </a:lnTo>
                  <a:lnTo>
                    <a:pt x="722375" y="457200"/>
                  </a:lnTo>
                  <a:lnTo>
                    <a:pt x="743700" y="452895"/>
                  </a:lnTo>
                  <a:lnTo>
                    <a:pt x="761142" y="441150"/>
                  </a:lnTo>
                  <a:lnTo>
                    <a:pt x="772918" y="423713"/>
                  </a:lnTo>
                  <a:lnTo>
                    <a:pt x="777239" y="402336"/>
                  </a:lnTo>
                  <a:lnTo>
                    <a:pt x="777239" y="54863"/>
                  </a:lnTo>
                  <a:lnTo>
                    <a:pt x="772918" y="33486"/>
                  </a:lnTo>
                  <a:lnTo>
                    <a:pt x="761142" y="16049"/>
                  </a:lnTo>
                  <a:lnTo>
                    <a:pt x="743700" y="4304"/>
                  </a:lnTo>
                  <a:lnTo>
                    <a:pt x="722375" y="0"/>
                  </a:lnTo>
                  <a:close/>
                </a:path>
              </a:pathLst>
            </a:custGeom>
            <a:solidFill>
              <a:srgbClr val="1B4D8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782561" y="1965401"/>
            <a:ext cx="1371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-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64348" y="1881886"/>
            <a:ext cx="949325" cy="522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091F3C"/>
                </a:solidFill>
                <a:latin typeface="Arial"/>
                <a:cs typeface="Arial"/>
              </a:rPr>
              <a:t>Subtraction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dirty="0" sz="1200">
                <a:solidFill>
                  <a:srgbClr val="1B7979"/>
                </a:solidFill>
                <a:latin typeface="Consolas"/>
                <a:cs typeface="Consolas"/>
              </a:rPr>
              <a:t>5</a:t>
            </a:r>
            <a:r>
              <a:rPr dirty="0" sz="1200" spc="-5">
                <a:solidFill>
                  <a:srgbClr val="1B7979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1B7979"/>
                </a:solidFill>
                <a:latin typeface="Consolas"/>
                <a:cs typeface="Consolas"/>
              </a:rPr>
              <a:t>-</a:t>
            </a:r>
            <a:r>
              <a:rPr dirty="0" sz="1200" spc="-5">
                <a:solidFill>
                  <a:srgbClr val="1B7979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1B7979"/>
                </a:solidFill>
                <a:latin typeface="Consolas"/>
                <a:cs typeface="Consolas"/>
              </a:rPr>
              <a:t>2</a:t>
            </a:r>
            <a:r>
              <a:rPr dirty="0" sz="1200" spc="-5">
                <a:solidFill>
                  <a:srgbClr val="1B7979"/>
                </a:solidFill>
                <a:latin typeface="Consolas"/>
                <a:cs typeface="Consolas"/>
              </a:rPr>
              <a:t>  </a:t>
            </a:r>
            <a:r>
              <a:rPr dirty="0" sz="1200">
                <a:solidFill>
                  <a:srgbClr val="1B7979"/>
                </a:solidFill>
                <a:latin typeface="Consolas"/>
                <a:cs typeface="Consolas"/>
              </a:rPr>
              <a:t>→  </a:t>
            </a:r>
            <a:r>
              <a:rPr dirty="0" sz="1200" spc="-50">
                <a:solidFill>
                  <a:srgbClr val="1B7979"/>
                </a:solidFill>
                <a:latin typeface="Consolas"/>
                <a:cs typeface="Consolas"/>
              </a:rPr>
              <a:t>3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70867" y="2665138"/>
            <a:ext cx="5504180" cy="949325"/>
            <a:chOff x="470867" y="2665138"/>
            <a:chExt cx="5504180" cy="949325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67" y="2665138"/>
              <a:ext cx="5504023" cy="94918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02919" y="2697479"/>
              <a:ext cx="5410200" cy="841375"/>
            </a:xfrm>
            <a:custGeom>
              <a:avLst/>
              <a:gdLst/>
              <a:ahLst/>
              <a:cxnLst/>
              <a:rect l="l" t="t" r="r" b="b"/>
              <a:pathLst>
                <a:path w="5410200" h="841375">
                  <a:moveTo>
                    <a:pt x="533692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2"/>
                  </a:lnTo>
                  <a:lnTo>
                    <a:pt x="0" y="768096"/>
                  </a:lnTo>
                  <a:lnTo>
                    <a:pt x="5748" y="796563"/>
                  </a:lnTo>
                  <a:lnTo>
                    <a:pt x="21426" y="819816"/>
                  </a:lnTo>
                  <a:lnTo>
                    <a:pt x="44678" y="835497"/>
                  </a:lnTo>
                  <a:lnTo>
                    <a:pt x="73151" y="841248"/>
                  </a:lnTo>
                  <a:lnTo>
                    <a:pt x="5336920" y="841248"/>
                  </a:lnTo>
                  <a:lnTo>
                    <a:pt x="5365388" y="835497"/>
                  </a:lnTo>
                  <a:lnTo>
                    <a:pt x="5388641" y="819816"/>
                  </a:lnTo>
                  <a:lnTo>
                    <a:pt x="5404322" y="796563"/>
                  </a:lnTo>
                  <a:lnTo>
                    <a:pt x="5410072" y="768096"/>
                  </a:lnTo>
                  <a:lnTo>
                    <a:pt x="5410072" y="73152"/>
                  </a:lnTo>
                  <a:lnTo>
                    <a:pt x="5404322" y="44684"/>
                  </a:lnTo>
                  <a:lnTo>
                    <a:pt x="5388641" y="21431"/>
                  </a:lnTo>
                  <a:lnTo>
                    <a:pt x="5365388" y="5750"/>
                  </a:lnTo>
                  <a:lnTo>
                    <a:pt x="533692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85799" y="2889503"/>
              <a:ext cx="777240" cy="457200"/>
            </a:xfrm>
            <a:custGeom>
              <a:avLst/>
              <a:gdLst/>
              <a:ahLst/>
              <a:cxnLst/>
              <a:rect l="l" t="t" r="r" b="b"/>
              <a:pathLst>
                <a:path w="777240" h="457200">
                  <a:moveTo>
                    <a:pt x="722376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402336"/>
                  </a:lnTo>
                  <a:lnTo>
                    <a:pt x="4311" y="423713"/>
                  </a:lnTo>
                  <a:lnTo>
                    <a:pt x="16068" y="441150"/>
                  </a:lnTo>
                  <a:lnTo>
                    <a:pt x="33507" y="452895"/>
                  </a:lnTo>
                  <a:lnTo>
                    <a:pt x="54864" y="457200"/>
                  </a:lnTo>
                  <a:lnTo>
                    <a:pt x="722376" y="457200"/>
                  </a:lnTo>
                  <a:lnTo>
                    <a:pt x="743753" y="452895"/>
                  </a:lnTo>
                  <a:lnTo>
                    <a:pt x="761190" y="441150"/>
                  </a:lnTo>
                  <a:lnTo>
                    <a:pt x="772935" y="423713"/>
                  </a:lnTo>
                  <a:lnTo>
                    <a:pt x="777240" y="402336"/>
                  </a:lnTo>
                  <a:lnTo>
                    <a:pt x="777240" y="54863"/>
                  </a:lnTo>
                  <a:lnTo>
                    <a:pt x="772935" y="33486"/>
                  </a:lnTo>
                  <a:lnTo>
                    <a:pt x="761190" y="16049"/>
                  </a:lnTo>
                  <a:lnTo>
                    <a:pt x="743753" y="4304"/>
                  </a:lnTo>
                  <a:lnTo>
                    <a:pt x="722376" y="0"/>
                  </a:lnTo>
                  <a:close/>
                </a:path>
              </a:pathLst>
            </a:custGeom>
            <a:solidFill>
              <a:srgbClr val="1B4D8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005941" y="2971926"/>
            <a:ext cx="1371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Consolas"/>
                <a:cs typeface="Consolas"/>
              </a:rPr>
              <a:t>*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87753" y="2888106"/>
            <a:ext cx="1088390" cy="522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091F3C"/>
                </a:solidFill>
                <a:latin typeface="Arial"/>
                <a:cs typeface="Arial"/>
              </a:rPr>
              <a:t>Multiplication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1200">
                <a:solidFill>
                  <a:srgbClr val="1B7979"/>
                </a:solidFill>
                <a:latin typeface="Consolas"/>
                <a:cs typeface="Consolas"/>
              </a:rPr>
              <a:t>5</a:t>
            </a:r>
            <a:r>
              <a:rPr dirty="0" sz="1200" spc="-5">
                <a:solidFill>
                  <a:srgbClr val="1B7979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1B7979"/>
                </a:solidFill>
                <a:latin typeface="Consolas"/>
                <a:cs typeface="Consolas"/>
              </a:rPr>
              <a:t>*</a:t>
            </a:r>
            <a:r>
              <a:rPr dirty="0" sz="1200" spc="-5">
                <a:solidFill>
                  <a:srgbClr val="1B7979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1B7979"/>
                </a:solidFill>
                <a:latin typeface="Consolas"/>
                <a:cs typeface="Consolas"/>
              </a:rPr>
              <a:t>2</a:t>
            </a:r>
            <a:r>
              <a:rPr dirty="0" sz="1200" spc="-5">
                <a:solidFill>
                  <a:srgbClr val="1B7979"/>
                </a:solidFill>
                <a:latin typeface="Consolas"/>
                <a:cs typeface="Consolas"/>
              </a:rPr>
              <a:t>  </a:t>
            </a:r>
            <a:r>
              <a:rPr dirty="0" sz="1200">
                <a:solidFill>
                  <a:srgbClr val="1B7979"/>
                </a:solidFill>
                <a:latin typeface="Consolas"/>
                <a:cs typeface="Consolas"/>
              </a:rPr>
              <a:t>→  </a:t>
            </a:r>
            <a:r>
              <a:rPr dirty="0" sz="1200" spc="-25">
                <a:solidFill>
                  <a:srgbClr val="1B7979"/>
                </a:solidFill>
                <a:latin typeface="Consolas"/>
                <a:cs typeface="Consolas"/>
              </a:rPr>
              <a:t>10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246827" y="2665138"/>
            <a:ext cx="5504180" cy="949325"/>
            <a:chOff x="6246827" y="2665138"/>
            <a:chExt cx="5504180" cy="949325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6827" y="2665138"/>
              <a:ext cx="5504023" cy="94918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278753" y="2697479"/>
              <a:ext cx="5410200" cy="841375"/>
            </a:xfrm>
            <a:custGeom>
              <a:avLst/>
              <a:gdLst/>
              <a:ahLst/>
              <a:cxnLst/>
              <a:rect l="l" t="t" r="r" b="b"/>
              <a:pathLst>
                <a:path w="5410200" h="841375">
                  <a:moveTo>
                    <a:pt x="533692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768096"/>
                  </a:lnTo>
                  <a:lnTo>
                    <a:pt x="5750" y="796563"/>
                  </a:lnTo>
                  <a:lnTo>
                    <a:pt x="21431" y="819816"/>
                  </a:lnTo>
                  <a:lnTo>
                    <a:pt x="44684" y="835497"/>
                  </a:lnTo>
                  <a:lnTo>
                    <a:pt x="73151" y="841248"/>
                  </a:lnTo>
                  <a:lnTo>
                    <a:pt x="5336921" y="841248"/>
                  </a:lnTo>
                  <a:lnTo>
                    <a:pt x="5365388" y="835497"/>
                  </a:lnTo>
                  <a:lnTo>
                    <a:pt x="5388641" y="819816"/>
                  </a:lnTo>
                  <a:lnTo>
                    <a:pt x="5404322" y="796563"/>
                  </a:lnTo>
                  <a:lnTo>
                    <a:pt x="5410073" y="768096"/>
                  </a:lnTo>
                  <a:lnTo>
                    <a:pt x="5410073" y="73152"/>
                  </a:lnTo>
                  <a:lnTo>
                    <a:pt x="5404322" y="44684"/>
                  </a:lnTo>
                  <a:lnTo>
                    <a:pt x="5388641" y="21431"/>
                  </a:lnTo>
                  <a:lnTo>
                    <a:pt x="5365388" y="5750"/>
                  </a:lnTo>
                  <a:lnTo>
                    <a:pt x="5336921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461633" y="2889503"/>
              <a:ext cx="777240" cy="457200"/>
            </a:xfrm>
            <a:custGeom>
              <a:avLst/>
              <a:gdLst/>
              <a:ahLst/>
              <a:cxnLst/>
              <a:rect l="l" t="t" r="r" b="b"/>
              <a:pathLst>
                <a:path w="777240" h="457200">
                  <a:moveTo>
                    <a:pt x="722375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402336"/>
                  </a:lnTo>
                  <a:lnTo>
                    <a:pt x="4304" y="423713"/>
                  </a:lnTo>
                  <a:lnTo>
                    <a:pt x="16049" y="441150"/>
                  </a:lnTo>
                  <a:lnTo>
                    <a:pt x="33486" y="452895"/>
                  </a:lnTo>
                  <a:lnTo>
                    <a:pt x="54863" y="457200"/>
                  </a:lnTo>
                  <a:lnTo>
                    <a:pt x="722375" y="457200"/>
                  </a:lnTo>
                  <a:lnTo>
                    <a:pt x="743700" y="452895"/>
                  </a:lnTo>
                  <a:lnTo>
                    <a:pt x="761142" y="441150"/>
                  </a:lnTo>
                  <a:lnTo>
                    <a:pt x="772918" y="423713"/>
                  </a:lnTo>
                  <a:lnTo>
                    <a:pt x="777239" y="402336"/>
                  </a:lnTo>
                  <a:lnTo>
                    <a:pt x="777239" y="54863"/>
                  </a:lnTo>
                  <a:lnTo>
                    <a:pt x="772918" y="33486"/>
                  </a:lnTo>
                  <a:lnTo>
                    <a:pt x="761142" y="16049"/>
                  </a:lnTo>
                  <a:lnTo>
                    <a:pt x="743700" y="4304"/>
                  </a:lnTo>
                  <a:lnTo>
                    <a:pt x="722375" y="0"/>
                  </a:lnTo>
                  <a:close/>
                </a:path>
              </a:pathLst>
            </a:custGeom>
            <a:solidFill>
              <a:srgbClr val="1B4D8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6782561" y="2971926"/>
            <a:ext cx="1371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Consolas"/>
                <a:cs typeface="Consolas"/>
              </a:rPr>
              <a:t>/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64348" y="2888106"/>
            <a:ext cx="1172845" cy="522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091F3C"/>
                </a:solidFill>
                <a:latin typeface="Arial"/>
                <a:cs typeface="Arial"/>
              </a:rPr>
              <a:t>Division</a:t>
            </a:r>
            <a:r>
              <a:rPr dirty="0" sz="1300" spc="-3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091F3C"/>
                </a:solidFill>
                <a:latin typeface="Arial"/>
                <a:cs typeface="Arial"/>
              </a:rPr>
              <a:t>(float)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1200">
                <a:solidFill>
                  <a:srgbClr val="1B7979"/>
                </a:solidFill>
                <a:latin typeface="Consolas"/>
                <a:cs typeface="Consolas"/>
              </a:rPr>
              <a:t>5</a:t>
            </a:r>
            <a:r>
              <a:rPr dirty="0" sz="1200" spc="-5">
                <a:solidFill>
                  <a:srgbClr val="1B7979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1B7979"/>
                </a:solidFill>
                <a:latin typeface="Consolas"/>
                <a:cs typeface="Consolas"/>
              </a:rPr>
              <a:t>/</a:t>
            </a:r>
            <a:r>
              <a:rPr dirty="0" sz="1200" spc="-5">
                <a:solidFill>
                  <a:srgbClr val="1B7979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1B7979"/>
                </a:solidFill>
                <a:latin typeface="Consolas"/>
                <a:cs typeface="Consolas"/>
              </a:rPr>
              <a:t>2</a:t>
            </a:r>
            <a:r>
              <a:rPr dirty="0" sz="1200" spc="-5">
                <a:solidFill>
                  <a:srgbClr val="1B7979"/>
                </a:solidFill>
                <a:latin typeface="Consolas"/>
                <a:cs typeface="Consolas"/>
              </a:rPr>
              <a:t>  </a:t>
            </a:r>
            <a:r>
              <a:rPr dirty="0" sz="1200">
                <a:solidFill>
                  <a:srgbClr val="1B7979"/>
                </a:solidFill>
                <a:latin typeface="Consolas"/>
                <a:cs typeface="Consolas"/>
              </a:rPr>
              <a:t>→  </a:t>
            </a:r>
            <a:r>
              <a:rPr dirty="0" sz="1200" spc="-25">
                <a:solidFill>
                  <a:srgbClr val="1B7979"/>
                </a:solidFill>
                <a:latin typeface="Consolas"/>
                <a:cs typeface="Consolas"/>
              </a:rPr>
              <a:t>2.5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70867" y="3670978"/>
            <a:ext cx="5504180" cy="949325"/>
            <a:chOff x="470867" y="3670978"/>
            <a:chExt cx="5504180" cy="949325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67" y="3670978"/>
              <a:ext cx="5504023" cy="9491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02919" y="3703320"/>
              <a:ext cx="5410200" cy="841375"/>
            </a:xfrm>
            <a:custGeom>
              <a:avLst/>
              <a:gdLst/>
              <a:ahLst/>
              <a:cxnLst/>
              <a:rect l="l" t="t" r="r" b="b"/>
              <a:pathLst>
                <a:path w="5410200" h="841375">
                  <a:moveTo>
                    <a:pt x="533692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768095"/>
                  </a:lnTo>
                  <a:lnTo>
                    <a:pt x="5748" y="796563"/>
                  </a:lnTo>
                  <a:lnTo>
                    <a:pt x="21426" y="819816"/>
                  </a:lnTo>
                  <a:lnTo>
                    <a:pt x="44678" y="835497"/>
                  </a:lnTo>
                  <a:lnTo>
                    <a:pt x="73151" y="841247"/>
                  </a:lnTo>
                  <a:lnTo>
                    <a:pt x="5336920" y="841247"/>
                  </a:lnTo>
                  <a:lnTo>
                    <a:pt x="5365388" y="835497"/>
                  </a:lnTo>
                  <a:lnTo>
                    <a:pt x="5388641" y="819816"/>
                  </a:lnTo>
                  <a:lnTo>
                    <a:pt x="5404322" y="796563"/>
                  </a:lnTo>
                  <a:lnTo>
                    <a:pt x="5410072" y="768095"/>
                  </a:lnTo>
                  <a:lnTo>
                    <a:pt x="5410072" y="73151"/>
                  </a:lnTo>
                  <a:lnTo>
                    <a:pt x="5404322" y="44684"/>
                  </a:lnTo>
                  <a:lnTo>
                    <a:pt x="5388641" y="21431"/>
                  </a:lnTo>
                  <a:lnTo>
                    <a:pt x="5365388" y="5750"/>
                  </a:lnTo>
                  <a:lnTo>
                    <a:pt x="533692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85799" y="3895344"/>
              <a:ext cx="777240" cy="457200"/>
            </a:xfrm>
            <a:custGeom>
              <a:avLst/>
              <a:gdLst/>
              <a:ahLst/>
              <a:cxnLst/>
              <a:rect l="l" t="t" r="r" b="b"/>
              <a:pathLst>
                <a:path w="777240" h="457200">
                  <a:moveTo>
                    <a:pt x="722376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402335"/>
                  </a:lnTo>
                  <a:lnTo>
                    <a:pt x="4311" y="423713"/>
                  </a:lnTo>
                  <a:lnTo>
                    <a:pt x="16068" y="441150"/>
                  </a:lnTo>
                  <a:lnTo>
                    <a:pt x="33507" y="452895"/>
                  </a:lnTo>
                  <a:lnTo>
                    <a:pt x="54864" y="457199"/>
                  </a:lnTo>
                  <a:lnTo>
                    <a:pt x="722376" y="457199"/>
                  </a:lnTo>
                  <a:lnTo>
                    <a:pt x="743753" y="452895"/>
                  </a:lnTo>
                  <a:lnTo>
                    <a:pt x="761190" y="441150"/>
                  </a:lnTo>
                  <a:lnTo>
                    <a:pt x="772935" y="423713"/>
                  </a:lnTo>
                  <a:lnTo>
                    <a:pt x="777240" y="402335"/>
                  </a:lnTo>
                  <a:lnTo>
                    <a:pt x="777240" y="54863"/>
                  </a:lnTo>
                  <a:lnTo>
                    <a:pt x="772935" y="33486"/>
                  </a:lnTo>
                  <a:lnTo>
                    <a:pt x="761190" y="16049"/>
                  </a:lnTo>
                  <a:lnTo>
                    <a:pt x="743753" y="4304"/>
                  </a:lnTo>
                  <a:lnTo>
                    <a:pt x="722376" y="0"/>
                  </a:lnTo>
                  <a:close/>
                </a:path>
              </a:pathLst>
            </a:custGeom>
            <a:solidFill>
              <a:srgbClr val="1B4D8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949553" y="3978021"/>
            <a:ext cx="2482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Consolas"/>
                <a:cs typeface="Consolas"/>
              </a:rPr>
              <a:t>//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87753" y="3894201"/>
            <a:ext cx="1105535" cy="522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091F3C"/>
                </a:solidFill>
                <a:latin typeface="Arial"/>
                <a:cs typeface="Arial"/>
              </a:rPr>
              <a:t>Floor</a:t>
            </a:r>
            <a:r>
              <a:rPr dirty="0" sz="1300" spc="-3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091F3C"/>
                </a:solidFill>
                <a:latin typeface="Arial"/>
                <a:cs typeface="Arial"/>
              </a:rPr>
              <a:t>division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1200">
                <a:solidFill>
                  <a:srgbClr val="1B7979"/>
                </a:solidFill>
                <a:latin typeface="Consolas"/>
                <a:cs typeface="Consolas"/>
              </a:rPr>
              <a:t>5</a:t>
            </a:r>
            <a:r>
              <a:rPr dirty="0" sz="1200" spc="-10">
                <a:solidFill>
                  <a:srgbClr val="1B7979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1B7979"/>
                </a:solidFill>
                <a:latin typeface="Consolas"/>
                <a:cs typeface="Consolas"/>
              </a:rPr>
              <a:t>//</a:t>
            </a:r>
            <a:r>
              <a:rPr dirty="0" sz="1200" spc="-5">
                <a:solidFill>
                  <a:srgbClr val="1B7979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1B7979"/>
                </a:solidFill>
                <a:latin typeface="Consolas"/>
                <a:cs typeface="Consolas"/>
              </a:rPr>
              <a:t>2  →</a:t>
            </a:r>
            <a:r>
              <a:rPr dirty="0" sz="1200" spc="-10">
                <a:solidFill>
                  <a:srgbClr val="1B7979"/>
                </a:solidFill>
                <a:latin typeface="Consolas"/>
                <a:cs typeface="Consolas"/>
              </a:rPr>
              <a:t>  </a:t>
            </a:r>
            <a:r>
              <a:rPr dirty="0" sz="1200" spc="-50">
                <a:solidFill>
                  <a:srgbClr val="1B7979"/>
                </a:solidFill>
                <a:latin typeface="Consolas"/>
                <a:cs typeface="Consolas"/>
              </a:rPr>
              <a:t>2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246827" y="3670978"/>
            <a:ext cx="5504180" cy="949325"/>
            <a:chOff x="6246827" y="3670978"/>
            <a:chExt cx="5504180" cy="949325"/>
          </a:xfrm>
        </p:grpSpPr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6827" y="3670978"/>
              <a:ext cx="5504023" cy="94918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278753" y="3703320"/>
              <a:ext cx="5410200" cy="841375"/>
            </a:xfrm>
            <a:custGeom>
              <a:avLst/>
              <a:gdLst/>
              <a:ahLst/>
              <a:cxnLst/>
              <a:rect l="l" t="t" r="r" b="b"/>
              <a:pathLst>
                <a:path w="5410200" h="841375">
                  <a:moveTo>
                    <a:pt x="533692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768095"/>
                  </a:lnTo>
                  <a:lnTo>
                    <a:pt x="5750" y="796563"/>
                  </a:lnTo>
                  <a:lnTo>
                    <a:pt x="21431" y="819816"/>
                  </a:lnTo>
                  <a:lnTo>
                    <a:pt x="44684" y="835497"/>
                  </a:lnTo>
                  <a:lnTo>
                    <a:pt x="73151" y="841247"/>
                  </a:lnTo>
                  <a:lnTo>
                    <a:pt x="5336921" y="841247"/>
                  </a:lnTo>
                  <a:lnTo>
                    <a:pt x="5365388" y="835497"/>
                  </a:lnTo>
                  <a:lnTo>
                    <a:pt x="5388641" y="819816"/>
                  </a:lnTo>
                  <a:lnTo>
                    <a:pt x="5404322" y="796563"/>
                  </a:lnTo>
                  <a:lnTo>
                    <a:pt x="5410073" y="768095"/>
                  </a:lnTo>
                  <a:lnTo>
                    <a:pt x="5410073" y="73151"/>
                  </a:lnTo>
                  <a:lnTo>
                    <a:pt x="5404322" y="44684"/>
                  </a:lnTo>
                  <a:lnTo>
                    <a:pt x="5388641" y="21431"/>
                  </a:lnTo>
                  <a:lnTo>
                    <a:pt x="5365388" y="5750"/>
                  </a:lnTo>
                  <a:lnTo>
                    <a:pt x="5336921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461633" y="3895344"/>
              <a:ext cx="777240" cy="457200"/>
            </a:xfrm>
            <a:custGeom>
              <a:avLst/>
              <a:gdLst/>
              <a:ahLst/>
              <a:cxnLst/>
              <a:rect l="l" t="t" r="r" b="b"/>
              <a:pathLst>
                <a:path w="777240" h="457200">
                  <a:moveTo>
                    <a:pt x="722375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402335"/>
                  </a:lnTo>
                  <a:lnTo>
                    <a:pt x="4304" y="423713"/>
                  </a:lnTo>
                  <a:lnTo>
                    <a:pt x="16049" y="441150"/>
                  </a:lnTo>
                  <a:lnTo>
                    <a:pt x="33486" y="452895"/>
                  </a:lnTo>
                  <a:lnTo>
                    <a:pt x="54863" y="457199"/>
                  </a:lnTo>
                  <a:lnTo>
                    <a:pt x="722375" y="457199"/>
                  </a:lnTo>
                  <a:lnTo>
                    <a:pt x="743700" y="452895"/>
                  </a:lnTo>
                  <a:lnTo>
                    <a:pt x="761142" y="441150"/>
                  </a:lnTo>
                  <a:lnTo>
                    <a:pt x="772918" y="423713"/>
                  </a:lnTo>
                  <a:lnTo>
                    <a:pt x="777239" y="402335"/>
                  </a:lnTo>
                  <a:lnTo>
                    <a:pt x="777239" y="54863"/>
                  </a:lnTo>
                  <a:lnTo>
                    <a:pt x="772918" y="33486"/>
                  </a:lnTo>
                  <a:lnTo>
                    <a:pt x="761142" y="16049"/>
                  </a:lnTo>
                  <a:lnTo>
                    <a:pt x="743700" y="4304"/>
                  </a:lnTo>
                  <a:lnTo>
                    <a:pt x="722375" y="0"/>
                  </a:lnTo>
                  <a:close/>
                </a:path>
              </a:pathLst>
            </a:custGeom>
            <a:solidFill>
              <a:srgbClr val="1B4D8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6782561" y="3978021"/>
            <a:ext cx="1371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Consolas"/>
                <a:cs typeface="Consolas"/>
              </a:rPr>
              <a:t>%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364348" y="3894201"/>
            <a:ext cx="1567815" cy="522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091F3C"/>
                </a:solidFill>
                <a:latin typeface="Arial"/>
                <a:cs typeface="Arial"/>
              </a:rPr>
              <a:t>Modulo</a:t>
            </a:r>
            <a:r>
              <a:rPr dirty="0" sz="1300" spc="-4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091F3C"/>
                </a:solidFill>
                <a:latin typeface="Arial"/>
                <a:cs typeface="Arial"/>
              </a:rPr>
              <a:t>(remainder)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1200">
                <a:solidFill>
                  <a:srgbClr val="1B7979"/>
                </a:solidFill>
                <a:latin typeface="Consolas"/>
                <a:cs typeface="Consolas"/>
              </a:rPr>
              <a:t>5</a:t>
            </a:r>
            <a:r>
              <a:rPr dirty="0" sz="1200" spc="-5">
                <a:solidFill>
                  <a:srgbClr val="1B7979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1B7979"/>
                </a:solidFill>
                <a:latin typeface="Consolas"/>
                <a:cs typeface="Consolas"/>
              </a:rPr>
              <a:t>%</a:t>
            </a:r>
            <a:r>
              <a:rPr dirty="0" sz="1200" spc="-5">
                <a:solidFill>
                  <a:srgbClr val="1B7979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1B7979"/>
                </a:solidFill>
                <a:latin typeface="Consolas"/>
                <a:cs typeface="Consolas"/>
              </a:rPr>
              <a:t>2</a:t>
            </a:r>
            <a:r>
              <a:rPr dirty="0" sz="1200" spc="-5">
                <a:solidFill>
                  <a:srgbClr val="1B7979"/>
                </a:solidFill>
                <a:latin typeface="Consolas"/>
                <a:cs typeface="Consolas"/>
              </a:rPr>
              <a:t>  </a:t>
            </a:r>
            <a:r>
              <a:rPr dirty="0" sz="1200">
                <a:solidFill>
                  <a:srgbClr val="1B7979"/>
                </a:solidFill>
                <a:latin typeface="Consolas"/>
                <a:cs typeface="Consolas"/>
              </a:rPr>
              <a:t>→  </a:t>
            </a:r>
            <a:r>
              <a:rPr dirty="0" sz="1200" spc="-50">
                <a:solidFill>
                  <a:srgbClr val="1B7979"/>
                </a:solidFill>
                <a:latin typeface="Consolas"/>
                <a:cs typeface="Consolas"/>
              </a:rPr>
              <a:t>1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70867" y="4676843"/>
            <a:ext cx="5504180" cy="949325"/>
            <a:chOff x="470867" y="4676843"/>
            <a:chExt cx="5504180" cy="949325"/>
          </a:xfrm>
        </p:grpSpPr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67" y="4676843"/>
              <a:ext cx="5504023" cy="94918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02919" y="4709160"/>
              <a:ext cx="5410200" cy="841375"/>
            </a:xfrm>
            <a:custGeom>
              <a:avLst/>
              <a:gdLst/>
              <a:ahLst/>
              <a:cxnLst/>
              <a:rect l="l" t="t" r="r" b="b"/>
              <a:pathLst>
                <a:path w="5410200" h="841375">
                  <a:moveTo>
                    <a:pt x="533692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768095"/>
                  </a:lnTo>
                  <a:lnTo>
                    <a:pt x="5748" y="796563"/>
                  </a:lnTo>
                  <a:lnTo>
                    <a:pt x="21426" y="819816"/>
                  </a:lnTo>
                  <a:lnTo>
                    <a:pt x="44678" y="835497"/>
                  </a:lnTo>
                  <a:lnTo>
                    <a:pt x="73151" y="841247"/>
                  </a:lnTo>
                  <a:lnTo>
                    <a:pt x="5336920" y="841247"/>
                  </a:lnTo>
                  <a:lnTo>
                    <a:pt x="5365388" y="835497"/>
                  </a:lnTo>
                  <a:lnTo>
                    <a:pt x="5388641" y="819816"/>
                  </a:lnTo>
                  <a:lnTo>
                    <a:pt x="5404322" y="796563"/>
                  </a:lnTo>
                  <a:lnTo>
                    <a:pt x="5410072" y="768095"/>
                  </a:lnTo>
                  <a:lnTo>
                    <a:pt x="5410072" y="73151"/>
                  </a:lnTo>
                  <a:lnTo>
                    <a:pt x="5404322" y="44684"/>
                  </a:lnTo>
                  <a:lnTo>
                    <a:pt x="5388641" y="21431"/>
                  </a:lnTo>
                  <a:lnTo>
                    <a:pt x="5365388" y="5750"/>
                  </a:lnTo>
                  <a:lnTo>
                    <a:pt x="533692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85799" y="4901184"/>
              <a:ext cx="777240" cy="457200"/>
            </a:xfrm>
            <a:custGeom>
              <a:avLst/>
              <a:gdLst/>
              <a:ahLst/>
              <a:cxnLst/>
              <a:rect l="l" t="t" r="r" b="b"/>
              <a:pathLst>
                <a:path w="777240" h="457200">
                  <a:moveTo>
                    <a:pt x="722376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4"/>
                  </a:lnTo>
                  <a:lnTo>
                    <a:pt x="0" y="402336"/>
                  </a:lnTo>
                  <a:lnTo>
                    <a:pt x="4311" y="423713"/>
                  </a:lnTo>
                  <a:lnTo>
                    <a:pt x="16068" y="441150"/>
                  </a:lnTo>
                  <a:lnTo>
                    <a:pt x="33507" y="452895"/>
                  </a:lnTo>
                  <a:lnTo>
                    <a:pt x="54864" y="457200"/>
                  </a:lnTo>
                  <a:lnTo>
                    <a:pt x="722376" y="457200"/>
                  </a:lnTo>
                  <a:lnTo>
                    <a:pt x="743753" y="452895"/>
                  </a:lnTo>
                  <a:lnTo>
                    <a:pt x="761190" y="441150"/>
                  </a:lnTo>
                  <a:lnTo>
                    <a:pt x="772935" y="423713"/>
                  </a:lnTo>
                  <a:lnTo>
                    <a:pt x="777240" y="402336"/>
                  </a:lnTo>
                  <a:lnTo>
                    <a:pt x="777240" y="54864"/>
                  </a:lnTo>
                  <a:lnTo>
                    <a:pt x="772935" y="33486"/>
                  </a:lnTo>
                  <a:lnTo>
                    <a:pt x="761190" y="16049"/>
                  </a:lnTo>
                  <a:lnTo>
                    <a:pt x="743753" y="4304"/>
                  </a:lnTo>
                  <a:lnTo>
                    <a:pt x="722376" y="0"/>
                  </a:lnTo>
                  <a:close/>
                </a:path>
              </a:pathLst>
            </a:custGeom>
            <a:solidFill>
              <a:srgbClr val="1B4D8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949553" y="4983860"/>
            <a:ext cx="2482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Consolas"/>
                <a:cs typeface="Consolas"/>
              </a:rPr>
              <a:t>**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587753" y="4900040"/>
            <a:ext cx="1424305" cy="522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091F3C"/>
                </a:solidFill>
                <a:latin typeface="Arial"/>
                <a:cs typeface="Arial"/>
              </a:rPr>
              <a:t>Exponent</a:t>
            </a:r>
            <a:r>
              <a:rPr dirty="0" sz="1300" spc="-50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091F3C"/>
                </a:solidFill>
                <a:latin typeface="Arial"/>
                <a:cs typeface="Arial"/>
              </a:rPr>
              <a:t>(power)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1200">
                <a:solidFill>
                  <a:srgbClr val="1B7979"/>
                </a:solidFill>
                <a:latin typeface="Consolas"/>
                <a:cs typeface="Consolas"/>
              </a:rPr>
              <a:t>5</a:t>
            </a:r>
            <a:r>
              <a:rPr dirty="0" sz="1200" spc="-10">
                <a:solidFill>
                  <a:srgbClr val="1B7979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1B7979"/>
                </a:solidFill>
                <a:latin typeface="Consolas"/>
                <a:cs typeface="Consolas"/>
              </a:rPr>
              <a:t>**</a:t>
            </a:r>
            <a:r>
              <a:rPr dirty="0" sz="1200" spc="-5">
                <a:solidFill>
                  <a:srgbClr val="1B7979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1B7979"/>
                </a:solidFill>
                <a:latin typeface="Consolas"/>
                <a:cs typeface="Consolas"/>
              </a:rPr>
              <a:t>2</a:t>
            </a:r>
            <a:r>
              <a:rPr dirty="0" sz="1200" spc="-5">
                <a:solidFill>
                  <a:srgbClr val="1B7979"/>
                </a:solidFill>
                <a:latin typeface="Consolas"/>
                <a:cs typeface="Consolas"/>
              </a:rPr>
              <a:t>  </a:t>
            </a:r>
            <a:r>
              <a:rPr dirty="0" sz="1200">
                <a:solidFill>
                  <a:srgbClr val="1B7979"/>
                </a:solidFill>
                <a:latin typeface="Consolas"/>
                <a:cs typeface="Consolas"/>
              </a:rPr>
              <a:t>→</a:t>
            </a:r>
            <a:r>
              <a:rPr dirty="0" sz="1200" spc="-10">
                <a:solidFill>
                  <a:srgbClr val="1B7979"/>
                </a:solidFill>
                <a:latin typeface="Consolas"/>
                <a:cs typeface="Consolas"/>
              </a:rPr>
              <a:t>  </a:t>
            </a:r>
            <a:r>
              <a:rPr dirty="0" sz="1200" spc="-25">
                <a:solidFill>
                  <a:srgbClr val="1B7979"/>
                </a:solidFill>
                <a:latin typeface="Consolas"/>
                <a:cs typeface="Consolas"/>
              </a:rPr>
              <a:t>25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278753" y="4709159"/>
            <a:ext cx="5410200" cy="841375"/>
          </a:xfrm>
          <a:custGeom>
            <a:avLst/>
            <a:gdLst/>
            <a:ahLst/>
            <a:cxnLst/>
            <a:rect l="l" t="t" r="r" b="b"/>
            <a:pathLst>
              <a:path w="5410200" h="841375">
                <a:moveTo>
                  <a:pt x="5336921" y="0"/>
                </a:moveTo>
                <a:lnTo>
                  <a:pt x="73151" y="0"/>
                </a:lnTo>
                <a:lnTo>
                  <a:pt x="44684" y="5750"/>
                </a:lnTo>
                <a:lnTo>
                  <a:pt x="21431" y="21431"/>
                </a:lnTo>
                <a:lnTo>
                  <a:pt x="5750" y="44684"/>
                </a:lnTo>
                <a:lnTo>
                  <a:pt x="0" y="73151"/>
                </a:lnTo>
                <a:lnTo>
                  <a:pt x="0" y="768095"/>
                </a:lnTo>
                <a:lnTo>
                  <a:pt x="5750" y="796563"/>
                </a:lnTo>
                <a:lnTo>
                  <a:pt x="21431" y="819816"/>
                </a:lnTo>
                <a:lnTo>
                  <a:pt x="44684" y="835497"/>
                </a:lnTo>
                <a:lnTo>
                  <a:pt x="73151" y="841247"/>
                </a:lnTo>
                <a:lnTo>
                  <a:pt x="5336921" y="841247"/>
                </a:lnTo>
                <a:lnTo>
                  <a:pt x="5365388" y="835497"/>
                </a:lnTo>
                <a:lnTo>
                  <a:pt x="5388641" y="819816"/>
                </a:lnTo>
                <a:lnTo>
                  <a:pt x="5404322" y="796563"/>
                </a:lnTo>
                <a:lnTo>
                  <a:pt x="5410073" y="768095"/>
                </a:lnTo>
                <a:lnTo>
                  <a:pt x="5410073" y="73151"/>
                </a:lnTo>
                <a:lnTo>
                  <a:pt x="5404322" y="44684"/>
                </a:lnTo>
                <a:lnTo>
                  <a:pt x="5388641" y="21431"/>
                </a:lnTo>
                <a:lnTo>
                  <a:pt x="5365388" y="5750"/>
                </a:lnTo>
                <a:lnTo>
                  <a:pt x="5336921" y="0"/>
                </a:lnTo>
                <a:close/>
              </a:path>
            </a:pathLst>
          </a:custGeom>
          <a:solidFill>
            <a:srgbClr val="FFF7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6449695" y="4938141"/>
            <a:ext cx="4773295" cy="372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60"/>
              </a:lnSpc>
              <a:spcBef>
                <a:spcPts val="100"/>
              </a:spcBef>
            </a:pPr>
            <a:r>
              <a:rPr dirty="0" sz="1150" b="1">
                <a:solidFill>
                  <a:srgbClr val="6B530F"/>
                </a:solidFill>
                <a:latin typeface="Arial"/>
                <a:cs typeface="Arial"/>
              </a:rPr>
              <a:t>%</a:t>
            </a:r>
            <a:r>
              <a:rPr dirty="0" sz="1150" spc="-30" b="1">
                <a:solidFill>
                  <a:srgbClr val="6B530F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6B530F"/>
                </a:solidFill>
                <a:latin typeface="Arial"/>
                <a:cs typeface="Arial"/>
              </a:rPr>
              <a:t>is</a:t>
            </a:r>
            <a:r>
              <a:rPr dirty="0" sz="1150" spc="-15" b="1">
                <a:solidFill>
                  <a:srgbClr val="6B530F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6B530F"/>
                </a:solidFill>
                <a:latin typeface="Arial"/>
                <a:cs typeface="Arial"/>
              </a:rPr>
              <a:t>everywhere:</a:t>
            </a:r>
            <a:r>
              <a:rPr dirty="0" sz="1150" spc="325" b="1">
                <a:solidFill>
                  <a:srgbClr val="6B530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6B530F"/>
                </a:solidFill>
                <a:latin typeface="Arial MT"/>
                <a:cs typeface="Arial MT"/>
              </a:rPr>
              <a:t>even/odd checks,</a:t>
            </a:r>
            <a:r>
              <a:rPr dirty="0" sz="1150" spc="-2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6B530F"/>
                </a:solidFill>
                <a:latin typeface="Arial MT"/>
                <a:cs typeface="Arial MT"/>
              </a:rPr>
              <a:t>cycling,</a:t>
            </a:r>
            <a:r>
              <a:rPr dirty="0" sz="1150" spc="-1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6B530F"/>
                </a:solidFill>
                <a:latin typeface="Arial MT"/>
                <a:cs typeface="Arial MT"/>
              </a:rPr>
              <a:t>and</a:t>
            </a:r>
            <a:r>
              <a:rPr dirty="0" sz="1150" spc="-1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6B530F"/>
                </a:solidFill>
                <a:latin typeface="Arial MT"/>
                <a:cs typeface="Arial MT"/>
              </a:rPr>
              <a:t>splitting</a:t>
            </a:r>
            <a:r>
              <a:rPr dirty="0" sz="1150" spc="-2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6B530F"/>
                </a:solidFill>
                <a:latin typeface="Arial MT"/>
                <a:cs typeface="Arial MT"/>
              </a:rPr>
              <a:t>bills</a:t>
            </a:r>
            <a:r>
              <a:rPr dirty="0" sz="1150" spc="-3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6B530F"/>
                </a:solidFill>
                <a:latin typeface="Arial MT"/>
                <a:cs typeface="Arial MT"/>
              </a:rPr>
              <a:t>all</a:t>
            </a:r>
            <a:r>
              <a:rPr dirty="0" sz="1150" spc="-2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6B530F"/>
                </a:solidFill>
                <a:latin typeface="Arial MT"/>
                <a:cs typeface="Arial MT"/>
              </a:rPr>
              <a:t>use</a:t>
            </a:r>
            <a:r>
              <a:rPr dirty="0" sz="1150" spc="-3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6B530F"/>
                </a:solidFill>
                <a:latin typeface="Arial MT"/>
                <a:cs typeface="Arial MT"/>
              </a:rPr>
              <a:t>the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ts val="1360"/>
              </a:lnSpc>
            </a:pPr>
            <a:r>
              <a:rPr dirty="0" sz="1150" spc="-10">
                <a:solidFill>
                  <a:srgbClr val="6B530F"/>
                </a:solidFill>
                <a:latin typeface="Arial MT"/>
                <a:cs typeface="Arial MT"/>
              </a:rPr>
              <a:t>remainder.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Property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IBT</a:t>
            </a:r>
            <a:r>
              <a:rPr dirty="0" spc="-35"/>
              <a:t> </a:t>
            </a:r>
            <a:r>
              <a:rPr dirty="0"/>
              <a:t>College</a:t>
            </a:r>
            <a:r>
              <a:rPr dirty="0" spc="-15"/>
              <a:t> </a:t>
            </a:r>
            <a:r>
              <a:rPr dirty="0" spc="-10"/>
              <a:t>Canada</a:t>
            </a:r>
          </a:p>
        </p:txBody>
      </p:sp>
      <p:sp>
        <p:nvSpPr>
          <p:cNvPr id="49" name="object 4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11</a:t>
            </a:fld>
            <a:r>
              <a:rPr dirty="0"/>
              <a:t> /</a:t>
            </a:r>
            <a:r>
              <a:rPr dirty="0" spc="-10"/>
              <a:t> </a:t>
            </a:r>
            <a:r>
              <a:rPr dirty="0" spc="-25"/>
              <a:t>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343915"/>
            <a:ext cx="367030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C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I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38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2</a:t>
            </a:r>
            <a:r>
              <a:rPr dirty="0" sz="1100" spc="38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·</a:t>
            </a:r>
            <a:r>
              <a:rPr dirty="0" sz="1100" spc="39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D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A</a:t>
            </a:r>
            <a:r>
              <a:rPr dirty="0" sz="1100" spc="-14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A</a:t>
            </a:r>
            <a:r>
              <a:rPr dirty="0" sz="1100" spc="43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Y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P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4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&amp;</a:t>
            </a:r>
            <a:r>
              <a:rPr dirty="0" sz="1100" spc="39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P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R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A</a:t>
            </a:r>
            <a:r>
              <a:rPr dirty="0" sz="1100" spc="-14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R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Comparison</a:t>
            </a:r>
            <a:r>
              <a:rPr dirty="0" spc="-70"/>
              <a:t> </a:t>
            </a:r>
            <a:r>
              <a:rPr dirty="0"/>
              <a:t>&amp;</a:t>
            </a:r>
            <a:r>
              <a:rPr dirty="0" spc="-70"/>
              <a:t> </a:t>
            </a:r>
            <a:r>
              <a:rPr dirty="0"/>
              <a:t>Logical</a:t>
            </a:r>
            <a:r>
              <a:rPr dirty="0" spc="-55"/>
              <a:t> </a:t>
            </a:r>
            <a:r>
              <a:rPr dirty="0" spc="-10"/>
              <a:t>Operators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0219" y="1378965"/>
            <a:ext cx="637476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These</a:t>
            </a:r>
            <a:r>
              <a:rPr dirty="0" sz="1400" spc="-4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return</a:t>
            </a:r>
            <a:r>
              <a:rPr dirty="0" sz="1400" spc="-4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spc="-20" i="1">
                <a:solidFill>
                  <a:srgbClr val="495468"/>
                </a:solidFill>
                <a:latin typeface="Arial"/>
                <a:cs typeface="Arial"/>
              </a:rPr>
              <a:t>True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or</a:t>
            </a:r>
            <a:r>
              <a:rPr dirty="0" sz="14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False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—</a:t>
            </a:r>
            <a:r>
              <a:rPr dirty="0" sz="1400" spc="-1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the</a:t>
            </a:r>
            <a:r>
              <a:rPr dirty="0" sz="14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foundation</a:t>
            </a:r>
            <a:r>
              <a:rPr dirty="0" sz="1400" spc="-5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of</a:t>
            </a:r>
            <a:r>
              <a:rPr dirty="0" sz="1400" spc="-2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every</a:t>
            </a:r>
            <a:r>
              <a:rPr dirty="0" sz="1400" spc="-5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decision</a:t>
            </a:r>
            <a:r>
              <a:rPr dirty="0" sz="14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a</a:t>
            </a:r>
            <a:r>
              <a:rPr dirty="0" sz="1400" spc="-2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program</a:t>
            </a:r>
            <a:r>
              <a:rPr dirty="0" sz="1400" spc="-6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spc="-10" i="1">
                <a:solidFill>
                  <a:srgbClr val="495468"/>
                </a:solidFill>
                <a:latin typeface="Arial"/>
                <a:cs typeface="Arial"/>
              </a:rPr>
              <a:t>makes.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0904" y="1796750"/>
            <a:ext cx="5580380" cy="4039870"/>
            <a:chOff x="470904" y="1796750"/>
            <a:chExt cx="5580380" cy="40398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904" y="1796750"/>
              <a:ext cx="5580148" cy="403943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2920" y="1828800"/>
              <a:ext cx="5486400" cy="3931920"/>
            </a:xfrm>
            <a:custGeom>
              <a:avLst/>
              <a:gdLst/>
              <a:ahLst/>
              <a:cxnLst/>
              <a:rect l="l" t="t" r="r" b="b"/>
              <a:pathLst>
                <a:path w="5486400" h="3931920">
                  <a:moveTo>
                    <a:pt x="5413247" y="0"/>
                  </a:moveTo>
                  <a:lnTo>
                    <a:pt x="73139" y="0"/>
                  </a:lnTo>
                  <a:lnTo>
                    <a:pt x="44668" y="5750"/>
                  </a:lnTo>
                  <a:lnTo>
                    <a:pt x="21420" y="21431"/>
                  </a:lnTo>
                  <a:lnTo>
                    <a:pt x="5746" y="44684"/>
                  </a:lnTo>
                  <a:lnTo>
                    <a:pt x="0" y="73151"/>
                  </a:lnTo>
                  <a:lnTo>
                    <a:pt x="0" y="3858780"/>
                  </a:lnTo>
                  <a:lnTo>
                    <a:pt x="5746" y="3887251"/>
                  </a:lnTo>
                  <a:lnTo>
                    <a:pt x="21420" y="3910499"/>
                  </a:lnTo>
                  <a:lnTo>
                    <a:pt x="44668" y="3926173"/>
                  </a:lnTo>
                  <a:lnTo>
                    <a:pt x="73139" y="3931920"/>
                  </a:lnTo>
                  <a:lnTo>
                    <a:pt x="5413247" y="3931920"/>
                  </a:lnTo>
                  <a:lnTo>
                    <a:pt x="5441715" y="3926173"/>
                  </a:lnTo>
                  <a:lnTo>
                    <a:pt x="5464968" y="3910499"/>
                  </a:lnTo>
                  <a:lnTo>
                    <a:pt x="5480649" y="3887251"/>
                  </a:lnTo>
                  <a:lnTo>
                    <a:pt x="5486400" y="3858780"/>
                  </a:lnTo>
                  <a:lnTo>
                    <a:pt x="5486400" y="73151"/>
                  </a:lnTo>
                  <a:lnTo>
                    <a:pt x="5480649" y="44684"/>
                  </a:lnTo>
                  <a:lnTo>
                    <a:pt x="5464968" y="21431"/>
                  </a:lnTo>
                  <a:lnTo>
                    <a:pt x="5441715" y="5750"/>
                  </a:lnTo>
                  <a:lnTo>
                    <a:pt x="5413247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718819" y="2018741"/>
            <a:ext cx="106426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2D5C99"/>
                </a:solidFill>
                <a:latin typeface="Arial"/>
                <a:cs typeface="Arial"/>
              </a:rPr>
              <a:t>Comparison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4540" y="2475102"/>
            <a:ext cx="220979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1">
                <a:solidFill>
                  <a:srgbClr val="091F3C"/>
                </a:solidFill>
                <a:latin typeface="Consolas"/>
                <a:cs typeface="Consolas"/>
              </a:rPr>
              <a:t>==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53514" y="2489454"/>
            <a:ext cx="59182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equal</a:t>
            </a:r>
            <a:r>
              <a:rPr dirty="0" sz="12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 spc="-25">
                <a:solidFill>
                  <a:srgbClr val="495468"/>
                </a:solidFill>
                <a:latin typeface="Arial MT"/>
                <a:cs typeface="Arial MT"/>
              </a:rPr>
              <a:t>to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4540" y="2996311"/>
            <a:ext cx="220979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1">
                <a:solidFill>
                  <a:srgbClr val="091F3C"/>
                </a:solidFill>
                <a:latin typeface="Consolas"/>
                <a:cs typeface="Consolas"/>
              </a:rPr>
              <a:t>!=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53514" y="3010916"/>
            <a:ext cx="85788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not</a:t>
            </a:r>
            <a:r>
              <a:rPr dirty="0" sz="12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equal</a:t>
            </a:r>
            <a:r>
              <a:rPr dirty="0" sz="12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 spc="-25">
                <a:solidFill>
                  <a:srgbClr val="495468"/>
                </a:solidFill>
                <a:latin typeface="Arial MT"/>
                <a:cs typeface="Arial MT"/>
              </a:rPr>
              <a:t>to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4540" y="3517213"/>
            <a:ext cx="12382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 b="1">
                <a:solidFill>
                  <a:srgbClr val="091F3C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53514" y="3532123"/>
            <a:ext cx="88265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greater</a:t>
            </a:r>
            <a:r>
              <a:rPr dirty="0" sz="125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 spc="-20">
                <a:solidFill>
                  <a:srgbClr val="495468"/>
                </a:solidFill>
                <a:latin typeface="Arial MT"/>
                <a:cs typeface="Arial MT"/>
              </a:rPr>
              <a:t>than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4540" y="4038980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091F3C"/>
                </a:solidFill>
                <a:latin typeface="Consolas"/>
                <a:cs typeface="Consolas"/>
              </a:rPr>
              <a:t>&lt;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53514" y="4053332"/>
            <a:ext cx="66230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less</a:t>
            </a:r>
            <a:r>
              <a:rPr dirty="0" sz="12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 spc="-20">
                <a:solidFill>
                  <a:srgbClr val="495468"/>
                </a:solidFill>
                <a:latin typeface="Arial MT"/>
                <a:cs typeface="Arial MT"/>
              </a:rPr>
              <a:t>than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4540" y="4560189"/>
            <a:ext cx="220979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091F3C"/>
                </a:solidFill>
                <a:latin typeface="Consolas"/>
                <a:cs typeface="Consolas"/>
              </a:rPr>
              <a:t>&gt;=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3514" y="4574794"/>
            <a:ext cx="114808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greater</a:t>
            </a:r>
            <a:r>
              <a:rPr dirty="0" sz="12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or</a:t>
            </a:r>
            <a:r>
              <a:rPr dirty="0" sz="1250" spc="-20">
                <a:solidFill>
                  <a:srgbClr val="495468"/>
                </a:solidFill>
                <a:latin typeface="Arial MT"/>
                <a:cs typeface="Arial MT"/>
              </a:rPr>
              <a:t> equal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4540" y="5081092"/>
            <a:ext cx="220979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1">
                <a:solidFill>
                  <a:srgbClr val="091F3C"/>
                </a:solidFill>
                <a:latin typeface="Consolas"/>
                <a:cs typeface="Consolas"/>
              </a:rPr>
              <a:t>&lt;=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53514" y="5096002"/>
            <a:ext cx="92583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less</a:t>
            </a:r>
            <a:r>
              <a:rPr dirty="0" sz="12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or</a:t>
            </a:r>
            <a:r>
              <a:rPr dirty="0" sz="12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95468"/>
                </a:solidFill>
                <a:latin typeface="Arial MT"/>
                <a:cs typeface="Arial MT"/>
              </a:rPr>
              <a:t>equal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368753" y="1796750"/>
            <a:ext cx="5382260" cy="4039870"/>
            <a:chOff x="6368753" y="1796750"/>
            <a:chExt cx="5382260" cy="4039870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8753" y="1796750"/>
              <a:ext cx="5382090" cy="403943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400800" y="1828800"/>
              <a:ext cx="5288280" cy="3931920"/>
            </a:xfrm>
            <a:custGeom>
              <a:avLst/>
              <a:gdLst/>
              <a:ahLst/>
              <a:cxnLst/>
              <a:rect l="l" t="t" r="r" b="b"/>
              <a:pathLst>
                <a:path w="5288280" h="3931920">
                  <a:moveTo>
                    <a:pt x="521487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3858793"/>
                  </a:lnTo>
                  <a:lnTo>
                    <a:pt x="5750" y="3887257"/>
                  </a:lnTo>
                  <a:lnTo>
                    <a:pt x="21431" y="3910501"/>
                  </a:lnTo>
                  <a:lnTo>
                    <a:pt x="44684" y="3926173"/>
                  </a:lnTo>
                  <a:lnTo>
                    <a:pt x="73151" y="3931920"/>
                  </a:lnTo>
                  <a:lnTo>
                    <a:pt x="5214874" y="3931920"/>
                  </a:lnTo>
                  <a:lnTo>
                    <a:pt x="5243341" y="3926173"/>
                  </a:lnTo>
                  <a:lnTo>
                    <a:pt x="5266594" y="3910501"/>
                  </a:lnTo>
                  <a:lnTo>
                    <a:pt x="5282275" y="3887257"/>
                  </a:lnTo>
                  <a:lnTo>
                    <a:pt x="5288026" y="3858793"/>
                  </a:lnTo>
                  <a:lnTo>
                    <a:pt x="5288026" y="73151"/>
                  </a:lnTo>
                  <a:lnTo>
                    <a:pt x="5282275" y="44684"/>
                  </a:lnTo>
                  <a:lnTo>
                    <a:pt x="5266594" y="21431"/>
                  </a:lnTo>
                  <a:lnTo>
                    <a:pt x="5243341" y="5750"/>
                  </a:lnTo>
                  <a:lnTo>
                    <a:pt x="5214874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6617589" y="2018741"/>
            <a:ext cx="64897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2D8A56"/>
                </a:solidFill>
                <a:latin typeface="Arial"/>
                <a:cs typeface="Arial"/>
              </a:rPr>
              <a:t>Logical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63308" y="2475102"/>
            <a:ext cx="3200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1">
                <a:solidFill>
                  <a:srgbClr val="091F3C"/>
                </a:solidFill>
                <a:latin typeface="Consolas"/>
                <a:cs typeface="Consolas"/>
              </a:rPr>
              <a:t>and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760589" y="2493390"/>
            <a:ext cx="20732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True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only</a:t>
            </a:r>
            <a:r>
              <a:rPr dirty="0" sz="1200" spc="-4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if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both</a:t>
            </a:r>
            <a:r>
              <a:rPr dirty="0" sz="120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sides</a:t>
            </a:r>
            <a:r>
              <a:rPr dirty="0" sz="120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are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true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663308" y="2996311"/>
            <a:ext cx="220979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1">
                <a:solidFill>
                  <a:srgbClr val="091F3C"/>
                </a:solidFill>
                <a:latin typeface="Consolas"/>
                <a:cs typeface="Consolas"/>
              </a:rPr>
              <a:t>or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760589" y="3014598"/>
            <a:ext cx="16516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True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if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either</a:t>
            </a:r>
            <a:r>
              <a:rPr dirty="0" sz="1200" spc="-4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side</a:t>
            </a:r>
            <a:r>
              <a:rPr dirty="0" sz="120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is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 true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663308" y="3517213"/>
            <a:ext cx="32067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1">
                <a:solidFill>
                  <a:srgbClr val="091F3C"/>
                </a:solidFill>
                <a:latin typeface="Consolas"/>
                <a:cs typeface="Consolas"/>
              </a:rPr>
              <a:t>not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760589" y="3535502"/>
            <a:ext cx="69532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Flips</a:t>
            </a:r>
            <a:r>
              <a:rPr dirty="0" sz="1200" spc="-4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True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31" name="object 3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91143" y="3505200"/>
            <a:ext cx="334518" cy="319277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8666226" y="3535502"/>
            <a:ext cx="39878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False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569964" y="3963923"/>
            <a:ext cx="5040630" cy="1748789"/>
            <a:chOff x="6569964" y="3963923"/>
            <a:chExt cx="5040630" cy="1748789"/>
          </a:xfrm>
        </p:grpSpPr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69964" y="3963923"/>
              <a:ext cx="5040630" cy="1748789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629400" y="4023359"/>
              <a:ext cx="4892040" cy="1600200"/>
            </a:xfrm>
            <a:custGeom>
              <a:avLst/>
              <a:gdLst/>
              <a:ahLst/>
              <a:cxnLst/>
              <a:rect l="l" t="t" r="r" b="b"/>
              <a:pathLst>
                <a:path w="4892040" h="1600200">
                  <a:moveTo>
                    <a:pt x="4846320" y="0"/>
                  </a:moveTo>
                  <a:lnTo>
                    <a:pt x="45720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19"/>
                  </a:lnTo>
                  <a:lnTo>
                    <a:pt x="0" y="1554480"/>
                  </a:lnTo>
                  <a:lnTo>
                    <a:pt x="3589" y="1572275"/>
                  </a:lnTo>
                  <a:lnTo>
                    <a:pt x="13382" y="1586807"/>
                  </a:lnTo>
                  <a:lnTo>
                    <a:pt x="27914" y="1596606"/>
                  </a:lnTo>
                  <a:lnTo>
                    <a:pt x="45720" y="1600199"/>
                  </a:lnTo>
                  <a:lnTo>
                    <a:pt x="4846320" y="1600199"/>
                  </a:lnTo>
                  <a:lnTo>
                    <a:pt x="4864125" y="1596606"/>
                  </a:lnTo>
                  <a:lnTo>
                    <a:pt x="4878657" y="1586807"/>
                  </a:lnTo>
                  <a:lnTo>
                    <a:pt x="4888450" y="1572275"/>
                  </a:lnTo>
                  <a:lnTo>
                    <a:pt x="4892040" y="1554480"/>
                  </a:lnTo>
                  <a:lnTo>
                    <a:pt x="4892040" y="45719"/>
                  </a:lnTo>
                  <a:lnTo>
                    <a:pt x="4888450" y="27914"/>
                  </a:lnTo>
                  <a:lnTo>
                    <a:pt x="4878657" y="13382"/>
                  </a:lnTo>
                  <a:lnTo>
                    <a:pt x="4864125" y="3589"/>
                  </a:lnTo>
                  <a:lnTo>
                    <a:pt x="4846320" y="0"/>
                  </a:lnTo>
                  <a:close/>
                </a:path>
              </a:pathLst>
            </a:custGeom>
            <a:solidFill>
              <a:srgbClr val="1A23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6782181" y="4112132"/>
            <a:ext cx="237934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9270">
              <a:lnSpc>
                <a:spcPct val="100000"/>
              </a:lnSpc>
              <a:spcBef>
                <a:spcPts val="100"/>
              </a:spcBef>
              <a:tabLst>
                <a:tab pos="1441450" algn="l"/>
              </a:tabLst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balance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0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1500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	# </a:t>
            </a:r>
            <a:r>
              <a:rPr dirty="0" sz="1200" spc="-25">
                <a:solidFill>
                  <a:srgbClr val="E6ECF3"/>
                </a:solidFill>
                <a:latin typeface="Consolas"/>
                <a:cs typeface="Consolas"/>
              </a:rPr>
              <a:t>ETB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is_member</a:t>
            </a:r>
            <a:r>
              <a:rPr dirty="0" sz="1200" spc="-3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 True</a:t>
            </a:r>
            <a:endParaRPr sz="1200">
              <a:latin typeface="Consolas"/>
              <a:cs typeface="Consolas"/>
            </a:endParaRPr>
          </a:p>
          <a:p>
            <a:pPr marL="12700" marR="5080">
              <a:lnSpc>
                <a:spcPct val="100000"/>
              </a:lnSpc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balance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&gt;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1000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and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 is_member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#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True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Property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IBT</a:t>
            </a:r>
            <a:r>
              <a:rPr dirty="0" spc="-35"/>
              <a:t> </a:t>
            </a:r>
            <a:r>
              <a:rPr dirty="0"/>
              <a:t>College</a:t>
            </a:r>
            <a:r>
              <a:rPr dirty="0" spc="-15"/>
              <a:t> </a:t>
            </a:r>
            <a:r>
              <a:rPr dirty="0" spc="-10"/>
              <a:t>Canada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11</a:t>
            </a:fld>
            <a:r>
              <a:rPr dirty="0"/>
              <a:t> /</a:t>
            </a:r>
            <a:r>
              <a:rPr dirty="0" spc="-10"/>
              <a:t> </a:t>
            </a:r>
            <a:r>
              <a:rPr dirty="0" spc="-25"/>
              <a:t>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10571" y="1862454"/>
            <a:ext cx="1812289" cy="2785110"/>
          </a:xfrm>
          <a:custGeom>
            <a:avLst/>
            <a:gdLst/>
            <a:ahLst/>
            <a:cxnLst/>
            <a:rect l="l" t="t" r="r" b="b"/>
            <a:pathLst>
              <a:path w="1812290" h="2785110">
                <a:moveTo>
                  <a:pt x="879982" y="0"/>
                </a:moveTo>
                <a:lnTo>
                  <a:pt x="824374" y="1327"/>
                </a:lnTo>
                <a:lnTo>
                  <a:pt x="770135" y="5306"/>
                </a:lnTo>
                <a:lnTo>
                  <a:pt x="717266" y="11934"/>
                </a:lnTo>
                <a:lnTo>
                  <a:pt x="665765" y="21209"/>
                </a:lnTo>
                <a:lnTo>
                  <a:pt x="615634" y="33126"/>
                </a:lnTo>
                <a:lnTo>
                  <a:pt x="566872" y="47684"/>
                </a:lnTo>
                <a:lnTo>
                  <a:pt x="519479" y="64879"/>
                </a:lnTo>
                <a:lnTo>
                  <a:pt x="473455" y="84709"/>
                </a:lnTo>
                <a:lnTo>
                  <a:pt x="423272" y="110173"/>
                </a:lnTo>
                <a:lnTo>
                  <a:pt x="376352" y="138229"/>
                </a:lnTo>
                <a:lnTo>
                  <a:pt x="332693" y="168874"/>
                </a:lnTo>
                <a:lnTo>
                  <a:pt x="292294" y="202102"/>
                </a:lnTo>
                <a:lnTo>
                  <a:pt x="255151" y="237910"/>
                </a:lnTo>
                <a:lnTo>
                  <a:pt x="221262" y="276293"/>
                </a:lnTo>
                <a:lnTo>
                  <a:pt x="190626" y="317246"/>
                </a:lnTo>
                <a:lnTo>
                  <a:pt x="166088" y="355762"/>
                </a:lnTo>
                <a:lnTo>
                  <a:pt x="143146" y="397396"/>
                </a:lnTo>
                <a:lnTo>
                  <a:pt x="121803" y="442147"/>
                </a:lnTo>
                <a:lnTo>
                  <a:pt x="102060" y="490013"/>
                </a:lnTo>
                <a:lnTo>
                  <a:pt x="83918" y="540992"/>
                </a:lnTo>
                <a:lnTo>
                  <a:pt x="67379" y="595084"/>
                </a:lnTo>
                <a:lnTo>
                  <a:pt x="52444" y="652286"/>
                </a:lnTo>
                <a:lnTo>
                  <a:pt x="39116" y="712597"/>
                </a:lnTo>
                <a:lnTo>
                  <a:pt x="520826" y="794385"/>
                </a:lnTo>
                <a:lnTo>
                  <a:pt x="529748" y="737256"/>
                </a:lnTo>
                <a:lnTo>
                  <a:pt x="542798" y="684873"/>
                </a:lnTo>
                <a:lnTo>
                  <a:pt x="559974" y="637238"/>
                </a:lnTo>
                <a:lnTo>
                  <a:pt x="581278" y="594355"/>
                </a:lnTo>
                <a:lnTo>
                  <a:pt x="606710" y="556227"/>
                </a:lnTo>
                <a:lnTo>
                  <a:pt x="636270" y="522859"/>
                </a:lnTo>
                <a:lnTo>
                  <a:pt x="675773" y="489329"/>
                </a:lnTo>
                <a:lnTo>
                  <a:pt x="718391" y="463262"/>
                </a:lnTo>
                <a:lnTo>
                  <a:pt x="764130" y="444650"/>
                </a:lnTo>
                <a:lnTo>
                  <a:pt x="812997" y="433487"/>
                </a:lnTo>
                <a:lnTo>
                  <a:pt x="864997" y="429768"/>
                </a:lnTo>
                <a:lnTo>
                  <a:pt x="917176" y="433044"/>
                </a:lnTo>
                <a:lnTo>
                  <a:pt x="965046" y="442874"/>
                </a:lnTo>
                <a:lnTo>
                  <a:pt x="1008594" y="459257"/>
                </a:lnTo>
                <a:lnTo>
                  <a:pt x="1047807" y="482193"/>
                </a:lnTo>
                <a:lnTo>
                  <a:pt x="1082675" y="511683"/>
                </a:lnTo>
                <a:lnTo>
                  <a:pt x="1112164" y="546674"/>
                </a:lnTo>
                <a:lnTo>
                  <a:pt x="1135100" y="586115"/>
                </a:lnTo>
                <a:lnTo>
                  <a:pt x="1151483" y="630006"/>
                </a:lnTo>
                <a:lnTo>
                  <a:pt x="1161313" y="678347"/>
                </a:lnTo>
                <a:lnTo>
                  <a:pt x="1164589" y="731139"/>
                </a:lnTo>
                <a:lnTo>
                  <a:pt x="1161489" y="783326"/>
                </a:lnTo>
                <a:lnTo>
                  <a:pt x="1152186" y="831939"/>
                </a:lnTo>
                <a:lnTo>
                  <a:pt x="1136681" y="876982"/>
                </a:lnTo>
                <a:lnTo>
                  <a:pt x="1114975" y="918459"/>
                </a:lnTo>
                <a:lnTo>
                  <a:pt x="1087067" y="956372"/>
                </a:lnTo>
                <a:lnTo>
                  <a:pt x="1052956" y="990727"/>
                </a:lnTo>
                <a:lnTo>
                  <a:pt x="1019009" y="1016494"/>
                </a:lnTo>
                <a:lnTo>
                  <a:pt x="980958" y="1038061"/>
                </a:lnTo>
                <a:lnTo>
                  <a:pt x="938806" y="1055424"/>
                </a:lnTo>
                <a:lnTo>
                  <a:pt x="892556" y="1068582"/>
                </a:lnTo>
                <a:lnTo>
                  <a:pt x="842209" y="1077533"/>
                </a:lnTo>
                <a:lnTo>
                  <a:pt x="787767" y="1082273"/>
                </a:lnTo>
                <a:lnTo>
                  <a:pt x="729233" y="1082802"/>
                </a:lnTo>
                <a:lnTo>
                  <a:pt x="671576" y="1508760"/>
                </a:lnTo>
                <a:lnTo>
                  <a:pt x="725799" y="1494707"/>
                </a:lnTo>
                <a:lnTo>
                  <a:pt x="776914" y="1483788"/>
                </a:lnTo>
                <a:lnTo>
                  <a:pt x="824920" y="1475997"/>
                </a:lnTo>
                <a:lnTo>
                  <a:pt x="869817" y="1471326"/>
                </a:lnTo>
                <a:lnTo>
                  <a:pt x="911605" y="1469771"/>
                </a:lnTo>
                <a:lnTo>
                  <a:pt x="961124" y="1472968"/>
                </a:lnTo>
                <a:lnTo>
                  <a:pt x="1008078" y="1482565"/>
                </a:lnTo>
                <a:lnTo>
                  <a:pt x="1052464" y="1498568"/>
                </a:lnTo>
                <a:lnTo>
                  <a:pt x="1094279" y="1520984"/>
                </a:lnTo>
                <a:lnTo>
                  <a:pt x="1133517" y="1549822"/>
                </a:lnTo>
                <a:lnTo>
                  <a:pt x="1170177" y="1585087"/>
                </a:lnTo>
                <a:lnTo>
                  <a:pt x="1198285" y="1619695"/>
                </a:lnTo>
                <a:lnTo>
                  <a:pt x="1222081" y="1657657"/>
                </a:lnTo>
                <a:lnTo>
                  <a:pt x="1241560" y="1698970"/>
                </a:lnTo>
                <a:lnTo>
                  <a:pt x="1256718" y="1743628"/>
                </a:lnTo>
                <a:lnTo>
                  <a:pt x="1267551" y="1791628"/>
                </a:lnTo>
                <a:lnTo>
                  <a:pt x="1274054" y="1842965"/>
                </a:lnTo>
                <a:lnTo>
                  <a:pt x="1276223" y="1897634"/>
                </a:lnTo>
                <a:lnTo>
                  <a:pt x="1273960" y="1955429"/>
                </a:lnTo>
                <a:lnTo>
                  <a:pt x="1267175" y="2009725"/>
                </a:lnTo>
                <a:lnTo>
                  <a:pt x="1255868" y="2060523"/>
                </a:lnTo>
                <a:lnTo>
                  <a:pt x="1240043" y="2107821"/>
                </a:lnTo>
                <a:lnTo>
                  <a:pt x="1219702" y="2151621"/>
                </a:lnTo>
                <a:lnTo>
                  <a:pt x="1194846" y="2191921"/>
                </a:lnTo>
                <a:lnTo>
                  <a:pt x="1165478" y="2228723"/>
                </a:lnTo>
                <a:lnTo>
                  <a:pt x="1127166" y="2266262"/>
                </a:lnTo>
                <a:lnTo>
                  <a:pt x="1086014" y="2296969"/>
                </a:lnTo>
                <a:lnTo>
                  <a:pt x="1042019" y="2320845"/>
                </a:lnTo>
                <a:lnTo>
                  <a:pt x="995176" y="2337895"/>
                </a:lnTo>
                <a:lnTo>
                  <a:pt x="945483" y="2348123"/>
                </a:lnTo>
                <a:lnTo>
                  <a:pt x="892936" y="2351532"/>
                </a:lnTo>
                <a:lnTo>
                  <a:pt x="843947" y="2348694"/>
                </a:lnTo>
                <a:lnTo>
                  <a:pt x="797437" y="2340177"/>
                </a:lnTo>
                <a:lnTo>
                  <a:pt x="753411" y="2325973"/>
                </a:lnTo>
                <a:lnTo>
                  <a:pt x="711872" y="2306075"/>
                </a:lnTo>
                <a:lnTo>
                  <a:pt x="672824" y="2280476"/>
                </a:lnTo>
                <a:lnTo>
                  <a:pt x="636270" y="2249170"/>
                </a:lnTo>
                <a:lnTo>
                  <a:pt x="607625" y="2218083"/>
                </a:lnTo>
                <a:lnTo>
                  <a:pt x="582323" y="2183277"/>
                </a:lnTo>
                <a:lnTo>
                  <a:pt x="560365" y="2144750"/>
                </a:lnTo>
                <a:lnTo>
                  <a:pt x="541750" y="2102500"/>
                </a:lnTo>
                <a:lnTo>
                  <a:pt x="526479" y="2056524"/>
                </a:lnTo>
                <a:lnTo>
                  <a:pt x="514552" y="2006820"/>
                </a:lnTo>
                <a:lnTo>
                  <a:pt x="505968" y="1953387"/>
                </a:lnTo>
                <a:lnTo>
                  <a:pt x="0" y="2014855"/>
                </a:lnTo>
                <a:lnTo>
                  <a:pt x="7218" y="2067011"/>
                </a:lnTo>
                <a:lnTo>
                  <a:pt x="16858" y="2117620"/>
                </a:lnTo>
                <a:lnTo>
                  <a:pt x="28919" y="2166681"/>
                </a:lnTo>
                <a:lnTo>
                  <a:pt x="43402" y="2214194"/>
                </a:lnTo>
                <a:lnTo>
                  <a:pt x="60306" y="2260157"/>
                </a:lnTo>
                <a:lnTo>
                  <a:pt x="79631" y="2304570"/>
                </a:lnTo>
                <a:lnTo>
                  <a:pt x="101377" y="2347432"/>
                </a:lnTo>
                <a:lnTo>
                  <a:pt x="125545" y="2388743"/>
                </a:lnTo>
                <a:lnTo>
                  <a:pt x="152133" y="2428502"/>
                </a:lnTo>
                <a:lnTo>
                  <a:pt x="181144" y="2466709"/>
                </a:lnTo>
                <a:lnTo>
                  <a:pt x="212575" y="2503361"/>
                </a:lnTo>
                <a:lnTo>
                  <a:pt x="246428" y="2538460"/>
                </a:lnTo>
                <a:lnTo>
                  <a:pt x="282701" y="2572004"/>
                </a:lnTo>
                <a:lnTo>
                  <a:pt x="320962" y="2603509"/>
                </a:lnTo>
                <a:lnTo>
                  <a:pt x="360715" y="2632495"/>
                </a:lnTo>
                <a:lnTo>
                  <a:pt x="401961" y="2658959"/>
                </a:lnTo>
                <a:lnTo>
                  <a:pt x="444700" y="2682904"/>
                </a:lnTo>
                <a:lnTo>
                  <a:pt x="488933" y="2704328"/>
                </a:lnTo>
                <a:lnTo>
                  <a:pt x="534661" y="2723231"/>
                </a:lnTo>
                <a:lnTo>
                  <a:pt x="581883" y="2739614"/>
                </a:lnTo>
                <a:lnTo>
                  <a:pt x="630600" y="2753477"/>
                </a:lnTo>
                <a:lnTo>
                  <a:pt x="680812" y="2764819"/>
                </a:lnTo>
                <a:lnTo>
                  <a:pt x="732520" y="2773640"/>
                </a:lnTo>
                <a:lnTo>
                  <a:pt x="785723" y="2779942"/>
                </a:lnTo>
                <a:lnTo>
                  <a:pt x="840423" y="2783722"/>
                </a:lnTo>
                <a:lnTo>
                  <a:pt x="896620" y="2784983"/>
                </a:lnTo>
                <a:lnTo>
                  <a:pt x="948144" y="2783858"/>
                </a:lnTo>
                <a:lnTo>
                  <a:pt x="998528" y="2780485"/>
                </a:lnTo>
                <a:lnTo>
                  <a:pt x="1047770" y="2774863"/>
                </a:lnTo>
                <a:lnTo>
                  <a:pt x="1095871" y="2766993"/>
                </a:lnTo>
                <a:lnTo>
                  <a:pt x="1142830" y="2756873"/>
                </a:lnTo>
                <a:lnTo>
                  <a:pt x="1188648" y="2744505"/>
                </a:lnTo>
                <a:lnTo>
                  <a:pt x="1233325" y="2729888"/>
                </a:lnTo>
                <a:lnTo>
                  <a:pt x="1276861" y="2713023"/>
                </a:lnTo>
                <a:lnTo>
                  <a:pt x="1319255" y="2693908"/>
                </a:lnTo>
                <a:lnTo>
                  <a:pt x="1360508" y="2672545"/>
                </a:lnTo>
                <a:lnTo>
                  <a:pt x="1400620" y="2648933"/>
                </a:lnTo>
                <a:lnTo>
                  <a:pt x="1439590" y="2623073"/>
                </a:lnTo>
                <a:lnTo>
                  <a:pt x="1477419" y="2594963"/>
                </a:lnTo>
                <a:lnTo>
                  <a:pt x="1514107" y="2564605"/>
                </a:lnTo>
                <a:lnTo>
                  <a:pt x="1549653" y="2531999"/>
                </a:lnTo>
                <a:lnTo>
                  <a:pt x="1585790" y="2495316"/>
                </a:lnTo>
                <a:lnTo>
                  <a:pt x="1619252" y="2457549"/>
                </a:lnTo>
                <a:lnTo>
                  <a:pt x="1650038" y="2418698"/>
                </a:lnTo>
                <a:lnTo>
                  <a:pt x="1678149" y="2378765"/>
                </a:lnTo>
                <a:lnTo>
                  <a:pt x="1703583" y="2337749"/>
                </a:lnTo>
                <a:lnTo>
                  <a:pt x="1726342" y="2295651"/>
                </a:lnTo>
                <a:lnTo>
                  <a:pt x="1746424" y="2252472"/>
                </a:lnTo>
                <a:lnTo>
                  <a:pt x="1763830" y="2208211"/>
                </a:lnTo>
                <a:lnTo>
                  <a:pt x="1778558" y="2162871"/>
                </a:lnTo>
                <a:lnTo>
                  <a:pt x="1790609" y="2116451"/>
                </a:lnTo>
                <a:lnTo>
                  <a:pt x="1799983" y="2068952"/>
                </a:lnTo>
                <a:lnTo>
                  <a:pt x="1806679" y="2020374"/>
                </a:lnTo>
                <a:lnTo>
                  <a:pt x="1810696" y="1970719"/>
                </a:lnTo>
                <a:lnTo>
                  <a:pt x="1812035" y="1919986"/>
                </a:lnTo>
                <a:lnTo>
                  <a:pt x="1810300" y="1865888"/>
                </a:lnTo>
                <a:lnTo>
                  <a:pt x="1805094" y="1813580"/>
                </a:lnTo>
                <a:lnTo>
                  <a:pt x="1796419" y="1763061"/>
                </a:lnTo>
                <a:lnTo>
                  <a:pt x="1784276" y="1714332"/>
                </a:lnTo>
                <a:lnTo>
                  <a:pt x="1768666" y="1667395"/>
                </a:lnTo>
                <a:lnTo>
                  <a:pt x="1749589" y="1622250"/>
                </a:lnTo>
                <a:lnTo>
                  <a:pt x="1727048" y="1578900"/>
                </a:lnTo>
                <a:lnTo>
                  <a:pt x="1701042" y="1537344"/>
                </a:lnTo>
                <a:lnTo>
                  <a:pt x="1671574" y="1497584"/>
                </a:lnTo>
                <a:lnTo>
                  <a:pt x="1639174" y="1460297"/>
                </a:lnTo>
                <a:lnTo>
                  <a:pt x="1604461" y="1426079"/>
                </a:lnTo>
                <a:lnTo>
                  <a:pt x="1567433" y="1394930"/>
                </a:lnTo>
                <a:lnTo>
                  <a:pt x="1528092" y="1366851"/>
                </a:lnTo>
                <a:lnTo>
                  <a:pt x="1486436" y="1341842"/>
                </a:lnTo>
                <a:lnTo>
                  <a:pt x="1442466" y="1319906"/>
                </a:lnTo>
                <a:lnTo>
                  <a:pt x="1396181" y="1301043"/>
                </a:lnTo>
                <a:lnTo>
                  <a:pt x="1347582" y="1285253"/>
                </a:lnTo>
                <a:lnTo>
                  <a:pt x="1296670" y="1272540"/>
                </a:lnTo>
                <a:lnTo>
                  <a:pt x="1347251" y="1243370"/>
                </a:lnTo>
                <a:lnTo>
                  <a:pt x="1394347" y="1212910"/>
                </a:lnTo>
                <a:lnTo>
                  <a:pt x="1437958" y="1181160"/>
                </a:lnTo>
                <a:lnTo>
                  <a:pt x="1478082" y="1148120"/>
                </a:lnTo>
                <a:lnTo>
                  <a:pt x="1514719" y="1113790"/>
                </a:lnTo>
                <a:lnTo>
                  <a:pt x="1547869" y="1078169"/>
                </a:lnTo>
                <a:lnTo>
                  <a:pt x="1577532" y="1041257"/>
                </a:lnTo>
                <a:lnTo>
                  <a:pt x="1603707" y="1003056"/>
                </a:lnTo>
                <a:lnTo>
                  <a:pt x="1626393" y="963564"/>
                </a:lnTo>
                <a:lnTo>
                  <a:pt x="1645590" y="922782"/>
                </a:lnTo>
                <a:lnTo>
                  <a:pt x="1661298" y="880709"/>
                </a:lnTo>
                <a:lnTo>
                  <a:pt x="1673516" y="837346"/>
                </a:lnTo>
                <a:lnTo>
                  <a:pt x="1682244" y="792693"/>
                </a:lnTo>
                <a:lnTo>
                  <a:pt x="1687481" y="746749"/>
                </a:lnTo>
                <a:lnTo>
                  <a:pt x="1689227" y="699516"/>
                </a:lnTo>
                <a:lnTo>
                  <a:pt x="1687310" y="649441"/>
                </a:lnTo>
                <a:lnTo>
                  <a:pt x="1681561" y="600409"/>
                </a:lnTo>
                <a:lnTo>
                  <a:pt x="1671979" y="552419"/>
                </a:lnTo>
                <a:lnTo>
                  <a:pt x="1658564" y="505472"/>
                </a:lnTo>
                <a:lnTo>
                  <a:pt x="1641316" y="459565"/>
                </a:lnTo>
                <a:lnTo>
                  <a:pt x="1620235" y="414698"/>
                </a:lnTo>
                <a:lnTo>
                  <a:pt x="1595321" y="370871"/>
                </a:lnTo>
                <a:lnTo>
                  <a:pt x="1566575" y="328082"/>
                </a:lnTo>
                <a:lnTo>
                  <a:pt x="1533996" y="286331"/>
                </a:lnTo>
                <a:lnTo>
                  <a:pt x="1497583" y="245618"/>
                </a:lnTo>
                <a:lnTo>
                  <a:pt x="1463577" y="211790"/>
                </a:lnTo>
                <a:lnTo>
                  <a:pt x="1428016" y="180467"/>
                </a:lnTo>
                <a:lnTo>
                  <a:pt x="1390900" y="151648"/>
                </a:lnTo>
                <a:lnTo>
                  <a:pt x="1352228" y="125333"/>
                </a:lnTo>
                <a:lnTo>
                  <a:pt x="1312002" y="101524"/>
                </a:lnTo>
                <a:lnTo>
                  <a:pt x="1270220" y="80219"/>
                </a:lnTo>
                <a:lnTo>
                  <a:pt x="1226883" y="61420"/>
                </a:lnTo>
                <a:lnTo>
                  <a:pt x="1181991" y="45126"/>
                </a:lnTo>
                <a:lnTo>
                  <a:pt x="1135544" y="31339"/>
                </a:lnTo>
                <a:lnTo>
                  <a:pt x="1087542" y="20057"/>
                </a:lnTo>
                <a:lnTo>
                  <a:pt x="1037985" y="11282"/>
                </a:lnTo>
                <a:lnTo>
                  <a:pt x="986872" y="5014"/>
                </a:lnTo>
                <a:lnTo>
                  <a:pt x="934205" y="1253"/>
                </a:lnTo>
                <a:lnTo>
                  <a:pt x="879982" y="0"/>
                </a:lnTo>
                <a:close/>
              </a:path>
            </a:pathLst>
          </a:custGeom>
          <a:solidFill>
            <a:srgbClr val="4F46E4">
              <a:alpha val="3803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81659" y="2385187"/>
            <a:ext cx="19227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E4B546"/>
                </a:solidFill>
                <a:latin typeface="Arial"/>
                <a:cs typeface="Arial"/>
              </a:rPr>
              <a:t>S</a:t>
            </a:r>
            <a:r>
              <a:rPr dirty="0" sz="1400" spc="-95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E4B546"/>
                </a:solidFill>
                <a:latin typeface="Arial"/>
                <a:cs typeface="Arial"/>
              </a:rPr>
              <a:t>E</a:t>
            </a:r>
            <a:r>
              <a:rPr dirty="0" sz="1400" spc="-95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4B546"/>
                </a:solidFill>
                <a:latin typeface="Arial"/>
                <a:cs typeface="Arial"/>
              </a:rPr>
              <a:t>C</a:t>
            </a:r>
            <a:r>
              <a:rPr dirty="0" sz="1400" spc="-100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4B546"/>
                </a:solidFill>
                <a:latin typeface="Arial"/>
                <a:cs typeface="Arial"/>
              </a:rPr>
              <a:t>T</a:t>
            </a:r>
            <a:r>
              <a:rPr dirty="0" sz="1400" spc="-100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4B546"/>
                </a:solidFill>
                <a:latin typeface="Arial"/>
                <a:cs typeface="Arial"/>
              </a:rPr>
              <a:t>I</a:t>
            </a:r>
            <a:r>
              <a:rPr dirty="0" sz="1400" spc="-85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4B546"/>
                </a:solidFill>
                <a:latin typeface="Arial"/>
                <a:cs typeface="Arial"/>
              </a:rPr>
              <a:t>O</a:t>
            </a:r>
            <a:r>
              <a:rPr dirty="0" sz="1400" spc="-95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4B546"/>
                </a:solidFill>
                <a:latin typeface="Arial"/>
                <a:cs typeface="Arial"/>
              </a:rPr>
              <a:t>N</a:t>
            </a:r>
            <a:r>
              <a:rPr dirty="0" sz="1400" spc="95" b="1">
                <a:solidFill>
                  <a:srgbClr val="E4B546"/>
                </a:solidFill>
                <a:latin typeface="Arial"/>
                <a:cs typeface="Arial"/>
              </a:rPr>
              <a:t>  </a:t>
            </a:r>
            <a:r>
              <a:rPr dirty="0" sz="1400" b="1">
                <a:solidFill>
                  <a:srgbClr val="E4B546"/>
                </a:solidFill>
                <a:latin typeface="Arial"/>
                <a:cs typeface="Arial"/>
              </a:rPr>
              <a:t>T</a:t>
            </a:r>
            <a:r>
              <a:rPr dirty="0" sz="1400" spc="-100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4B546"/>
                </a:solidFill>
                <a:latin typeface="Arial"/>
                <a:cs typeface="Arial"/>
              </a:rPr>
              <a:t>H</a:t>
            </a:r>
            <a:r>
              <a:rPr dirty="0" sz="1400" spc="-100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4B546"/>
                </a:solidFill>
                <a:latin typeface="Arial"/>
                <a:cs typeface="Arial"/>
              </a:rPr>
              <a:t>R</a:t>
            </a:r>
            <a:r>
              <a:rPr dirty="0" sz="1400" spc="-100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E4B546"/>
                </a:solidFill>
                <a:latin typeface="Arial"/>
                <a:cs typeface="Arial"/>
              </a:rPr>
              <a:t>E</a:t>
            </a:r>
            <a:r>
              <a:rPr dirty="0" sz="1400" spc="-95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spc="-50" b="1">
                <a:solidFill>
                  <a:srgbClr val="E4B546"/>
                </a:solidFill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FFFFF"/>
                </a:solidFill>
              </a:rPr>
              <a:t>Control</a:t>
            </a:r>
            <a:r>
              <a:rPr dirty="0" sz="4000" spc="-65">
                <a:solidFill>
                  <a:srgbClr val="FFFFFF"/>
                </a:solidFill>
              </a:rPr>
              <a:t> </a:t>
            </a:r>
            <a:r>
              <a:rPr dirty="0" sz="4000" spc="-20">
                <a:solidFill>
                  <a:srgbClr val="FFFFFF"/>
                </a:solidFill>
              </a:rPr>
              <a:t>Flow</a:t>
            </a:r>
            <a:endParaRPr sz="4000"/>
          </a:p>
        </p:txBody>
      </p:sp>
      <p:sp>
        <p:nvSpPr>
          <p:cNvPr id="5" name="object 5"/>
          <p:cNvSpPr txBox="1"/>
          <p:nvPr/>
        </p:nvSpPr>
        <p:spPr>
          <a:xfrm>
            <a:off x="599948" y="4098417"/>
            <a:ext cx="6337300" cy="476884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200"/>
              </a:spcBef>
            </a:pP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Making</a:t>
            </a:r>
            <a:r>
              <a:rPr dirty="0" sz="1500" spc="-4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decisions</a:t>
            </a:r>
            <a:r>
              <a:rPr dirty="0" sz="1500" spc="-70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with</a:t>
            </a:r>
            <a:r>
              <a:rPr dirty="0" sz="1500" spc="-40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conditionals</a:t>
            </a:r>
            <a:r>
              <a:rPr dirty="0" sz="1500" spc="-6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and</a:t>
            </a:r>
            <a:r>
              <a:rPr dirty="0" sz="1500" spc="-4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repeating</a:t>
            </a:r>
            <a:r>
              <a:rPr dirty="0" sz="1500" spc="-6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work</a:t>
            </a:r>
            <a:r>
              <a:rPr dirty="0" sz="1500" spc="-3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with</a:t>
            </a:r>
            <a:r>
              <a:rPr dirty="0" sz="1500" spc="-40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loops</a:t>
            </a:r>
            <a:r>
              <a:rPr dirty="0" sz="1500" spc="1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—</a:t>
            </a:r>
            <a:r>
              <a:rPr dirty="0" sz="1500" spc="-50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6D8FB8"/>
                </a:solidFill>
                <a:latin typeface="Arial MT"/>
                <a:cs typeface="Arial MT"/>
              </a:rPr>
              <a:t>where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programs</a:t>
            </a:r>
            <a:r>
              <a:rPr dirty="0" sz="1500" spc="-4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start</a:t>
            </a:r>
            <a:r>
              <a:rPr dirty="0" sz="1500" spc="-5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to</a:t>
            </a:r>
            <a:r>
              <a:rPr dirty="0" sz="1500" spc="-3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6D8FB8"/>
                </a:solidFill>
                <a:latin typeface="Arial MT"/>
                <a:cs typeface="Arial MT"/>
              </a:rPr>
              <a:t>think.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6" name="object 6" descr="/home/claude/decks/assets/ibt_logo_trim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359" y="5989320"/>
            <a:ext cx="528726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343915"/>
            <a:ext cx="26111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C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I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38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3</a:t>
            </a:r>
            <a:r>
              <a:rPr dirty="0" sz="1100" spc="38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·</a:t>
            </a:r>
            <a:r>
              <a:rPr dirty="0" sz="1100" spc="3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C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R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L</a:t>
            </a:r>
            <a:r>
              <a:rPr dirty="0" sz="1100" spc="37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F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L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D39F27"/>
                </a:solidFill>
                <a:latin typeface="Arial"/>
                <a:cs typeface="Arial"/>
              </a:rPr>
              <a:t>W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Conditionals</a:t>
            </a:r>
            <a:r>
              <a:rPr dirty="0" spc="-30"/>
              <a:t> </a:t>
            </a:r>
            <a:r>
              <a:rPr dirty="0"/>
              <a:t>—</a:t>
            </a:r>
            <a:r>
              <a:rPr dirty="0" spc="-45"/>
              <a:t> </a:t>
            </a:r>
            <a:r>
              <a:rPr dirty="0"/>
              <a:t>if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35"/>
              <a:t> </a:t>
            </a:r>
            <a:r>
              <a:rPr dirty="0"/>
              <a:t>elif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35"/>
              <a:t> </a:t>
            </a:r>
            <a:r>
              <a:rPr dirty="0" spc="-20"/>
              <a:t>else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0219" y="1378965"/>
            <a:ext cx="81692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Run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different</a:t>
            </a:r>
            <a:r>
              <a:rPr dirty="0" sz="1400" spc="-5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code</a:t>
            </a:r>
            <a:r>
              <a:rPr dirty="0" sz="1400" spc="-5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depending</a:t>
            </a:r>
            <a:r>
              <a:rPr dirty="0" sz="1400" spc="-6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on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whether</a:t>
            </a:r>
            <a:r>
              <a:rPr dirty="0" sz="1400" spc="-4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a</a:t>
            </a:r>
            <a:r>
              <a:rPr dirty="0" sz="14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condition</a:t>
            </a:r>
            <a:r>
              <a:rPr dirty="0" sz="1400" spc="-6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is</a:t>
            </a:r>
            <a:r>
              <a:rPr dirty="0" sz="1400" spc="-2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spc="-10" i="1">
                <a:solidFill>
                  <a:srgbClr val="495468"/>
                </a:solidFill>
                <a:latin typeface="Arial"/>
                <a:cs typeface="Arial"/>
              </a:rPr>
              <a:t>True.</a:t>
            </a:r>
            <a:r>
              <a:rPr dirty="0" sz="14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Python</a:t>
            </a:r>
            <a:r>
              <a:rPr dirty="0" sz="1400" spc="-5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checks</a:t>
            </a:r>
            <a:r>
              <a:rPr dirty="0" sz="1400" spc="-5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each</a:t>
            </a:r>
            <a:r>
              <a:rPr dirty="0" sz="1400" spc="-4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branch</a:t>
            </a:r>
            <a:r>
              <a:rPr dirty="0" sz="1400" spc="-4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top</a:t>
            </a:r>
            <a:r>
              <a:rPr dirty="0" sz="14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to</a:t>
            </a:r>
            <a:r>
              <a:rPr dirty="0" sz="14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spc="-10" i="1">
                <a:solidFill>
                  <a:srgbClr val="495468"/>
                </a:solidFill>
                <a:latin typeface="Arial"/>
                <a:cs typeface="Arial"/>
              </a:rPr>
              <a:t>bottom.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194" y="1783057"/>
            <a:ext cx="6156325" cy="4053204"/>
            <a:chOff x="457194" y="1783057"/>
            <a:chExt cx="6156325" cy="4053204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94" y="1783057"/>
              <a:ext cx="6156208" cy="40531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2919" y="1828800"/>
              <a:ext cx="6035040" cy="3931920"/>
            </a:xfrm>
            <a:custGeom>
              <a:avLst/>
              <a:gdLst/>
              <a:ahLst/>
              <a:cxnLst/>
              <a:rect l="l" t="t" r="r" b="b"/>
              <a:pathLst>
                <a:path w="6035040" h="3931920">
                  <a:moveTo>
                    <a:pt x="5989320" y="0"/>
                  </a:moveTo>
                  <a:lnTo>
                    <a:pt x="45732" y="0"/>
                  </a:lnTo>
                  <a:lnTo>
                    <a:pt x="27930" y="3589"/>
                  </a:lnTo>
                  <a:lnTo>
                    <a:pt x="13393" y="13382"/>
                  </a:lnTo>
                  <a:lnTo>
                    <a:pt x="3593" y="27914"/>
                  </a:lnTo>
                  <a:lnTo>
                    <a:pt x="0" y="45720"/>
                  </a:lnTo>
                  <a:lnTo>
                    <a:pt x="0" y="3886187"/>
                  </a:lnTo>
                  <a:lnTo>
                    <a:pt x="3593" y="3903989"/>
                  </a:lnTo>
                  <a:lnTo>
                    <a:pt x="13393" y="3918526"/>
                  </a:lnTo>
                  <a:lnTo>
                    <a:pt x="27930" y="3928326"/>
                  </a:lnTo>
                  <a:lnTo>
                    <a:pt x="45732" y="3931920"/>
                  </a:lnTo>
                  <a:lnTo>
                    <a:pt x="5989320" y="3931920"/>
                  </a:lnTo>
                  <a:lnTo>
                    <a:pt x="6007125" y="3928326"/>
                  </a:lnTo>
                  <a:lnTo>
                    <a:pt x="6021657" y="3918526"/>
                  </a:lnTo>
                  <a:lnTo>
                    <a:pt x="6031450" y="3903989"/>
                  </a:lnTo>
                  <a:lnTo>
                    <a:pt x="6035039" y="3886187"/>
                  </a:lnTo>
                  <a:lnTo>
                    <a:pt x="6035039" y="45720"/>
                  </a:lnTo>
                  <a:lnTo>
                    <a:pt x="6031450" y="27914"/>
                  </a:lnTo>
                  <a:lnTo>
                    <a:pt x="6021657" y="13382"/>
                  </a:lnTo>
                  <a:lnTo>
                    <a:pt x="6007125" y="3589"/>
                  </a:lnTo>
                  <a:lnTo>
                    <a:pt x="5989320" y="0"/>
                  </a:lnTo>
                  <a:close/>
                </a:path>
              </a:pathLst>
            </a:custGeom>
            <a:solidFill>
              <a:srgbClr val="1A23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654812" y="1916938"/>
            <a:ext cx="2651125" cy="15500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96060" algn="l"/>
              </a:tabLst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balance</a:t>
            </a:r>
            <a:r>
              <a:rPr dirty="0" sz="1250" spc="-4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50" spc="-3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20">
                <a:solidFill>
                  <a:srgbClr val="E6ECF3"/>
                </a:solidFill>
                <a:latin typeface="Consolas"/>
                <a:cs typeface="Consolas"/>
              </a:rPr>
              <a:t>1500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	#</a:t>
            </a:r>
            <a:r>
              <a:rPr dirty="0" sz="1250" spc="-2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ETB</a:t>
            </a:r>
            <a:endParaRPr sz="12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Consolas"/>
              <a:cs typeface="Consolas"/>
            </a:endParaRPr>
          </a:p>
          <a:p>
            <a:pPr marL="360045" marR="93345" indent="-347980">
              <a:lnSpc>
                <a:spcPct val="100000"/>
              </a:lnSpc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if</a:t>
            </a:r>
            <a:r>
              <a:rPr dirty="0" sz="1250" spc="-3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balance</a:t>
            </a:r>
            <a:r>
              <a:rPr dirty="0" sz="1250" spc="-3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&gt;=</a:t>
            </a:r>
            <a:r>
              <a:rPr dirty="0" sz="1250" spc="-3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1000: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print("Premium</a:t>
            </a:r>
            <a:r>
              <a:rPr dirty="0" sz="1250" spc="-5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customer")</a:t>
            </a:r>
            <a:endParaRPr sz="1250">
              <a:latin typeface="Consolas"/>
              <a:cs typeface="Consolas"/>
            </a:endParaRPr>
          </a:p>
          <a:p>
            <a:pPr marL="360045" marR="5080" indent="-347980">
              <a:lnSpc>
                <a:spcPct val="100000"/>
              </a:lnSpc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elif</a:t>
            </a:r>
            <a:r>
              <a:rPr dirty="0" sz="1250" spc="-3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balance</a:t>
            </a:r>
            <a:r>
              <a:rPr dirty="0" sz="1250" spc="-3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&gt;=</a:t>
            </a:r>
            <a:r>
              <a:rPr dirty="0" sz="1250" spc="-3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20">
                <a:solidFill>
                  <a:srgbClr val="E6ECF3"/>
                </a:solidFill>
                <a:latin typeface="Consolas"/>
                <a:cs typeface="Consolas"/>
              </a:rPr>
              <a:t>500: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print("Standard</a:t>
            </a:r>
            <a:r>
              <a:rPr dirty="0" sz="1250" spc="-6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customer")</a:t>
            </a:r>
            <a:endParaRPr sz="12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else:</a:t>
            </a:r>
            <a:endParaRPr sz="1250">
              <a:latin typeface="Consolas"/>
              <a:cs typeface="Consolas"/>
            </a:endParaRPr>
          </a:p>
          <a:p>
            <a:pPr marL="360045">
              <a:lnSpc>
                <a:spcPct val="100000"/>
              </a:lnSpc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print("Basic</a:t>
            </a:r>
            <a:r>
              <a:rPr dirty="0" sz="1250" spc="-3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customer")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4812" y="3631513"/>
            <a:ext cx="229489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#</a:t>
            </a:r>
            <a:r>
              <a:rPr dirty="0" sz="1250" spc="-5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Prints:</a:t>
            </a:r>
            <a:r>
              <a:rPr dirty="0" sz="1250" spc="-5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Premium</a:t>
            </a:r>
            <a:r>
              <a:rPr dirty="0" sz="1250" spc="-4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customer</a:t>
            </a:r>
            <a:endParaRPr sz="1250">
              <a:latin typeface="Consolas"/>
              <a:cs typeface="Consola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734535" y="1842469"/>
            <a:ext cx="5016500" cy="1315085"/>
            <a:chOff x="6734535" y="1842469"/>
            <a:chExt cx="5016500" cy="131508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34535" y="1842469"/>
              <a:ext cx="5016287" cy="131451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766560" y="1874520"/>
              <a:ext cx="4922520" cy="1207135"/>
            </a:xfrm>
            <a:custGeom>
              <a:avLst/>
              <a:gdLst/>
              <a:ahLst/>
              <a:cxnLst/>
              <a:rect l="l" t="t" r="r" b="b"/>
              <a:pathLst>
                <a:path w="4922520" h="1207135">
                  <a:moveTo>
                    <a:pt x="484911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133855"/>
                  </a:lnTo>
                  <a:lnTo>
                    <a:pt x="5750" y="1162323"/>
                  </a:lnTo>
                  <a:lnTo>
                    <a:pt x="21431" y="1185576"/>
                  </a:lnTo>
                  <a:lnTo>
                    <a:pt x="44684" y="1201257"/>
                  </a:lnTo>
                  <a:lnTo>
                    <a:pt x="73151" y="1207007"/>
                  </a:lnTo>
                  <a:lnTo>
                    <a:pt x="4849114" y="1207007"/>
                  </a:lnTo>
                  <a:lnTo>
                    <a:pt x="4877581" y="1201257"/>
                  </a:lnTo>
                  <a:lnTo>
                    <a:pt x="4900834" y="1185576"/>
                  </a:lnTo>
                  <a:lnTo>
                    <a:pt x="4916515" y="1162323"/>
                  </a:lnTo>
                  <a:lnTo>
                    <a:pt x="4922266" y="1133855"/>
                  </a:lnTo>
                  <a:lnTo>
                    <a:pt x="4922266" y="73151"/>
                  </a:lnTo>
                  <a:lnTo>
                    <a:pt x="4916515" y="44684"/>
                  </a:lnTo>
                  <a:lnTo>
                    <a:pt x="4900834" y="21431"/>
                  </a:lnTo>
                  <a:lnTo>
                    <a:pt x="4877581" y="5750"/>
                  </a:lnTo>
                  <a:lnTo>
                    <a:pt x="4849114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937629" y="1970628"/>
            <a:ext cx="3860800" cy="59626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500" spc="-25" b="1">
                <a:solidFill>
                  <a:srgbClr val="2D5C99"/>
                </a:solidFill>
                <a:latin typeface="Consolas"/>
                <a:cs typeface="Consolas"/>
              </a:rPr>
              <a:t>if</a:t>
            </a:r>
            <a:endParaRPr sz="15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Checked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first.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If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True,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its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block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runs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and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rest is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skipped.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707123" y="3131820"/>
            <a:ext cx="5071110" cy="1355725"/>
            <a:chOff x="6707123" y="3131820"/>
            <a:chExt cx="5071110" cy="135572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07123" y="3131820"/>
              <a:ext cx="5071110" cy="135559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766559" y="3191256"/>
              <a:ext cx="4922520" cy="1207135"/>
            </a:xfrm>
            <a:custGeom>
              <a:avLst/>
              <a:gdLst/>
              <a:ahLst/>
              <a:cxnLst/>
              <a:rect l="l" t="t" r="r" b="b"/>
              <a:pathLst>
                <a:path w="4922520" h="1207135">
                  <a:moveTo>
                    <a:pt x="484911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1133856"/>
                  </a:lnTo>
                  <a:lnTo>
                    <a:pt x="5750" y="1162323"/>
                  </a:lnTo>
                  <a:lnTo>
                    <a:pt x="21431" y="1185576"/>
                  </a:lnTo>
                  <a:lnTo>
                    <a:pt x="44684" y="1201257"/>
                  </a:lnTo>
                  <a:lnTo>
                    <a:pt x="73151" y="1207008"/>
                  </a:lnTo>
                  <a:lnTo>
                    <a:pt x="4849114" y="1207008"/>
                  </a:lnTo>
                  <a:lnTo>
                    <a:pt x="4877581" y="1201257"/>
                  </a:lnTo>
                  <a:lnTo>
                    <a:pt x="4900834" y="1185576"/>
                  </a:lnTo>
                  <a:lnTo>
                    <a:pt x="4916515" y="1162323"/>
                  </a:lnTo>
                  <a:lnTo>
                    <a:pt x="4922266" y="1133856"/>
                  </a:lnTo>
                  <a:lnTo>
                    <a:pt x="4922266" y="73152"/>
                  </a:lnTo>
                  <a:lnTo>
                    <a:pt x="4916515" y="44684"/>
                  </a:lnTo>
                  <a:lnTo>
                    <a:pt x="4900834" y="21431"/>
                  </a:lnTo>
                  <a:lnTo>
                    <a:pt x="4877581" y="5750"/>
                  </a:lnTo>
                  <a:lnTo>
                    <a:pt x="4849114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937629" y="3289207"/>
            <a:ext cx="4230370" cy="59436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1500" spc="-20" b="1">
                <a:solidFill>
                  <a:srgbClr val="C79239"/>
                </a:solidFill>
                <a:latin typeface="Consolas"/>
                <a:cs typeface="Consolas"/>
              </a:rPr>
              <a:t>elif</a:t>
            </a:r>
            <a:endParaRPr sz="15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Checked</a:t>
            </a:r>
            <a:r>
              <a:rPr dirty="0" sz="115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only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if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ones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above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were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False.</a:t>
            </a:r>
            <a:r>
              <a:rPr dirty="0" sz="11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You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can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have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many.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707123" y="4448530"/>
            <a:ext cx="5071110" cy="1355725"/>
            <a:chOff x="6707123" y="4448530"/>
            <a:chExt cx="5071110" cy="1355725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07123" y="4448530"/>
              <a:ext cx="5071110" cy="135559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766559" y="4507992"/>
              <a:ext cx="4922520" cy="1207135"/>
            </a:xfrm>
            <a:custGeom>
              <a:avLst/>
              <a:gdLst/>
              <a:ahLst/>
              <a:cxnLst/>
              <a:rect l="l" t="t" r="r" b="b"/>
              <a:pathLst>
                <a:path w="4922520" h="1207135">
                  <a:moveTo>
                    <a:pt x="484911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133855"/>
                  </a:lnTo>
                  <a:lnTo>
                    <a:pt x="5750" y="1162329"/>
                  </a:lnTo>
                  <a:lnTo>
                    <a:pt x="21431" y="1185581"/>
                  </a:lnTo>
                  <a:lnTo>
                    <a:pt x="44684" y="1201259"/>
                  </a:lnTo>
                  <a:lnTo>
                    <a:pt x="73151" y="1207007"/>
                  </a:lnTo>
                  <a:lnTo>
                    <a:pt x="4849114" y="1207007"/>
                  </a:lnTo>
                  <a:lnTo>
                    <a:pt x="4877581" y="1201259"/>
                  </a:lnTo>
                  <a:lnTo>
                    <a:pt x="4900834" y="1185581"/>
                  </a:lnTo>
                  <a:lnTo>
                    <a:pt x="4916515" y="1162329"/>
                  </a:lnTo>
                  <a:lnTo>
                    <a:pt x="4922266" y="1133855"/>
                  </a:lnTo>
                  <a:lnTo>
                    <a:pt x="4922266" y="73151"/>
                  </a:lnTo>
                  <a:lnTo>
                    <a:pt x="4916515" y="44684"/>
                  </a:lnTo>
                  <a:lnTo>
                    <a:pt x="4900834" y="21431"/>
                  </a:lnTo>
                  <a:lnTo>
                    <a:pt x="4877581" y="5750"/>
                  </a:lnTo>
                  <a:lnTo>
                    <a:pt x="4849114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937629" y="4605607"/>
            <a:ext cx="3894454" cy="594995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1500" spc="-20" b="1">
                <a:solidFill>
                  <a:srgbClr val="1B7979"/>
                </a:solidFill>
                <a:latin typeface="Consolas"/>
                <a:cs typeface="Consolas"/>
              </a:rPr>
              <a:t>else</a:t>
            </a:r>
            <a:endParaRPr sz="15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catch-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all.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Runs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when nothing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above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matched.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Optional.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Property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IBT</a:t>
            </a:r>
            <a:r>
              <a:rPr dirty="0" spc="-35"/>
              <a:t> </a:t>
            </a:r>
            <a:r>
              <a:rPr dirty="0"/>
              <a:t>College</a:t>
            </a:r>
            <a:r>
              <a:rPr dirty="0" spc="-15"/>
              <a:t> </a:t>
            </a:r>
            <a:r>
              <a:rPr dirty="0" spc="-10"/>
              <a:t>Canada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17</a:t>
            </a:fld>
            <a:r>
              <a:rPr dirty="0"/>
              <a:t> /</a:t>
            </a:r>
            <a:r>
              <a:rPr dirty="0" spc="-10"/>
              <a:t> </a:t>
            </a:r>
            <a:r>
              <a:rPr dirty="0" spc="-25"/>
              <a:t>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343915"/>
            <a:ext cx="26111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C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I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38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3</a:t>
            </a:r>
            <a:r>
              <a:rPr dirty="0" sz="1100" spc="38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·</a:t>
            </a:r>
            <a:r>
              <a:rPr dirty="0" sz="1100" spc="3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C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R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L</a:t>
            </a:r>
            <a:r>
              <a:rPr dirty="0" sz="1100" spc="37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F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L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D39F27"/>
                </a:solidFill>
                <a:latin typeface="Arial"/>
                <a:cs typeface="Arial"/>
              </a:rPr>
              <a:t>W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while</a:t>
            </a:r>
            <a:r>
              <a:rPr dirty="0" spc="-50"/>
              <a:t> </a:t>
            </a:r>
            <a:r>
              <a:rPr dirty="0" spc="-10"/>
              <a:t>Loops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0219" y="1378965"/>
            <a:ext cx="89204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A</a:t>
            </a:r>
            <a:r>
              <a:rPr dirty="0" sz="1400" spc="-6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while</a:t>
            </a:r>
            <a:r>
              <a:rPr dirty="0" sz="1400" spc="-2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loop</a:t>
            </a:r>
            <a:r>
              <a:rPr dirty="0" sz="14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repeats</a:t>
            </a:r>
            <a:r>
              <a:rPr dirty="0" sz="1400" spc="-4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its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block</a:t>
            </a:r>
            <a:r>
              <a:rPr dirty="0" sz="1400" spc="-4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as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long</a:t>
            </a:r>
            <a:r>
              <a:rPr dirty="0" sz="14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as</a:t>
            </a:r>
            <a:r>
              <a:rPr dirty="0" sz="1400" spc="-1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a</a:t>
            </a:r>
            <a:r>
              <a:rPr dirty="0" sz="14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condition</a:t>
            </a:r>
            <a:r>
              <a:rPr dirty="0" sz="1400" spc="-5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stays</a:t>
            </a:r>
            <a:r>
              <a:rPr dirty="0" sz="1400" spc="-5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spc="-10" i="1">
                <a:solidFill>
                  <a:srgbClr val="495468"/>
                </a:solidFill>
                <a:latin typeface="Arial"/>
                <a:cs typeface="Arial"/>
              </a:rPr>
              <a:t>True.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Use</a:t>
            </a:r>
            <a:r>
              <a:rPr dirty="0" sz="1400" spc="-2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it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when</a:t>
            </a:r>
            <a:r>
              <a:rPr dirty="0" sz="1400" spc="-2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you</a:t>
            </a:r>
            <a:r>
              <a:rPr dirty="0" sz="1400" spc="-4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don't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know</a:t>
            </a:r>
            <a:r>
              <a:rPr dirty="0" sz="14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the</a:t>
            </a:r>
            <a:r>
              <a:rPr dirty="0" sz="1400" spc="-4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count</a:t>
            </a:r>
            <a:r>
              <a:rPr dirty="0" sz="1400" spc="-4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in</a:t>
            </a:r>
            <a:r>
              <a:rPr dirty="0" sz="1400" spc="-2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spc="-10" i="1">
                <a:solidFill>
                  <a:srgbClr val="495468"/>
                </a:solidFill>
                <a:latin typeface="Arial"/>
                <a:cs typeface="Arial"/>
              </a:rPr>
              <a:t>advance.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194" y="1783033"/>
            <a:ext cx="6156325" cy="3321685"/>
            <a:chOff x="457194" y="1783033"/>
            <a:chExt cx="6156325" cy="332168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94" y="1783033"/>
              <a:ext cx="6156208" cy="332165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2919" y="1828800"/>
              <a:ext cx="6035040" cy="3200400"/>
            </a:xfrm>
            <a:custGeom>
              <a:avLst/>
              <a:gdLst/>
              <a:ahLst/>
              <a:cxnLst/>
              <a:rect l="l" t="t" r="r" b="b"/>
              <a:pathLst>
                <a:path w="6035040" h="3200400">
                  <a:moveTo>
                    <a:pt x="5989320" y="0"/>
                  </a:moveTo>
                  <a:lnTo>
                    <a:pt x="45732" y="0"/>
                  </a:lnTo>
                  <a:lnTo>
                    <a:pt x="27930" y="3589"/>
                  </a:lnTo>
                  <a:lnTo>
                    <a:pt x="13393" y="13382"/>
                  </a:lnTo>
                  <a:lnTo>
                    <a:pt x="3593" y="27914"/>
                  </a:lnTo>
                  <a:lnTo>
                    <a:pt x="0" y="45720"/>
                  </a:lnTo>
                  <a:lnTo>
                    <a:pt x="0" y="3154680"/>
                  </a:lnTo>
                  <a:lnTo>
                    <a:pt x="3593" y="3172485"/>
                  </a:lnTo>
                  <a:lnTo>
                    <a:pt x="13393" y="3187017"/>
                  </a:lnTo>
                  <a:lnTo>
                    <a:pt x="27930" y="3196810"/>
                  </a:lnTo>
                  <a:lnTo>
                    <a:pt x="45732" y="3200400"/>
                  </a:lnTo>
                  <a:lnTo>
                    <a:pt x="5989320" y="3200400"/>
                  </a:lnTo>
                  <a:lnTo>
                    <a:pt x="6007125" y="3196810"/>
                  </a:lnTo>
                  <a:lnTo>
                    <a:pt x="6021657" y="3187017"/>
                  </a:lnTo>
                  <a:lnTo>
                    <a:pt x="6031450" y="3172485"/>
                  </a:lnTo>
                  <a:lnTo>
                    <a:pt x="6035039" y="3154680"/>
                  </a:lnTo>
                  <a:lnTo>
                    <a:pt x="6035039" y="45720"/>
                  </a:lnTo>
                  <a:lnTo>
                    <a:pt x="6031450" y="27914"/>
                  </a:lnTo>
                  <a:lnTo>
                    <a:pt x="6021657" y="13382"/>
                  </a:lnTo>
                  <a:lnTo>
                    <a:pt x="6007125" y="3589"/>
                  </a:lnTo>
                  <a:lnTo>
                    <a:pt x="5989320" y="0"/>
                  </a:lnTo>
                  <a:close/>
                </a:path>
              </a:pathLst>
            </a:custGeom>
            <a:solidFill>
              <a:srgbClr val="1A23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654812" y="1916938"/>
            <a:ext cx="2825750" cy="9785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count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60">
                <a:solidFill>
                  <a:srgbClr val="E6ECF3"/>
                </a:solidFill>
                <a:latin typeface="Consolas"/>
                <a:cs typeface="Consolas"/>
              </a:rPr>
              <a:t>3</a:t>
            </a:r>
            <a:endParaRPr sz="1250">
              <a:latin typeface="Consolas"/>
              <a:cs typeface="Consolas"/>
            </a:endParaRPr>
          </a:p>
          <a:p>
            <a:pPr marL="360045" marR="5080" indent="-347980">
              <a:lnSpc>
                <a:spcPct val="100000"/>
              </a:lnSpc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while</a:t>
            </a:r>
            <a:r>
              <a:rPr dirty="0" sz="1250" spc="-3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count</a:t>
            </a:r>
            <a:r>
              <a:rPr dirty="0" sz="1250" spc="-3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&gt;</a:t>
            </a:r>
            <a:r>
              <a:rPr dirty="0" sz="1250" spc="-5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0: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print(f"Sending...</a:t>
            </a:r>
            <a:r>
              <a:rPr dirty="0" sz="1250" spc="-6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{count}")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count</a:t>
            </a:r>
            <a:r>
              <a:rPr dirty="0" sz="1250" spc="-2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50" spc="-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count</a:t>
            </a:r>
            <a:r>
              <a:rPr dirty="0" sz="1250" spc="-3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-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50">
                <a:solidFill>
                  <a:srgbClr val="E6ECF3"/>
                </a:solidFill>
                <a:latin typeface="Consolas"/>
                <a:cs typeface="Consolas"/>
              </a:rPr>
              <a:t>1</a:t>
            </a:r>
            <a:endParaRPr sz="12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print("Sent</a:t>
            </a:r>
            <a:r>
              <a:rPr dirty="0" sz="1250" spc="-5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via</a:t>
            </a:r>
            <a:r>
              <a:rPr dirty="0" sz="1250" spc="-5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TeleBirr")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4812" y="3060319"/>
            <a:ext cx="194373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#</a:t>
            </a:r>
            <a:r>
              <a:rPr dirty="0" sz="1250" spc="-3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Sending...</a:t>
            </a:r>
            <a:r>
              <a:rPr dirty="0" sz="125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3</a:t>
            </a:r>
            <a:r>
              <a:rPr dirty="0" sz="125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/</a:t>
            </a:r>
            <a:r>
              <a:rPr dirty="0" sz="125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2</a:t>
            </a:r>
            <a:r>
              <a:rPr dirty="0" sz="1250" spc="-3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/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50">
                <a:solidFill>
                  <a:srgbClr val="E6ECF3"/>
                </a:solidFill>
                <a:latin typeface="Consolas"/>
                <a:cs typeface="Consolas"/>
              </a:rPr>
              <a:t>1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#</a:t>
            </a:r>
            <a:r>
              <a:rPr dirty="0" sz="1250" spc="-3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Sent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via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TeleBirr</a:t>
            </a:r>
            <a:endParaRPr sz="1250">
              <a:latin typeface="Consolas"/>
              <a:cs typeface="Consola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734535" y="1796626"/>
            <a:ext cx="5016500" cy="1799589"/>
            <a:chOff x="6734535" y="1796626"/>
            <a:chExt cx="5016500" cy="1799589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34535" y="1796626"/>
              <a:ext cx="5016287" cy="179933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766560" y="1828799"/>
              <a:ext cx="4922520" cy="1691639"/>
            </a:xfrm>
            <a:custGeom>
              <a:avLst/>
              <a:gdLst/>
              <a:ahLst/>
              <a:cxnLst/>
              <a:rect l="l" t="t" r="r" b="b"/>
              <a:pathLst>
                <a:path w="4922520" h="1691639">
                  <a:moveTo>
                    <a:pt x="484911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618488"/>
                  </a:lnTo>
                  <a:lnTo>
                    <a:pt x="5750" y="1646955"/>
                  </a:lnTo>
                  <a:lnTo>
                    <a:pt x="21431" y="1670208"/>
                  </a:lnTo>
                  <a:lnTo>
                    <a:pt x="44684" y="1685889"/>
                  </a:lnTo>
                  <a:lnTo>
                    <a:pt x="73151" y="1691639"/>
                  </a:lnTo>
                  <a:lnTo>
                    <a:pt x="4849114" y="1691639"/>
                  </a:lnTo>
                  <a:lnTo>
                    <a:pt x="4877581" y="1685889"/>
                  </a:lnTo>
                  <a:lnTo>
                    <a:pt x="4900834" y="1670208"/>
                  </a:lnTo>
                  <a:lnTo>
                    <a:pt x="4916515" y="1646955"/>
                  </a:lnTo>
                  <a:lnTo>
                    <a:pt x="4922266" y="1618488"/>
                  </a:lnTo>
                  <a:lnTo>
                    <a:pt x="4922266" y="73151"/>
                  </a:lnTo>
                  <a:lnTo>
                    <a:pt x="4916515" y="44684"/>
                  </a:lnTo>
                  <a:lnTo>
                    <a:pt x="4900834" y="21431"/>
                  </a:lnTo>
                  <a:lnTo>
                    <a:pt x="4877581" y="5750"/>
                  </a:lnTo>
                  <a:lnTo>
                    <a:pt x="4849114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983348" y="1931865"/>
            <a:ext cx="2570480" cy="108077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1350" b="1">
                <a:solidFill>
                  <a:srgbClr val="091F3C"/>
                </a:solidFill>
                <a:latin typeface="Arial"/>
                <a:cs typeface="Arial"/>
              </a:rPr>
              <a:t>Three</a:t>
            </a:r>
            <a:r>
              <a:rPr dirty="0" sz="1350" spc="-4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091F3C"/>
                </a:solidFill>
                <a:latin typeface="Arial"/>
                <a:cs typeface="Arial"/>
              </a:rPr>
              <a:t>things</a:t>
            </a:r>
            <a:r>
              <a:rPr dirty="0" sz="1350" spc="-30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091F3C"/>
                </a:solidFill>
                <a:latin typeface="Arial"/>
                <a:cs typeface="Arial"/>
              </a:rPr>
              <a:t>every</a:t>
            </a:r>
            <a:r>
              <a:rPr dirty="0" sz="1350" spc="-30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091F3C"/>
                </a:solidFill>
                <a:latin typeface="Arial"/>
                <a:cs typeface="Arial"/>
              </a:rPr>
              <a:t>while</a:t>
            </a:r>
            <a:r>
              <a:rPr dirty="0" sz="1350" spc="-4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091F3C"/>
                </a:solidFill>
                <a:latin typeface="Arial"/>
                <a:cs typeface="Arial"/>
              </a:rPr>
              <a:t>needs</a:t>
            </a:r>
            <a:endParaRPr sz="1350">
              <a:latin typeface="Arial"/>
              <a:cs typeface="Arial"/>
            </a:endParaRPr>
          </a:p>
          <a:p>
            <a:pPr marL="217170" indent="-204470">
              <a:lnSpc>
                <a:spcPct val="100000"/>
              </a:lnSpc>
              <a:spcBef>
                <a:spcPts val="635"/>
              </a:spcBef>
              <a:buAutoNum type="arabicPeriod"/>
              <a:tabLst>
                <a:tab pos="217170" algn="l"/>
              </a:tabLst>
            </a:pP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A</a:t>
            </a:r>
            <a:r>
              <a:rPr dirty="0" sz="1200" spc="-9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starting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value</a:t>
            </a:r>
            <a:endParaRPr sz="1200">
              <a:latin typeface="Arial MT"/>
              <a:cs typeface="Arial MT"/>
            </a:endParaRPr>
          </a:p>
          <a:p>
            <a:pPr marL="217170" indent="-20447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217170" algn="l"/>
              </a:tabLst>
            </a:pP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A</a:t>
            </a:r>
            <a:r>
              <a:rPr dirty="0" sz="1200" spc="-9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condition</a:t>
            </a:r>
            <a:r>
              <a:rPr dirty="0" sz="1200" spc="-5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to</a:t>
            </a:r>
            <a:r>
              <a:rPr dirty="0" sz="120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check</a:t>
            </a:r>
            <a:endParaRPr sz="1200">
              <a:latin typeface="Arial MT"/>
              <a:cs typeface="Arial MT"/>
            </a:endParaRPr>
          </a:p>
          <a:p>
            <a:pPr marL="226060" indent="-21336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226060" algn="l"/>
              </a:tabLst>
            </a:pP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Something</a:t>
            </a:r>
            <a:r>
              <a:rPr dirty="0" sz="1200" spc="-4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that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changes</a:t>
            </a:r>
            <a:r>
              <a:rPr dirty="0" sz="1200" spc="-4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20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value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766559" y="3703320"/>
            <a:ext cx="4922520" cy="1325880"/>
            <a:chOff x="6766559" y="3703320"/>
            <a:chExt cx="4922520" cy="1325880"/>
          </a:xfrm>
        </p:grpSpPr>
        <p:sp>
          <p:nvSpPr>
            <p:cNvPr id="15" name="object 15"/>
            <p:cNvSpPr/>
            <p:nvPr/>
          </p:nvSpPr>
          <p:spPr>
            <a:xfrm>
              <a:off x="6766559" y="3703320"/>
              <a:ext cx="4922520" cy="1325880"/>
            </a:xfrm>
            <a:custGeom>
              <a:avLst/>
              <a:gdLst/>
              <a:ahLst/>
              <a:cxnLst/>
              <a:rect l="l" t="t" r="r" b="b"/>
              <a:pathLst>
                <a:path w="4922520" h="1325879">
                  <a:moveTo>
                    <a:pt x="4867402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1271015"/>
                  </a:lnTo>
                  <a:lnTo>
                    <a:pt x="4304" y="1292393"/>
                  </a:lnTo>
                  <a:lnTo>
                    <a:pt x="16049" y="1309830"/>
                  </a:lnTo>
                  <a:lnTo>
                    <a:pt x="33486" y="1321575"/>
                  </a:lnTo>
                  <a:lnTo>
                    <a:pt x="54864" y="1325879"/>
                  </a:lnTo>
                  <a:lnTo>
                    <a:pt x="4867402" y="1325879"/>
                  </a:lnTo>
                  <a:lnTo>
                    <a:pt x="4888726" y="1321575"/>
                  </a:lnTo>
                  <a:lnTo>
                    <a:pt x="4906168" y="1309830"/>
                  </a:lnTo>
                  <a:lnTo>
                    <a:pt x="4917944" y="1292393"/>
                  </a:lnTo>
                  <a:lnTo>
                    <a:pt x="4922266" y="1271015"/>
                  </a:lnTo>
                  <a:lnTo>
                    <a:pt x="4922266" y="54863"/>
                  </a:lnTo>
                  <a:lnTo>
                    <a:pt x="4917944" y="33486"/>
                  </a:lnTo>
                  <a:lnTo>
                    <a:pt x="4906168" y="16049"/>
                  </a:lnTo>
                  <a:lnTo>
                    <a:pt x="4888726" y="4304"/>
                  </a:lnTo>
                  <a:lnTo>
                    <a:pt x="4867402" y="0"/>
                  </a:lnTo>
                  <a:close/>
                </a:path>
              </a:pathLst>
            </a:custGeom>
            <a:solidFill>
              <a:srgbClr val="FAEAE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03719" y="4026408"/>
              <a:ext cx="314705" cy="320801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6983348" y="4038346"/>
            <a:ext cx="4434840" cy="629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17804">
              <a:lnSpc>
                <a:spcPct val="110000"/>
              </a:lnSpc>
              <a:spcBef>
                <a:spcPts val="100"/>
              </a:spcBef>
            </a:pPr>
            <a:r>
              <a:rPr dirty="0" sz="1200" b="1">
                <a:solidFill>
                  <a:srgbClr val="B33A3A"/>
                </a:solidFill>
                <a:latin typeface="Arial"/>
                <a:cs typeface="Arial"/>
              </a:rPr>
              <a:t>Infinite</a:t>
            </a:r>
            <a:r>
              <a:rPr dirty="0" sz="1200" spc="-10" b="1">
                <a:solidFill>
                  <a:srgbClr val="B33A3A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B33A3A"/>
                </a:solidFill>
                <a:latin typeface="Arial"/>
                <a:cs typeface="Arial"/>
              </a:rPr>
              <a:t>loops.</a:t>
            </a:r>
            <a:r>
              <a:rPr dirty="0" sz="1200" spc="315" b="1">
                <a:solidFill>
                  <a:srgbClr val="B33A3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If</a:t>
            </a:r>
            <a:r>
              <a:rPr dirty="0" sz="1200" spc="-2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the</a:t>
            </a:r>
            <a:r>
              <a:rPr dirty="0" sz="1200" spc="-3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condition</a:t>
            </a:r>
            <a:r>
              <a:rPr dirty="0" sz="1200" spc="-6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never</a:t>
            </a:r>
            <a:r>
              <a:rPr dirty="0" sz="1200" spc="-3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becomes</a:t>
            </a:r>
            <a:r>
              <a:rPr dirty="0" sz="1200" spc="-4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False,</a:t>
            </a:r>
            <a:r>
              <a:rPr dirty="0" sz="1200" spc="-3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the</a:t>
            </a:r>
            <a:r>
              <a:rPr dirty="0" sz="1200" spc="-4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1A2333"/>
                </a:solidFill>
                <a:latin typeface="Arial MT"/>
                <a:cs typeface="Arial MT"/>
              </a:rPr>
              <a:t>loop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runs</a:t>
            </a:r>
            <a:r>
              <a:rPr dirty="0" sz="1200" spc="-20">
                <a:solidFill>
                  <a:srgbClr val="1A2333"/>
                </a:solidFill>
                <a:latin typeface="Arial MT"/>
                <a:cs typeface="Arial MT"/>
              </a:rPr>
              <a:t> forever.</a:t>
            </a:r>
            <a:r>
              <a:rPr dirty="0" sz="1200" spc="-8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Always</a:t>
            </a:r>
            <a:r>
              <a:rPr dirty="0" sz="1200" spc="-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change</a:t>
            </a:r>
            <a:r>
              <a:rPr dirty="0" sz="1200" spc="-3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something</a:t>
            </a:r>
            <a:r>
              <a:rPr dirty="0" sz="1200" spc="-4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inside</a:t>
            </a:r>
            <a:r>
              <a:rPr dirty="0" sz="1200" spc="-3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the</a:t>
            </a:r>
            <a:r>
              <a:rPr dirty="0" sz="1200" spc="-1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loop.</a:t>
            </a:r>
            <a:r>
              <a:rPr dirty="0" sz="1200" spc="-2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2333"/>
                </a:solidFill>
                <a:latin typeface="Arial MT"/>
                <a:cs typeface="Arial MT"/>
              </a:rPr>
              <a:t>Press </a:t>
            </a:r>
            <a:r>
              <a:rPr dirty="0" sz="1200" b="1">
                <a:solidFill>
                  <a:srgbClr val="B33A3A"/>
                </a:solidFill>
                <a:latin typeface="Consolas"/>
                <a:cs typeface="Consolas"/>
              </a:rPr>
              <a:t>Ctrl</a:t>
            </a:r>
            <a:r>
              <a:rPr dirty="0" sz="1200" spc="-20" b="1">
                <a:solidFill>
                  <a:srgbClr val="B33A3A"/>
                </a:solidFill>
                <a:latin typeface="Consolas"/>
                <a:cs typeface="Consolas"/>
              </a:rPr>
              <a:t> </a:t>
            </a:r>
            <a:r>
              <a:rPr dirty="0" sz="1200" b="1">
                <a:solidFill>
                  <a:srgbClr val="B33A3A"/>
                </a:solidFill>
                <a:latin typeface="Consolas"/>
                <a:cs typeface="Consolas"/>
              </a:rPr>
              <a:t>+</a:t>
            </a:r>
            <a:r>
              <a:rPr dirty="0" sz="1200" spc="-15" b="1">
                <a:solidFill>
                  <a:srgbClr val="B33A3A"/>
                </a:solidFill>
                <a:latin typeface="Consolas"/>
                <a:cs typeface="Consolas"/>
              </a:rPr>
              <a:t> </a:t>
            </a:r>
            <a:r>
              <a:rPr dirty="0" sz="1200" spc="-10" b="1">
                <a:solidFill>
                  <a:srgbClr val="B33A3A"/>
                </a:solidFill>
                <a:latin typeface="Consolas"/>
                <a:cs typeface="Consolas"/>
              </a:rPr>
              <a:t>C</a:t>
            </a:r>
            <a:r>
              <a:rPr dirty="0" sz="1200" spc="-315" b="1">
                <a:solidFill>
                  <a:srgbClr val="B33A3A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to</a:t>
            </a:r>
            <a:r>
              <a:rPr dirty="0" sz="1200" spc="-2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stop</a:t>
            </a:r>
            <a:r>
              <a:rPr dirty="0" sz="1200" spc="-1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a</a:t>
            </a:r>
            <a:r>
              <a:rPr dirty="0" sz="1200" spc="-2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runaway</a:t>
            </a:r>
            <a:r>
              <a:rPr dirty="0" sz="1200" spc="-2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2333"/>
                </a:solidFill>
                <a:latin typeface="Arial MT"/>
                <a:cs typeface="Arial MT"/>
              </a:rPr>
              <a:t>program.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Property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IBT</a:t>
            </a:r>
            <a:r>
              <a:rPr dirty="0" spc="-35"/>
              <a:t> </a:t>
            </a:r>
            <a:r>
              <a:rPr dirty="0"/>
              <a:t>College</a:t>
            </a:r>
            <a:r>
              <a:rPr dirty="0" spc="-15"/>
              <a:t> </a:t>
            </a:r>
            <a:r>
              <a:rPr dirty="0" spc="-10"/>
              <a:t>Canada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17</a:t>
            </a:fld>
            <a:r>
              <a:rPr dirty="0"/>
              <a:t> /</a:t>
            </a:r>
            <a:r>
              <a:rPr dirty="0" spc="-10"/>
              <a:t> </a:t>
            </a:r>
            <a:r>
              <a:rPr dirty="0" spc="-25"/>
              <a:t>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343915"/>
            <a:ext cx="26111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C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I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38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3</a:t>
            </a:r>
            <a:r>
              <a:rPr dirty="0" sz="1100" spc="38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·</a:t>
            </a:r>
            <a:r>
              <a:rPr dirty="0" sz="1100" spc="3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C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R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L</a:t>
            </a:r>
            <a:r>
              <a:rPr dirty="0" sz="1100" spc="37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F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L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D39F27"/>
                </a:solidFill>
                <a:latin typeface="Arial"/>
                <a:cs typeface="Arial"/>
              </a:rPr>
              <a:t>W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for</a:t>
            </a:r>
            <a:r>
              <a:rPr dirty="0" spc="-50"/>
              <a:t> </a:t>
            </a:r>
            <a:r>
              <a:rPr dirty="0"/>
              <a:t>Loops</a:t>
            </a:r>
            <a:r>
              <a:rPr dirty="0" spc="-45"/>
              <a:t> </a:t>
            </a:r>
            <a:r>
              <a:rPr dirty="0"/>
              <a:t>&amp;</a:t>
            </a:r>
            <a:r>
              <a:rPr dirty="0" spc="-50"/>
              <a:t> </a:t>
            </a:r>
            <a:r>
              <a:rPr dirty="0" spc="-10"/>
              <a:t>range()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0219" y="1378965"/>
            <a:ext cx="76866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A</a:t>
            </a:r>
            <a:r>
              <a:rPr dirty="0" sz="1400" spc="-6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for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loop</a:t>
            </a:r>
            <a:r>
              <a:rPr dirty="0" sz="14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walks</a:t>
            </a:r>
            <a:r>
              <a:rPr dirty="0" sz="1400" spc="-2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through</a:t>
            </a:r>
            <a:r>
              <a:rPr dirty="0" sz="1400" spc="-5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a</a:t>
            </a:r>
            <a:r>
              <a:rPr dirty="0" sz="1400" spc="-1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sequence</a:t>
            </a:r>
            <a:r>
              <a:rPr dirty="0" sz="1400" spc="-4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—</a:t>
            </a:r>
            <a:r>
              <a:rPr dirty="0" sz="1400" spc="-1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a</a:t>
            </a:r>
            <a:r>
              <a:rPr dirty="0" sz="1400" spc="-1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range</a:t>
            </a:r>
            <a:r>
              <a:rPr dirty="0" sz="1400" spc="-4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of</a:t>
            </a:r>
            <a:r>
              <a:rPr dirty="0" sz="1400" spc="-2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numbers</a:t>
            </a:r>
            <a:r>
              <a:rPr dirty="0" sz="14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or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a</a:t>
            </a:r>
            <a:r>
              <a:rPr dirty="0" sz="1400" spc="-1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list</a:t>
            </a:r>
            <a:r>
              <a:rPr dirty="0" sz="1400" spc="-2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of</a:t>
            </a:r>
            <a:r>
              <a:rPr dirty="0" sz="1400" spc="-2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items</a:t>
            </a:r>
            <a:r>
              <a:rPr dirty="0" sz="1400" spc="-1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—</a:t>
            </a:r>
            <a:r>
              <a:rPr dirty="0" sz="1400" spc="-1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once</a:t>
            </a:r>
            <a:r>
              <a:rPr dirty="0" sz="14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per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spc="-10" i="1">
                <a:solidFill>
                  <a:srgbClr val="495468"/>
                </a:solidFill>
                <a:latin typeface="Arial"/>
                <a:cs typeface="Arial"/>
              </a:rPr>
              <a:t>element.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174" y="1783001"/>
            <a:ext cx="6064885" cy="1950720"/>
            <a:chOff x="457174" y="1783001"/>
            <a:chExt cx="6064885" cy="195072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74" y="1783001"/>
              <a:ext cx="6064809" cy="195011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2920" y="1828800"/>
              <a:ext cx="5943600" cy="1828800"/>
            </a:xfrm>
            <a:custGeom>
              <a:avLst/>
              <a:gdLst/>
              <a:ahLst/>
              <a:cxnLst/>
              <a:rect l="l" t="t" r="r" b="b"/>
              <a:pathLst>
                <a:path w="5943600" h="1828800">
                  <a:moveTo>
                    <a:pt x="5897880" y="0"/>
                  </a:moveTo>
                  <a:lnTo>
                    <a:pt x="45720" y="0"/>
                  </a:ln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20"/>
                  </a:lnTo>
                  <a:lnTo>
                    <a:pt x="0" y="1783080"/>
                  </a:lnTo>
                  <a:lnTo>
                    <a:pt x="3593" y="1800885"/>
                  </a:lnTo>
                  <a:lnTo>
                    <a:pt x="13392" y="1815417"/>
                  </a:lnTo>
                  <a:lnTo>
                    <a:pt x="27924" y="1825210"/>
                  </a:lnTo>
                  <a:lnTo>
                    <a:pt x="45720" y="1828800"/>
                  </a:lnTo>
                  <a:lnTo>
                    <a:pt x="5897880" y="1828800"/>
                  </a:lnTo>
                  <a:lnTo>
                    <a:pt x="5915685" y="1825210"/>
                  </a:lnTo>
                  <a:lnTo>
                    <a:pt x="5930217" y="1815417"/>
                  </a:lnTo>
                  <a:lnTo>
                    <a:pt x="5940010" y="1800885"/>
                  </a:lnTo>
                  <a:lnTo>
                    <a:pt x="5943600" y="1783080"/>
                  </a:lnTo>
                  <a:lnTo>
                    <a:pt x="5943600" y="45720"/>
                  </a:lnTo>
                  <a:lnTo>
                    <a:pt x="5940010" y="27914"/>
                  </a:lnTo>
                  <a:lnTo>
                    <a:pt x="5930217" y="13382"/>
                  </a:lnTo>
                  <a:lnTo>
                    <a:pt x="5915685" y="3589"/>
                  </a:lnTo>
                  <a:lnTo>
                    <a:pt x="5897880" y="0"/>
                  </a:lnTo>
                  <a:close/>
                </a:path>
              </a:pathLst>
            </a:custGeom>
            <a:solidFill>
              <a:srgbClr val="1A23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654812" y="1916938"/>
            <a:ext cx="2642870" cy="7880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#</a:t>
            </a:r>
            <a:r>
              <a:rPr dirty="0" sz="1250" spc="-3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Loop</a:t>
            </a:r>
            <a:r>
              <a:rPr dirty="0" sz="1250" spc="-3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over</a:t>
            </a:r>
            <a:r>
              <a:rPr dirty="0" sz="125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a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range</a:t>
            </a:r>
            <a:r>
              <a:rPr dirty="0" sz="1250" spc="-3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of</a:t>
            </a:r>
            <a:r>
              <a:rPr dirty="0" sz="125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numbers</a:t>
            </a:r>
            <a:endParaRPr sz="12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for</a:t>
            </a:r>
            <a:r>
              <a:rPr dirty="0" sz="1250" spc="-4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i</a:t>
            </a:r>
            <a:r>
              <a:rPr dirty="0" sz="1250" spc="-3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in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range(1,</a:t>
            </a:r>
            <a:r>
              <a:rPr dirty="0" sz="1250" spc="-3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4):</a:t>
            </a:r>
            <a:endParaRPr sz="1250">
              <a:latin typeface="Consolas"/>
              <a:cs typeface="Consolas"/>
            </a:endParaRPr>
          </a:p>
          <a:p>
            <a:pPr marL="12700" marR="346710" indent="347345">
              <a:lnSpc>
                <a:spcPct val="100000"/>
              </a:lnSpc>
              <a:spcBef>
                <a:spcPts val="5"/>
              </a:spcBef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print(f"Receipt</a:t>
            </a:r>
            <a:r>
              <a:rPr dirty="0" sz="1250" spc="-6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#{i}")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#</a:t>
            </a:r>
            <a:r>
              <a:rPr dirty="0" sz="1250" spc="-3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Receipt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#1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/</a:t>
            </a:r>
            <a:r>
              <a:rPr dirty="0" sz="125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#2</a:t>
            </a:r>
            <a:r>
              <a:rPr dirty="0" sz="125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/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 #3</a:t>
            </a:r>
            <a:endParaRPr sz="1250">
              <a:latin typeface="Consolas"/>
              <a:cs typeface="Consola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7174" y="3749012"/>
            <a:ext cx="6064885" cy="2041525"/>
            <a:chOff x="457174" y="3749012"/>
            <a:chExt cx="6064885" cy="204152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174" y="3749012"/>
              <a:ext cx="6064809" cy="204142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02920" y="3794760"/>
              <a:ext cx="5943600" cy="1920239"/>
            </a:xfrm>
            <a:custGeom>
              <a:avLst/>
              <a:gdLst/>
              <a:ahLst/>
              <a:cxnLst/>
              <a:rect l="l" t="t" r="r" b="b"/>
              <a:pathLst>
                <a:path w="5943600" h="1920239">
                  <a:moveTo>
                    <a:pt x="5897880" y="0"/>
                  </a:moveTo>
                  <a:lnTo>
                    <a:pt x="45720" y="0"/>
                  </a:ln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19"/>
                  </a:lnTo>
                  <a:lnTo>
                    <a:pt x="0" y="1874520"/>
                  </a:lnTo>
                  <a:lnTo>
                    <a:pt x="3593" y="1892315"/>
                  </a:lnTo>
                  <a:lnTo>
                    <a:pt x="13392" y="1906847"/>
                  </a:lnTo>
                  <a:lnTo>
                    <a:pt x="27924" y="1916646"/>
                  </a:lnTo>
                  <a:lnTo>
                    <a:pt x="45720" y="1920239"/>
                  </a:lnTo>
                  <a:lnTo>
                    <a:pt x="5897880" y="1920239"/>
                  </a:lnTo>
                  <a:lnTo>
                    <a:pt x="5915685" y="1916646"/>
                  </a:lnTo>
                  <a:lnTo>
                    <a:pt x="5930217" y="1906847"/>
                  </a:lnTo>
                  <a:lnTo>
                    <a:pt x="5940010" y="1892315"/>
                  </a:lnTo>
                  <a:lnTo>
                    <a:pt x="5943600" y="1874520"/>
                  </a:lnTo>
                  <a:lnTo>
                    <a:pt x="5943600" y="45719"/>
                  </a:lnTo>
                  <a:lnTo>
                    <a:pt x="5940010" y="27914"/>
                  </a:lnTo>
                  <a:lnTo>
                    <a:pt x="5930217" y="13382"/>
                  </a:lnTo>
                  <a:lnTo>
                    <a:pt x="5915685" y="3589"/>
                  </a:lnTo>
                  <a:lnTo>
                    <a:pt x="5897880" y="0"/>
                  </a:lnTo>
                  <a:close/>
                </a:path>
              </a:pathLst>
            </a:custGeom>
            <a:solidFill>
              <a:srgbClr val="1A23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54812" y="3883533"/>
            <a:ext cx="3167380" cy="787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#</a:t>
            </a:r>
            <a:r>
              <a:rPr dirty="0" sz="1250" spc="-3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Loop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over</a:t>
            </a:r>
            <a:r>
              <a:rPr dirty="0" sz="125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a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list</a:t>
            </a:r>
            <a:r>
              <a:rPr dirty="0" sz="125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of</a:t>
            </a:r>
            <a:r>
              <a:rPr dirty="0" sz="125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20">
                <a:solidFill>
                  <a:srgbClr val="E6ECF3"/>
                </a:solidFill>
                <a:latin typeface="Consolas"/>
                <a:cs typeface="Consolas"/>
              </a:rPr>
              <a:t>names</a:t>
            </a:r>
            <a:endParaRPr sz="1250">
              <a:latin typeface="Consolas"/>
              <a:cs typeface="Consolas"/>
            </a:endParaRPr>
          </a:p>
          <a:p>
            <a:pPr marL="12700" marR="5080">
              <a:lnSpc>
                <a:spcPct val="100000"/>
              </a:lnSpc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names</a:t>
            </a:r>
            <a:r>
              <a:rPr dirty="0" sz="1250" spc="-4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50" spc="-4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["Almaz",</a:t>
            </a:r>
            <a:r>
              <a:rPr dirty="0" sz="1250" spc="-4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"Dawit",</a:t>
            </a:r>
            <a:r>
              <a:rPr dirty="0" sz="1250" spc="-5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"Tigist"]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for</a:t>
            </a:r>
            <a:r>
              <a:rPr dirty="0" sz="1250" spc="-3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name</a:t>
            </a:r>
            <a:r>
              <a:rPr dirty="0" sz="1250" spc="-2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in</a:t>
            </a:r>
            <a:r>
              <a:rPr dirty="0" sz="1250" spc="-2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names:</a:t>
            </a:r>
            <a:endParaRPr sz="1250">
              <a:latin typeface="Consolas"/>
              <a:cs typeface="Consolas"/>
            </a:endParaRPr>
          </a:p>
          <a:p>
            <a:pPr marL="360045">
              <a:lnSpc>
                <a:spcPct val="100000"/>
              </a:lnSpc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print(f"Selam,</a:t>
            </a:r>
            <a:r>
              <a:rPr dirty="0" sz="1250" spc="-5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{name}")</a:t>
            </a:r>
            <a:endParaRPr sz="1250">
              <a:latin typeface="Consolas"/>
              <a:cs typeface="Consola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643071" y="1796731"/>
            <a:ext cx="5107940" cy="3994150"/>
            <a:chOff x="6643071" y="1796731"/>
            <a:chExt cx="5107940" cy="399415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43071" y="1796731"/>
              <a:ext cx="5107774" cy="399375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675119" y="1828799"/>
              <a:ext cx="5013960" cy="3886200"/>
            </a:xfrm>
            <a:custGeom>
              <a:avLst/>
              <a:gdLst/>
              <a:ahLst/>
              <a:cxnLst/>
              <a:rect l="l" t="t" r="r" b="b"/>
              <a:pathLst>
                <a:path w="5013959" h="3886200">
                  <a:moveTo>
                    <a:pt x="494055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3813060"/>
                  </a:lnTo>
                  <a:lnTo>
                    <a:pt x="5750" y="3841531"/>
                  </a:lnTo>
                  <a:lnTo>
                    <a:pt x="21431" y="3864779"/>
                  </a:lnTo>
                  <a:lnTo>
                    <a:pt x="44684" y="3880453"/>
                  </a:lnTo>
                  <a:lnTo>
                    <a:pt x="73151" y="3886200"/>
                  </a:lnTo>
                  <a:lnTo>
                    <a:pt x="4940554" y="3886200"/>
                  </a:lnTo>
                  <a:lnTo>
                    <a:pt x="4969021" y="3880453"/>
                  </a:lnTo>
                  <a:lnTo>
                    <a:pt x="4992274" y="3864779"/>
                  </a:lnTo>
                  <a:lnTo>
                    <a:pt x="5007955" y="3841531"/>
                  </a:lnTo>
                  <a:lnTo>
                    <a:pt x="5013706" y="3813060"/>
                  </a:lnTo>
                  <a:lnTo>
                    <a:pt x="5013706" y="73151"/>
                  </a:lnTo>
                  <a:lnTo>
                    <a:pt x="5007955" y="44684"/>
                  </a:lnTo>
                  <a:lnTo>
                    <a:pt x="4992274" y="21431"/>
                  </a:lnTo>
                  <a:lnTo>
                    <a:pt x="4969021" y="5750"/>
                  </a:lnTo>
                  <a:lnTo>
                    <a:pt x="4940554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6891908" y="2015489"/>
            <a:ext cx="200469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10" b="1">
                <a:solidFill>
                  <a:srgbClr val="091F3C"/>
                </a:solidFill>
                <a:latin typeface="Arial"/>
                <a:cs typeface="Arial"/>
              </a:rPr>
              <a:t>Understanding</a:t>
            </a:r>
            <a:r>
              <a:rPr dirty="0" sz="1450" spc="20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091F3C"/>
                </a:solidFill>
                <a:latin typeface="Arial"/>
                <a:cs typeface="Arial"/>
              </a:rPr>
              <a:t>range()</a:t>
            </a:r>
            <a:endParaRPr sz="14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91908" y="2512313"/>
            <a:ext cx="1999614" cy="5200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10" b="1">
                <a:solidFill>
                  <a:srgbClr val="1B4D8E"/>
                </a:solidFill>
                <a:latin typeface="Consolas"/>
                <a:cs typeface="Consolas"/>
              </a:rPr>
              <a:t>range(5)</a:t>
            </a:r>
            <a:endParaRPr sz="12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0,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1,</a:t>
            </a:r>
            <a:r>
              <a:rPr dirty="0" sz="1150" spc="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2,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3,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4</a:t>
            </a:r>
            <a:r>
              <a:rPr dirty="0" sz="1150" spc="30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—</a:t>
            </a:r>
            <a:r>
              <a:rPr dirty="0" sz="1150" spc="30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stops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before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50">
                <a:solidFill>
                  <a:srgbClr val="495468"/>
                </a:solidFill>
                <a:latin typeface="Arial MT"/>
                <a:cs typeface="Arial MT"/>
              </a:rPr>
              <a:t>5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91908" y="3289807"/>
            <a:ext cx="1479550" cy="5200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b="1">
                <a:solidFill>
                  <a:srgbClr val="1B4D8E"/>
                </a:solidFill>
                <a:latin typeface="Consolas"/>
                <a:cs typeface="Consolas"/>
              </a:rPr>
              <a:t>range(1,</a:t>
            </a:r>
            <a:r>
              <a:rPr dirty="0" sz="1250" spc="-60" b="1">
                <a:solidFill>
                  <a:srgbClr val="1B4D8E"/>
                </a:solidFill>
                <a:latin typeface="Consolas"/>
                <a:cs typeface="Consolas"/>
              </a:rPr>
              <a:t> </a:t>
            </a:r>
            <a:r>
              <a:rPr dirty="0" sz="1250" spc="-25" b="1">
                <a:solidFill>
                  <a:srgbClr val="1B4D8E"/>
                </a:solidFill>
                <a:latin typeface="Consolas"/>
                <a:cs typeface="Consolas"/>
              </a:rPr>
              <a:t>5)</a:t>
            </a:r>
            <a:endParaRPr sz="12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1,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2,</a:t>
            </a:r>
            <a:r>
              <a:rPr dirty="0" sz="1150" spc="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3, 4</a:t>
            </a:r>
            <a:r>
              <a:rPr dirty="0" sz="1150" spc="3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—</a:t>
            </a:r>
            <a:r>
              <a:rPr dirty="0" sz="1150" spc="3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start</a:t>
            </a:r>
            <a:r>
              <a:rPr dirty="0" sz="1150" spc="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at </a:t>
            </a:r>
            <a:r>
              <a:rPr dirty="0" sz="1150" spc="-50">
                <a:solidFill>
                  <a:srgbClr val="495468"/>
                </a:solidFill>
                <a:latin typeface="Arial MT"/>
                <a:cs typeface="Arial MT"/>
              </a:rPr>
              <a:t>1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91908" y="4067047"/>
            <a:ext cx="1666239" cy="5200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b="1">
                <a:solidFill>
                  <a:srgbClr val="1B4D8E"/>
                </a:solidFill>
                <a:latin typeface="Consolas"/>
                <a:cs typeface="Consolas"/>
              </a:rPr>
              <a:t>range(0,</a:t>
            </a:r>
            <a:r>
              <a:rPr dirty="0" sz="1250" spc="-45" b="1">
                <a:solidFill>
                  <a:srgbClr val="1B4D8E"/>
                </a:solidFill>
                <a:latin typeface="Consolas"/>
                <a:cs typeface="Consolas"/>
              </a:rPr>
              <a:t> </a:t>
            </a:r>
            <a:r>
              <a:rPr dirty="0" sz="1250" b="1">
                <a:solidFill>
                  <a:srgbClr val="1B4D8E"/>
                </a:solidFill>
                <a:latin typeface="Consolas"/>
                <a:cs typeface="Consolas"/>
              </a:rPr>
              <a:t>10,</a:t>
            </a:r>
            <a:r>
              <a:rPr dirty="0" sz="1250" spc="-40" b="1">
                <a:solidFill>
                  <a:srgbClr val="1B4D8E"/>
                </a:solidFill>
                <a:latin typeface="Consolas"/>
                <a:cs typeface="Consolas"/>
              </a:rPr>
              <a:t> </a:t>
            </a:r>
            <a:r>
              <a:rPr dirty="0" sz="1250" spc="-25" b="1">
                <a:solidFill>
                  <a:srgbClr val="1B4D8E"/>
                </a:solidFill>
                <a:latin typeface="Consolas"/>
                <a:cs typeface="Consolas"/>
              </a:rPr>
              <a:t>2)</a:t>
            </a:r>
            <a:endParaRPr sz="12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0,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2,</a:t>
            </a:r>
            <a:r>
              <a:rPr dirty="0" sz="1150" spc="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4,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6,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8</a:t>
            </a:r>
            <a:r>
              <a:rPr dirty="0" sz="1150" spc="3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—</a:t>
            </a:r>
            <a:r>
              <a:rPr dirty="0" sz="1150" spc="3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step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by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60">
                <a:solidFill>
                  <a:srgbClr val="495468"/>
                </a:solidFill>
                <a:latin typeface="Arial MT"/>
                <a:cs typeface="Arial MT"/>
              </a:rPr>
              <a:t>2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903719" y="4892040"/>
            <a:ext cx="4556760" cy="685800"/>
          </a:xfrm>
          <a:custGeom>
            <a:avLst/>
            <a:gdLst/>
            <a:ahLst/>
            <a:cxnLst/>
            <a:rect l="l" t="t" r="r" b="b"/>
            <a:pathLst>
              <a:path w="4556759" h="685800">
                <a:moveTo>
                  <a:pt x="4501641" y="0"/>
                </a:moveTo>
                <a:lnTo>
                  <a:pt x="54863" y="0"/>
                </a:lnTo>
                <a:lnTo>
                  <a:pt x="33486" y="4304"/>
                </a:lnTo>
                <a:lnTo>
                  <a:pt x="16049" y="16049"/>
                </a:lnTo>
                <a:lnTo>
                  <a:pt x="4304" y="33486"/>
                </a:lnTo>
                <a:lnTo>
                  <a:pt x="0" y="54864"/>
                </a:lnTo>
                <a:lnTo>
                  <a:pt x="0" y="630936"/>
                </a:lnTo>
                <a:lnTo>
                  <a:pt x="4304" y="652313"/>
                </a:lnTo>
                <a:lnTo>
                  <a:pt x="16049" y="669750"/>
                </a:lnTo>
                <a:lnTo>
                  <a:pt x="33486" y="681495"/>
                </a:lnTo>
                <a:lnTo>
                  <a:pt x="54863" y="685800"/>
                </a:lnTo>
                <a:lnTo>
                  <a:pt x="4501641" y="685800"/>
                </a:lnTo>
                <a:lnTo>
                  <a:pt x="4522966" y="681495"/>
                </a:lnTo>
                <a:lnTo>
                  <a:pt x="4540408" y="669750"/>
                </a:lnTo>
                <a:lnTo>
                  <a:pt x="4552184" y="652313"/>
                </a:lnTo>
                <a:lnTo>
                  <a:pt x="4556506" y="630936"/>
                </a:lnTo>
                <a:lnTo>
                  <a:pt x="4556506" y="54864"/>
                </a:lnTo>
                <a:lnTo>
                  <a:pt x="4552184" y="33486"/>
                </a:lnTo>
                <a:lnTo>
                  <a:pt x="4540408" y="16049"/>
                </a:lnTo>
                <a:lnTo>
                  <a:pt x="4522966" y="4304"/>
                </a:lnTo>
                <a:lnTo>
                  <a:pt x="4501641" y="0"/>
                </a:lnTo>
                <a:close/>
              </a:path>
            </a:pathLst>
          </a:custGeom>
          <a:solidFill>
            <a:srgbClr val="FFF7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7074789" y="5043297"/>
            <a:ext cx="4153535" cy="372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60"/>
              </a:lnSpc>
              <a:spcBef>
                <a:spcPts val="100"/>
              </a:spcBef>
            </a:pPr>
            <a:r>
              <a:rPr dirty="0" sz="1150">
                <a:solidFill>
                  <a:srgbClr val="6B530F"/>
                </a:solidFill>
                <a:latin typeface="Arial MT"/>
                <a:cs typeface="Arial MT"/>
              </a:rPr>
              <a:t>range</a:t>
            </a:r>
            <a:r>
              <a:rPr dirty="0" sz="1150" spc="-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6B530F"/>
                </a:solidFill>
                <a:latin typeface="Arial MT"/>
                <a:cs typeface="Arial MT"/>
              </a:rPr>
              <a:t>stops</a:t>
            </a:r>
            <a:r>
              <a:rPr dirty="0" sz="1150" spc="-1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150" b="1">
                <a:solidFill>
                  <a:srgbClr val="6B530F"/>
                </a:solidFill>
                <a:latin typeface="Arial"/>
                <a:cs typeface="Arial"/>
              </a:rPr>
              <a:t>before</a:t>
            </a:r>
            <a:r>
              <a:rPr dirty="0" sz="1150" spc="-15" b="1">
                <a:solidFill>
                  <a:srgbClr val="6B530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6B530F"/>
                </a:solidFill>
                <a:latin typeface="Arial MT"/>
                <a:cs typeface="Arial MT"/>
              </a:rPr>
              <a:t>the</a:t>
            </a:r>
            <a:r>
              <a:rPr dirty="0" sz="1150" spc="-2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6B530F"/>
                </a:solidFill>
                <a:latin typeface="Arial MT"/>
                <a:cs typeface="Arial MT"/>
              </a:rPr>
              <a:t>end number</a:t>
            </a:r>
            <a:r>
              <a:rPr dirty="0" sz="1150" spc="-2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6B530F"/>
                </a:solidFill>
                <a:latin typeface="Arial MT"/>
                <a:cs typeface="Arial MT"/>
              </a:rPr>
              <a:t>—</a:t>
            </a:r>
            <a:r>
              <a:rPr dirty="0" sz="1150" spc="-1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6B530F"/>
                </a:solidFill>
                <a:latin typeface="Arial MT"/>
                <a:cs typeface="Arial MT"/>
              </a:rPr>
              <a:t>a</a:t>
            </a:r>
            <a:r>
              <a:rPr dirty="0" sz="1150" spc="-1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6B530F"/>
                </a:solidFill>
                <a:latin typeface="Arial MT"/>
                <a:cs typeface="Arial MT"/>
              </a:rPr>
              <a:t>common</a:t>
            </a:r>
            <a:r>
              <a:rPr dirty="0" sz="1150" spc="-4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6B530F"/>
                </a:solidFill>
                <a:latin typeface="Arial MT"/>
                <a:cs typeface="Arial MT"/>
              </a:rPr>
              <a:t>source</a:t>
            </a:r>
            <a:r>
              <a:rPr dirty="0" sz="1150" spc="-2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6B530F"/>
                </a:solidFill>
                <a:latin typeface="Arial MT"/>
                <a:cs typeface="Arial MT"/>
              </a:rPr>
              <a:t>of </a:t>
            </a:r>
            <a:r>
              <a:rPr dirty="0" sz="1150" spc="-20">
                <a:solidFill>
                  <a:srgbClr val="6B530F"/>
                </a:solidFill>
                <a:latin typeface="Arial MT"/>
                <a:cs typeface="Arial MT"/>
              </a:rPr>
              <a:t>off-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ts val="1360"/>
              </a:lnSpc>
            </a:pPr>
            <a:r>
              <a:rPr dirty="0" sz="1150" spc="-20">
                <a:solidFill>
                  <a:srgbClr val="6B530F"/>
                </a:solidFill>
                <a:latin typeface="Arial MT"/>
                <a:cs typeface="Arial MT"/>
              </a:rPr>
              <a:t>by-</a:t>
            </a:r>
            <a:r>
              <a:rPr dirty="0" sz="1150">
                <a:solidFill>
                  <a:srgbClr val="6B530F"/>
                </a:solidFill>
                <a:latin typeface="Arial MT"/>
                <a:cs typeface="Arial MT"/>
              </a:rPr>
              <a:t>one</a:t>
            </a:r>
            <a:r>
              <a:rPr dirty="0" sz="1150" spc="2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6B530F"/>
                </a:solidFill>
                <a:latin typeface="Arial MT"/>
                <a:cs typeface="Arial MT"/>
              </a:rPr>
              <a:t>bugs.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Property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IBT</a:t>
            </a:r>
            <a:r>
              <a:rPr dirty="0" spc="-35"/>
              <a:t> </a:t>
            </a:r>
            <a:r>
              <a:rPr dirty="0"/>
              <a:t>College</a:t>
            </a:r>
            <a:r>
              <a:rPr dirty="0" spc="-15"/>
              <a:t> </a:t>
            </a:r>
            <a:r>
              <a:rPr dirty="0" spc="-10"/>
              <a:t>Canada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17</a:t>
            </a:fld>
            <a:r>
              <a:rPr dirty="0"/>
              <a:t> /</a:t>
            </a:r>
            <a:r>
              <a:rPr dirty="0" spc="-10"/>
              <a:t> </a:t>
            </a:r>
            <a:r>
              <a:rPr dirty="0" spc="-25"/>
              <a:t>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343915"/>
            <a:ext cx="26111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C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I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38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3</a:t>
            </a:r>
            <a:r>
              <a:rPr dirty="0" sz="1100" spc="38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·</a:t>
            </a:r>
            <a:r>
              <a:rPr dirty="0" sz="1100" spc="3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C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R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L</a:t>
            </a:r>
            <a:r>
              <a:rPr dirty="0" sz="1100" spc="37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F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L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D39F27"/>
                </a:solidFill>
                <a:latin typeface="Arial"/>
                <a:cs typeface="Arial"/>
              </a:rPr>
              <a:t>W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break</a:t>
            </a:r>
            <a:r>
              <a:rPr dirty="0" spc="-30"/>
              <a:t> </a:t>
            </a:r>
            <a:r>
              <a:rPr dirty="0"/>
              <a:t>&amp;</a:t>
            </a:r>
            <a:r>
              <a:rPr dirty="0" spc="-10"/>
              <a:t> continue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70867" y="1659573"/>
            <a:ext cx="5504180" cy="4131310"/>
            <a:chOff x="470867" y="1659573"/>
            <a:chExt cx="5504180" cy="41313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67" y="1659573"/>
              <a:ext cx="5504023" cy="41309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2919" y="1691639"/>
              <a:ext cx="5410200" cy="4023360"/>
            </a:xfrm>
            <a:custGeom>
              <a:avLst/>
              <a:gdLst/>
              <a:ahLst/>
              <a:cxnLst/>
              <a:rect l="l" t="t" r="r" b="b"/>
              <a:pathLst>
                <a:path w="5410200" h="4023360">
                  <a:moveTo>
                    <a:pt x="533692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3950208"/>
                  </a:lnTo>
                  <a:lnTo>
                    <a:pt x="5748" y="3978681"/>
                  </a:lnTo>
                  <a:lnTo>
                    <a:pt x="21426" y="4001933"/>
                  </a:lnTo>
                  <a:lnTo>
                    <a:pt x="44678" y="4017611"/>
                  </a:lnTo>
                  <a:lnTo>
                    <a:pt x="73151" y="4023360"/>
                  </a:lnTo>
                  <a:lnTo>
                    <a:pt x="5336920" y="4023360"/>
                  </a:lnTo>
                  <a:lnTo>
                    <a:pt x="5365388" y="4017611"/>
                  </a:lnTo>
                  <a:lnTo>
                    <a:pt x="5388641" y="4001933"/>
                  </a:lnTo>
                  <a:lnTo>
                    <a:pt x="5404322" y="3978681"/>
                  </a:lnTo>
                  <a:lnTo>
                    <a:pt x="5410072" y="3950208"/>
                  </a:lnTo>
                  <a:lnTo>
                    <a:pt x="5410072" y="73151"/>
                  </a:lnTo>
                  <a:lnTo>
                    <a:pt x="5404322" y="44684"/>
                  </a:lnTo>
                  <a:lnTo>
                    <a:pt x="5388641" y="21431"/>
                  </a:lnTo>
                  <a:lnTo>
                    <a:pt x="5365388" y="5750"/>
                  </a:lnTo>
                  <a:lnTo>
                    <a:pt x="533692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02919" y="1691639"/>
              <a:ext cx="5410200" cy="731520"/>
            </a:xfrm>
            <a:custGeom>
              <a:avLst/>
              <a:gdLst/>
              <a:ahLst/>
              <a:cxnLst/>
              <a:rect l="l" t="t" r="r" b="b"/>
              <a:pathLst>
                <a:path w="5410200" h="731519">
                  <a:moveTo>
                    <a:pt x="533692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658368"/>
                  </a:lnTo>
                  <a:lnTo>
                    <a:pt x="5748" y="686835"/>
                  </a:lnTo>
                  <a:lnTo>
                    <a:pt x="21426" y="710088"/>
                  </a:lnTo>
                  <a:lnTo>
                    <a:pt x="44678" y="725769"/>
                  </a:lnTo>
                  <a:lnTo>
                    <a:pt x="73151" y="731520"/>
                  </a:lnTo>
                  <a:lnTo>
                    <a:pt x="5336920" y="731520"/>
                  </a:lnTo>
                  <a:lnTo>
                    <a:pt x="5365388" y="725769"/>
                  </a:lnTo>
                  <a:lnTo>
                    <a:pt x="5388641" y="710088"/>
                  </a:lnTo>
                  <a:lnTo>
                    <a:pt x="5404322" y="686835"/>
                  </a:lnTo>
                  <a:lnTo>
                    <a:pt x="5410072" y="658368"/>
                  </a:lnTo>
                  <a:lnTo>
                    <a:pt x="5410072" y="73151"/>
                  </a:lnTo>
                  <a:lnTo>
                    <a:pt x="5404322" y="44684"/>
                  </a:lnTo>
                  <a:lnTo>
                    <a:pt x="5388641" y="21431"/>
                  </a:lnTo>
                  <a:lnTo>
                    <a:pt x="5365388" y="5750"/>
                  </a:lnTo>
                  <a:lnTo>
                    <a:pt x="5336920" y="0"/>
                  </a:lnTo>
                  <a:close/>
                </a:path>
              </a:pathLst>
            </a:custGeom>
            <a:solidFill>
              <a:srgbClr val="B33A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764540" y="1893773"/>
            <a:ext cx="3622675" cy="868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FFFF"/>
                </a:solidFill>
                <a:latin typeface="Consolas"/>
                <a:cs typeface="Consolas"/>
              </a:rPr>
              <a:t>break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Exit</a:t>
            </a:r>
            <a:r>
              <a:rPr dirty="0" sz="1300" spc="-4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3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loop</a:t>
            </a:r>
            <a:r>
              <a:rPr dirty="0" sz="1300" spc="-4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immediately</a:t>
            </a:r>
            <a:r>
              <a:rPr dirty="0" sz="130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—</a:t>
            </a:r>
            <a:r>
              <a:rPr dirty="0" sz="13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stop</a:t>
            </a:r>
            <a:r>
              <a:rPr dirty="0" sz="130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looping</a:t>
            </a:r>
            <a:r>
              <a:rPr dirty="0" sz="130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495468"/>
                </a:solidFill>
                <a:latin typeface="Arial MT"/>
                <a:cs typeface="Arial MT"/>
              </a:rPr>
              <a:t>entirely.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17804" y="3232404"/>
            <a:ext cx="5010150" cy="2297430"/>
            <a:chOff x="717804" y="3232404"/>
            <a:chExt cx="5010150" cy="229743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7804" y="3232404"/>
              <a:ext cx="5010150" cy="229743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77240" y="3291840"/>
              <a:ext cx="4861560" cy="2148840"/>
            </a:xfrm>
            <a:custGeom>
              <a:avLst/>
              <a:gdLst/>
              <a:ahLst/>
              <a:cxnLst/>
              <a:rect l="l" t="t" r="r" b="b"/>
              <a:pathLst>
                <a:path w="4861560" h="2148840">
                  <a:moveTo>
                    <a:pt x="4815713" y="0"/>
                  </a:moveTo>
                  <a:lnTo>
                    <a:pt x="45732" y="0"/>
                  </a:lnTo>
                  <a:lnTo>
                    <a:pt x="27930" y="3589"/>
                  </a:lnTo>
                  <a:lnTo>
                    <a:pt x="13393" y="13382"/>
                  </a:lnTo>
                  <a:lnTo>
                    <a:pt x="3593" y="27914"/>
                  </a:lnTo>
                  <a:lnTo>
                    <a:pt x="0" y="45720"/>
                  </a:lnTo>
                  <a:lnTo>
                    <a:pt x="0" y="2103120"/>
                  </a:lnTo>
                  <a:lnTo>
                    <a:pt x="3593" y="2120925"/>
                  </a:lnTo>
                  <a:lnTo>
                    <a:pt x="13393" y="2135457"/>
                  </a:lnTo>
                  <a:lnTo>
                    <a:pt x="27930" y="2145250"/>
                  </a:lnTo>
                  <a:lnTo>
                    <a:pt x="45732" y="2148840"/>
                  </a:lnTo>
                  <a:lnTo>
                    <a:pt x="4815713" y="2148840"/>
                  </a:lnTo>
                  <a:lnTo>
                    <a:pt x="4833518" y="2145250"/>
                  </a:lnTo>
                  <a:lnTo>
                    <a:pt x="4848050" y="2135457"/>
                  </a:lnTo>
                  <a:lnTo>
                    <a:pt x="4857843" y="2120925"/>
                  </a:lnTo>
                  <a:lnTo>
                    <a:pt x="4861433" y="2103120"/>
                  </a:lnTo>
                  <a:lnTo>
                    <a:pt x="4861433" y="45720"/>
                  </a:lnTo>
                  <a:lnTo>
                    <a:pt x="4857843" y="27914"/>
                  </a:lnTo>
                  <a:lnTo>
                    <a:pt x="4848050" y="13382"/>
                  </a:lnTo>
                  <a:lnTo>
                    <a:pt x="4833518" y="3589"/>
                  </a:lnTo>
                  <a:lnTo>
                    <a:pt x="4815713" y="0"/>
                  </a:lnTo>
                  <a:close/>
                </a:path>
              </a:pathLst>
            </a:custGeom>
            <a:solidFill>
              <a:srgbClr val="1A23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929132" y="3380359"/>
            <a:ext cx="2013585" cy="1016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E6ECF3"/>
                </a:solidFill>
                <a:latin typeface="Consolas"/>
                <a:cs typeface="Consolas"/>
              </a:rPr>
              <a:t>for</a:t>
            </a:r>
            <a:r>
              <a:rPr dirty="0" sz="130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300">
                <a:solidFill>
                  <a:srgbClr val="E6ECF3"/>
                </a:solidFill>
                <a:latin typeface="Consolas"/>
                <a:cs typeface="Consolas"/>
              </a:rPr>
              <a:t>n</a:t>
            </a:r>
            <a:r>
              <a:rPr dirty="0" sz="1300" spc="-1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300">
                <a:solidFill>
                  <a:srgbClr val="E6ECF3"/>
                </a:solidFill>
                <a:latin typeface="Consolas"/>
                <a:cs typeface="Consolas"/>
              </a:rPr>
              <a:t>in</a:t>
            </a:r>
            <a:r>
              <a:rPr dirty="0" sz="130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300">
                <a:solidFill>
                  <a:srgbClr val="E6ECF3"/>
                </a:solidFill>
                <a:latin typeface="Consolas"/>
                <a:cs typeface="Consolas"/>
              </a:rPr>
              <a:t>range(1,</a:t>
            </a:r>
            <a:r>
              <a:rPr dirty="0" sz="1300" spc="-1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300" spc="-20">
                <a:solidFill>
                  <a:srgbClr val="E6ECF3"/>
                </a:solidFill>
                <a:latin typeface="Consolas"/>
                <a:cs typeface="Consolas"/>
              </a:rPr>
              <a:t>10):</a:t>
            </a:r>
            <a:endParaRPr sz="1300">
              <a:latin typeface="Consolas"/>
              <a:cs typeface="Consolas"/>
            </a:endParaRPr>
          </a:p>
          <a:p>
            <a:pPr marL="374015">
              <a:lnSpc>
                <a:spcPct val="100000"/>
              </a:lnSpc>
            </a:pPr>
            <a:r>
              <a:rPr dirty="0" sz="1300">
                <a:solidFill>
                  <a:srgbClr val="E6ECF3"/>
                </a:solidFill>
                <a:latin typeface="Consolas"/>
                <a:cs typeface="Consolas"/>
              </a:rPr>
              <a:t>if</a:t>
            </a:r>
            <a:r>
              <a:rPr dirty="0" sz="130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300">
                <a:solidFill>
                  <a:srgbClr val="E6ECF3"/>
                </a:solidFill>
                <a:latin typeface="Consolas"/>
                <a:cs typeface="Consolas"/>
              </a:rPr>
              <a:t>n</a:t>
            </a:r>
            <a:r>
              <a:rPr dirty="0" sz="1300" spc="-1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300">
                <a:solidFill>
                  <a:srgbClr val="E6ECF3"/>
                </a:solidFill>
                <a:latin typeface="Consolas"/>
                <a:cs typeface="Consolas"/>
              </a:rPr>
              <a:t>==</a:t>
            </a:r>
            <a:r>
              <a:rPr dirty="0" sz="1300" spc="-1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300" spc="-25">
                <a:solidFill>
                  <a:srgbClr val="E6ECF3"/>
                </a:solidFill>
                <a:latin typeface="Consolas"/>
                <a:cs typeface="Consolas"/>
              </a:rPr>
              <a:t>5:</a:t>
            </a:r>
            <a:endParaRPr sz="1300">
              <a:latin typeface="Consolas"/>
              <a:cs typeface="Consolas"/>
            </a:endParaRPr>
          </a:p>
          <a:p>
            <a:pPr marL="374015" marR="817244" indent="360680">
              <a:lnSpc>
                <a:spcPct val="100000"/>
              </a:lnSpc>
            </a:pPr>
            <a:r>
              <a:rPr dirty="0" sz="1300" spc="-10">
                <a:solidFill>
                  <a:srgbClr val="E6ECF3"/>
                </a:solidFill>
                <a:latin typeface="Consolas"/>
                <a:cs typeface="Consolas"/>
              </a:rPr>
              <a:t>break print(n)</a:t>
            </a:r>
            <a:endParaRPr sz="13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300">
                <a:solidFill>
                  <a:srgbClr val="E6ECF3"/>
                </a:solidFill>
                <a:latin typeface="Consolas"/>
                <a:cs typeface="Consolas"/>
              </a:rPr>
              <a:t>#</a:t>
            </a:r>
            <a:r>
              <a:rPr dirty="0" sz="130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300">
                <a:solidFill>
                  <a:srgbClr val="E6ECF3"/>
                </a:solidFill>
                <a:latin typeface="Consolas"/>
                <a:cs typeface="Consolas"/>
              </a:rPr>
              <a:t>1</a:t>
            </a:r>
            <a:r>
              <a:rPr dirty="0" sz="1300" spc="-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300">
                <a:solidFill>
                  <a:srgbClr val="E6ECF3"/>
                </a:solidFill>
                <a:latin typeface="Consolas"/>
                <a:cs typeface="Consolas"/>
              </a:rPr>
              <a:t>2</a:t>
            </a:r>
            <a:r>
              <a:rPr dirty="0" sz="1300" spc="-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300">
                <a:solidFill>
                  <a:srgbClr val="E6ECF3"/>
                </a:solidFill>
                <a:latin typeface="Consolas"/>
                <a:cs typeface="Consolas"/>
              </a:rPr>
              <a:t>3</a:t>
            </a:r>
            <a:r>
              <a:rPr dirty="0" sz="130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300" spc="-50">
                <a:solidFill>
                  <a:srgbClr val="E6ECF3"/>
                </a:solidFill>
                <a:latin typeface="Consolas"/>
                <a:cs typeface="Consolas"/>
              </a:rPr>
              <a:t>4</a:t>
            </a:r>
            <a:endParaRPr sz="1300">
              <a:latin typeface="Consolas"/>
              <a:cs typeface="Consola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246827" y="1659573"/>
            <a:ext cx="5504180" cy="4131310"/>
            <a:chOff x="6246827" y="1659573"/>
            <a:chExt cx="5504180" cy="413131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6827" y="1659573"/>
              <a:ext cx="5504023" cy="413091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278753" y="1691639"/>
              <a:ext cx="5410200" cy="4023360"/>
            </a:xfrm>
            <a:custGeom>
              <a:avLst/>
              <a:gdLst/>
              <a:ahLst/>
              <a:cxnLst/>
              <a:rect l="l" t="t" r="r" b="b"/>
              <a:pathLst>
                <a:path w="5410200" h="4023360">
                  <a:moveTo>
                    <a:pt x="533692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3950208"/>
                  </a:lnTo>
                  <a:lnTo>
                    <a:pt x="5750" y="3978681"/>
                  </a:lnTo>
                  <a:lnTo>
                    <a:pt x="21431" y="4001933"/>
                  </a:lnTo>
                  <a:lnTo>
                    <a:pt x="44684" y="4017611"/>
                  </a:lnTo>
                  <a:lnTo>
                    <a:pt x="73151" y="4023360"/>
                  </a:lnTo>
                  <a:lnTo>
                    <a:pt x="5336921" y="4023360"/>
                  </a:lnTo>
                  <a:lnTo>
                    <a:pt x="5365388" y="4017611"/>
                  </a:lnTo>
                  <a:lnTo>
                    <a:pt x="5388641" y="4001933"/>
                  </a:lnTo>
                  <a:lnTo>
                    <a:pt x="5404322" y="3978681"/>
                  </a:lnTo>
                  <a:lnTo>
                    <a:pt x="5410073" y="3950208"/>
                  </a:lnTo>
                  <a:lnTo>
                    <a:pt x="5410073" y="73151"/>
                  </a:lnTo>
                  <a:lnTo>
                    <a:pt x="5404322" y="44684"/>
                  </a:lnTo>
                  <a:lnTo>
                    <a:pt x="5388641" y="21431"/>
                  </a:lnTo>
                  <a:lnTo>
                    <a:pt x="5365388" y="5750"/>
                  </a:lnTo>
                  <a:lnTo>
                    <a:pt x="5336921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278753" y="1691639"/>
              <a:ext cx="5410200" cy="731520"/>
            </a:xfrm>
            <a:custGeom>
              <a:avLst/>
              <a:gdLst/>
              <a:ahLst/>
              <a:cxnLst/>
              <a:rect l="l" t="t" r="r" b="b"/>
              <a:pathLst>
                <a:path w="5410200" h="731519">
                  <a:moveTo>
                    <a:pt x="533692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658368"/>
                  </a:lnTo>
                  <a:lnTo>
                    <a:pt x="5750" y="686835"/>
                  </a:lnTo>
                  <a:lnTo>
                    <a:pt x="21431" y="710088"/>
                  </a:lnTo>
                  <a:lnTo>
                    <a:pt x="44684" y="725769"/>
                  </a:lnTo>
                  <a:lnTo>
                    <a:pt x="73151" y="731520"/>
                  </a:lnTo>
                  <a:lnTo>
                    <a:pt x="5336921" y="731520"/>
                  </a:lnTo>
                  <a:lnTo>
                    <a:pt x="5365388" y="725769"/>
                  </a:lnTo>
                  <a:lnTo>
                    <a:pt x="5388641" y="710088"/>
                  </a:lnTo>
                  <a:lnTo>
                    <a:pt x="5404322" y="686835"/>
                  </a:lnTo>
                  <a:lnTo>
                    <a:pt x="5410073" y="658368"/>
                  </a:lnTo>
                  <a:lnTo>
                    <a:pt x="5410073" y="73151"/>
                  </a:lnTo>
                  <a:lnTo>
                    <a:pt x="5404322" y="44684"/>
                  </a:lnTo>
                  <a:lnTo>
                    <a:pt x="5388641" y="21431"/>
                  </a:lnTo>
                  <a:lnTo>
                    <a:pt x="5365388" y="5750"/>
                  </a:lnTo>
                  <a:lnTo>
                    <a:pt x="5336921" y="0"/>
                  </a:lnTo>
                  <a:close/>
                </a:path>
              </a:pathLst>
            </a:custGeom>
            <a:solidFill>
              <a:srgbClr val="2D5C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541134" y="1893773"/>
            <a:ext cx="102806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FFFF"/>
                </a:solidFill>
                <a:latin typeface="Consolas"/>
                <a:cs typeface="Consolas"/>
              </a:rPr>
              <a:t>continue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41134" y="2539111"/>
            <a:ext cx="34347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Skip</a:t>
            </a:r>
            <a:r>
              <a:rPr dirty="0" sz="13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3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rest</a:t>
            </a:r>
            <a:r>
              <a:rPr dirty="0" sz="13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of</a:t>
            </a:r>
            <a:r>
              <a:rPr dirty="0" sz="13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this</a:t>
            </a:r>
            <a:r>
              <a:rPr dirty="0" sz="13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turn,</a:t>
            </a:r>
            <a:r>
              <a:rPr dirty="0" sz="130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jump</a:t>
            </a:r>
            <a:r>
              <a:rPr dirty="0" sz="130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to</a:t>
            </a:r>
            <a:r>
              <a:rPr dirty="0" sz="13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3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495468"/>
                </a:solidFill>
                <a:latin typeface="Arial MT"/>
                <a:cs typeface="Arial MT"/>
              </a:rPr>
              <a:t>next</a:t>
            </a:r>
            <a:r>
              <a:rPr dirty="0" sz="130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495468"/>
                </a:solidFill>
                <a:latin typeface="Arial MT"/>
                <a:cs typeface="Arial MT"/>
              </a:rPr>
              <a:t>item.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493764" y="3232404"/>
            <a:ext cx="5010150" cy="2297430"/>
            <a:chOff x="6493764" y="3232404"/>
            <a:chExt cx="5010150" cy="229743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93764" y="3232404"/>
              <a:ext cx="5010149" cy="229743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553073" y="3291840"/>
              <a:ext cx="4861560" cy="2148840"/>
            </a:xfrm>
            <a:custGeom>
              <a:avLst/>
              <a:gdLst/>
              <a:ahLst/>
              <a:cxnLst/>
              <a:rect l="l" t="t" r="r" b="b"/>
              <a:pathLst>
                <a:path w="4861559" h="2148840">
                  <a:moveTo>
                    <a:pt x="4815712" y="0"/>
                  </a:moveTo>
                  <a:lnTo>
                    <a:pt x="45720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2103120"/>
                  </a:lnTo>
                  <a:lnTo>
                    <a:pt x="3589" y="2120925"/>
                  </a:lnTo>
                  <a:lnTo>
                    <a:pt x="13382" y="2135457"/>
                  </a:lnTo>
                  <a:lnTo>
                    <a:pt x="27914" y="2145250"/>
                  </a:lnTo>
                  <a:lnTo>
                    <a:pt x="45720" y="2148840"/>
                  </a:lnTo>
                  <a:lnTo>
                    <a:pt x="4815712" y="2148840"/>
                  </a:lnTo>
                  <a:lnTo>
                    <a:pt x="4833465" y="2145250"/>
                  </a:lnTo>
                  <a:lnTo>
                    <a:pt x="4848002" y="2135457"/>
                  </a:lnTo>
                  <a:lnTo>
                    <a:pt x="4857825" y="2120925"/>
                  </a:lnTo>
                  <a:lnTo>
                    <a:pt x="4861433" y="2103120"/>
                  </a:lnTo>
                  <a:lnTo>
                    <a:pt x="4861433" y="45720"/>
                  </a:lnTo>
                  <a:lnTo>
                    <a:pt x="4857825" y="27914"/>
                  </a:lnTo>
                  <a:lnTo>
                    <a:pt x="4848002" y="13382"/>
                  </a:lnTo>
                  <a:lnTo>
                    <a:pt x="4833465" y="3589"/>
                  </a:lnTo>
                  <a:lnTo>
                    <a:pt x="4815712" y="0"/>
                  </a:lnTo>
                  <a:close/>
                </a:path>
              </a:pathLst>
            </a:custGeom>
            <a:solidFill>
              <a:srgbClr val="1A23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705727" y="3380359"/>
            <a:ext cx="1922145" cy="1016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E6ECF3"/>
                </a:solidFill>
                <a:latin typeface="Consolas"/>
                <a:cs typeface="Consolas"/>
              </a:rPr>
              <a:t>for</a:t>
            </a:r>
            <a:r>
              <a:rPr dirty="0" sz="130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300">
                <a:solidFill>
                  <a:srgbClr val="E6ECF3"/>
                </a:solidFill>
                <a:latin typeface="Consolas"/>
                <a:cs typeface="Consolas"/>
              </a:rPr>
              <a:t>n</a:t>
            </a:r>
            <a:r>
              <a:rPr dirty="0" sz="1300" spc="-1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300">
                <a:solidFill>
                  <a:srgbClr val="E6ECF3"/>
                </a:solidFill>
                <a:latin typeface="Consolas"/>
                <a:cs typeface="Consolas"/>
              </a:rPr>
              <a:t>in</a:t>
            </a:r>
            <a:r>
              <a:rPr dirty="0" sz="130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300">
                <a:solidFill>
                  <a:srgbClr val="E6ECF3"/>
                </a:solidFill>
                <a:latin typeface="Consolas"/>
                <a:cs typeface="Consolas"/>
              </a:rPr>
              <a:t>range(1,</a:t>
            </a:r>
            <a:r>
              <a:rPr dirty="0" sz="1300" spc="-1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300" spc="-25">
                <a:solidFill>
                  <a:srgbClr val="E6ECF3"/>
                </a:solidFill>
                <a:latin typeface="Consolas"/>
                <a:cs typeface="Consolas"/>
              </a:rPr>
              <a:t>6):</a:t>
            </a:r>
            <a:endParaRPr sz="1300">
              <a:latin typeface="Consolas"/>
              <a:cs typeface="Consolas"/>
            </a:endParaRPr>
          </a:p>
          <a:p>
            <a:pPr marL="374015">
              <a:lnSpc>
                <a:spcPct val="100000"/>
              </a:lnSpc>
            </a:pPr>
            <a:r>
              <a:rPr dirty="0" sz="1300">
                <a:solidFill>
                  <a:srgbClr val="E6ECF3"/>
                </a:solidFill>
                <a:latin typeface="Consolas"/>
                <a:cs typeface="Consolas"/>
              </a:rPr>
              <a:t>if</a:t>
            </a:r>
            <a:r>
              <a:rPr dirty="0" sz="130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300">
                <a:solidFill>
                  <a:srgbClr val="E6ECF3"/>
                </a:solidFill>
                <a:latin typeface="Consolas"/>
                <a:cs typeface="Consolas"/>
              </a:rPr>
              <a:t>n</a:t>
            </a:r>
            <a:r>
              <a:rPr dirty="0" sz="1300" spc="-1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300">
                <a:solidFill>
                  <a:srgbClr val="E6ECF3"/>
                </a:solidFill>
                <a:latin typeface="Consolas"/>
                <a:cs typeface="Consolas"/>
              </a:rPr>
              <a:t>==</a:t>
            </a:r>
            <a:r>
              <a:rPr dirty="0" sz="1300" spc="-1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300" spc="-25">
                <a:solidFill>
                  <a:srgbClr val="E6ECF3"/>
                </a:solidFill>
                <a:latin typeface="Consolas"/>
                <a:cs typeface="Consolas"/>
              </a:rPr>
              <a:t>3:</a:t>
            </a:r>
            <a:endParaRPr sz="1300">
              <a:latin typeface="Consolas"/>
              <a:cs typeface="Consolas"/>
            </a:endParaRPr>
          </a:p>
          <a:p>
            <a:pPr marL="374015" marR="454659" indent="360680">
              <a:lnSpc>
                <a:spcPct val="100000"/>
              </a:lnSpc>
            </a:pPr>
            <a:r>
              <a:rPr dirty="0" sz="1300" spc="-10">
                <a:solidFill>
                  <a:srgbClr val="E6ECF3"/>
                </a:solidFill>
                <a:latin typeface="Consolas"/>
                <a:cs typeface="Consolas"/>
              </a:rPr>
              <a:t>continue print(n)</a:t>
            </a:r>
            <a:endParaRPr sz="13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300">
                <a:solidFill>
                  <a:srgbClr val="E6ECF3"/>
                </a:solidFill>
                <a:latin typeface="Consolas"/>
                <a:cs typeface="Consolas"/>
              </a:rPr>
              <a:t>#</a:t>
            </a:r>
            <a:r>
              <a:rPr dirty="0" sz="130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300">
                <a:solidFill>
                  <a:srgbClr val="E6ECF3"/>
                </a:solidFill>
                <a:latin typeface="Consolas"/>
                <a:cs typeface="Consolas"/>
              </a:rPr>
              <a:t>1</a:t>
            </a:r>
            <a:r>
              <a:rPr dirty="0" sz="1300" spc="-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300">
                <a:solidFill>
                  <a:srgbClr val="E6ECF3"/>
                </a:solidFill>
                <a:latin typeface="Consolas"/>
                <a:cs typeface="Consolas"/>
              </a:rPr>
              <a:t>2</a:t>
            </a:r>
            <a:r>
              <a:rPr dirty="0" sz="1300" spc="-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300">
                <a:solidFill>
                  <a:srgbClr val="E6ECF3"/>
                </a:solidFill>
                <a:latin typeface="Consolas"/>
                <a:cs typeface="Consolas"/>
              </a:rPr>
              <a:t>4</a:t>
            </a:r>
            <a:r>
              <a:rPr dirty="0" sz="130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300" spc="-50">
                <a:solidFill>
                  <a:srgbClr val="E6ECF3"/>
                </a:solidFill>
                <a:latin typeface="Consolas"/>
                <a:cs typeface="Consolas"/>
              </a:rPr>
              <a:t>5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Property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IBT</a:t>
            </a:r>
            <a:r>
              <a:rPr dirty="0" spc="-35"/>
              <a:t> </a:t>
            </a:r>
            <a:r>
              <a:rPr dirty="0"/>
              <a:t>College</a:t>
            </a:r>
            <a:r>
              <a:rPr dirty="0" spc="-15"/>
              <a:t> </a:t>
            </a:r>
            <a:r>
              <a:rPr dirty="0" spc="-10"/>
              <a:t>Canada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17</a:t>
            </a:fld>
            <a:r>
              <a:rPr dirty="0"/>
              <a:t> /</a:t>
            </a:r>
            <a:r>
              <a:rPr dirty="0" spc="-10"/>
              <a:t> </a:t>
            </a:r>
            <a:r>
              <a:rPr dirty="0" spc="-25"/>
              <a:t>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343915"/>
            <a:ext cx="26111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C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I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38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3</a:t>
            </a:r>
            <a:r>
              <a:rPr dirty="0" sz="1100" spc="38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·</a:t>
            </a:r>
            <a:r>
              <a:rPr dirty="0" sz="1100" spc="3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C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R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L</a:t>
            </a:r>
            <a:r>
              <a:rPr dirty="0" sz="1100" spc="37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F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L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D39F27"/>
                </a:solidFill>
                <a:latin typeface="Arial"/>
                <a:cs typeface="Arial"/>
              </a:rPr>
              <a:t>W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Putting</a:t>
            </a:r>
            <a:r>
              <a:rPr dirty="0" spc="-50"/>
              <a:t> </a:t>
            </a:r>
            <a:r>
              <a:rPr dirty="0"/>
              <a:t>It</a:t>
            </a:r>
            <a:r>
              <a:rPr dirty="0" spc="-55"/>
              <a:t> </a:t>
            </a:r>
            <a:r>
              <a:rPr dirty="0" spc="-20"/>
              <a:t>Together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0219" y="1378965"/>
            <a:ext cx="1009713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A</a:t>
            </a:r>
            <a:r>
              <a:rPr dirty="0" sz="1400" spc="-6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small</a:t>
            </a:r>
            <a:r>
              <a:rPr dirty="0" sz="14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program</a:t>
            </a:r>
            <a:r>
              <a:rPr dirty="0" sz="1400" spc="-5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that</a:t>
            </a:r>
            <a:r>
              <a:rPr dirty="0" sz="1400" spc="-4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classifies</a:t>
            </a:r>
            <a:r>
              <a:rPr dirty="0" sz="1400" spc="-5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a</a:t>
            </a:r>
            <a:r>
              <a:rPr dirty="0" sz="1400" spc="-2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list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of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customers</a:t>
            </a:r>
            <a:r>
              <a:rPr dirty="0" sz="1400" spc="-5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by</a:t>
            </a:r>
            <a:r>
              <a:rPr dirty="0" sz="14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their</a:t>
            </a:r>
            <a:r>
              <a:rPr dirty="0" sz="1400" spc="-4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spc="-10" i="1">
                <a:solidFill>
                  <a:srgbClr val="495468"/>
                </a:solidFill>
                <a:latin typeface="Arial"/>
                <a:cs typeface="Arial"/>
              </a:rPr>
              <a:t>TeleBirr</a:t>
            </a:r>
            <a:r>
              <a:rPr dirty="0" sz="14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balance</a:t>
            </a:r>
            <a:r>
              <a:rPr dirty="0" sz="1400" spc="-1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—</a:t>
            </a:r>
            <a:r>
              <a:rPr dirty="0" sz="1400" spc="-1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variables,</a:t>
            </a:r>
            <a:r>
              <a:rPr dirty="0" sz="1400" spc="-5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a</a:t>
            </a:r>
            <a:r>
              <a:rPr dirty="0" sz="1400" spc="-2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loop,</a:t>
            </a:r>
            <a:r>
              <a:rPr dirty="0" sz="1400" spc="-4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and</a:t>
            </a:r>
            <a:r>
              <a:rPr dirty="0" sz="14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conditionals</a:t>
            </a:r>
            <a:r>
              <a:rPr dirty="0" sz="1400" spc="-6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working</a:t>
            </a:r>
            <a:r>
              <a:rPr dirty="0" sz="14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as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spc="-20" i="1">
                <a:solidFill>
                  <a:srgbClr val="495468"/>
                </a:solidFill>
                <a:latin typeface="Arial"/>
                <a:cs typeface="Arial"/>
              </a:rPr>
              <a:t>one.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186" y="1783057"/>
            <a:ext cx="6796405" cy="4053204"/>
            <a:chOff x="457186" y="1783057"/>
            <a:chExt cx="6796405" cy="4053204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86" y="1783057"/>
              <a:ext cx="6796305" cy="40531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2920" y="1828800"/>
              <a:ext cx="6675120" cy="3931920"/>
            </a:xfrm>
            <a:custGeom>
              <a:avLst/>
              <a:gdLst/>
              <a:ahLst/>
              <a:cxnLst/>
              <a:rect l="l" t="t" r="r" b="b"/>
              <a:pathLst>
                <a:path w="6675120" h="3931920">
                  <a:moveTo>
                    <a:pt x="6629400" y="0"/>
                  </a:moveTo>
                  <a:lnTo>
                    <a:pt x="45732" y="0"/>
                  </a:lnTo>
                  <a:lnTo>
                    <a:pt x="27930" y="3589"/>
                  </a:lnTo>
                  <a:lnTo>
                    <a:pt x="13393" y="13382"/>
                  </a:lnTo>
                  <a:lnTo>
                    <a:pt x="3593" y="27914"/>
                  </a:lnTo>
                  <a:lnTo>
                    <a:pt x="0" y="45720"/>
                  </a:lnTo>
                  <a:lnTo>
                    <a:pt x="0" y="3886187"/>
                  </a:lnTo>
                  <a:lnTo>
                    <a:pt x="3593" y="3903989"/>
                  </a:lnTo>
                  <a:lnTo>
                    <a:pt x="13393" y="3918526"/>
                  </a:lnTo>
                  <a:lnTo>
                    <a:pt x="27930" y="3928326"/>
                  </a:lnTo>
                  <a:lnTo>
                    <a:pt x="45732" y="3931920"/>
                  </a:lnTo>
                  <a:lnTo>
                    <a:pt x="6629400" y="3931920"/>
                  </a:lnTo>
                  <a:lnTo>
                    <a:pt x="6647205" y="3928326"/>
                  </a:lnTo>
                  <a:lnTo>
                    <a:pt x="6661737" y="3918526"/>
                  </a:lnTo>
                  <a:lnTo>
                    <a:pt x="6671530" y="3903989"/>
                  </a:lnTo>
                  <a:lnTo>
                    <a:pt x="6675120" y="3886187"/>
                  </a:lnTo>
                  <a:lnTo>
                    <a:pt x="6675120" y="45720"/>
                  </a:lnTo>
                  <a:lnTo>
                    <a:pt x="6671530" y="27914"/>
                  </a:lnTo>
                  <a:lnTo>
                    <a:pt x="6661737" y="13382"/>
                  </a:lnTo>
                  <a:lnTo>
                    <a:pt x="6647205" y="3589"/>
                  </a:lnTo>
                  <a:lnTo>
                    <a:pt x="6629400" y="0"/>
                  </a:lnTo>
                  <a:close/>
                </a:path>
              </a:pathLst>
            </a:custGeom>
            <a:solidFill>
              <a:srgbClr val="1A23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654812" y="1916938"/>
            <a:ext cx="1711960" cy="94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customers</a:t>
            </a:r>
            <a:r>
              <a:rPr dirty="0" sz="1200" spc="-3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 spc="-50">
                <a:solidFill>
                  <a:srgbClr val="E6ECF3"/>
                </a:solidFill>
                <a:latin typeface="Consolas"/>
                <a:cs typeface="Consolas"/>
              </a:rPr>
              <a:t>[</a:t>
            </a:r>
            <a:endParaRPr sz="1200">
              <a:latin typeface="Consolas"/>
              <a:cs typeface="Consolas"/>
            </a:endParaRPr>
          </a:p>
          <a:p>
            <a:pPr marL="347345">
              <a:lnSpc>
                <a:spcPct val="100000"/>
              </a:lnSpc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("Almaz",</a:t>
            </a:r>
            <a:r>
              <a:rPr dirty="0" sz="1200" spc="-4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1500),</a:t>
            </a:r>
            <a:endParaRPr sz="1200">
              <a:latin typeface="Consolas"/>
              <a:cs typeface="Consolas"/>
            </a:endParaRPr>
          </a:p>
          <a:p>
            <a:pPr marL="347345">
              <a:lnSpc>
                <a:spcPct val="100000"/>
              </a:lnSpc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("Dawit",</a:t>
            </a:r>
            <a:r>
              <a:rPr dirty="0" sz="1200" spc="-4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700),</a:t>
            </a:r>
            <a:endParaRPr sz="1200">
              <a:latin typeface="Consolas"/>
              <a:cs typeface="Consolas"/>
            </a:endParaRPr>
          </a:p>
          <a:p>
            <a:pPr marL="347345">
              <a:lnSpc>
                <a:spcPct val="100000"/>
              </a:lnSpc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("Tigist",</a:t>
            </a:r>
            <a:r>
              <a:rPr dirty="0" sz="1200" spc="-5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200),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solidFill>
                  <a:srgbClr val="E6ECF3"/>
                </a:solidFill>
                <a:latin typeface="Consolas"/>
                <a:cs typeface="Consolas"/>
              </a:rPr>
              <a:t>]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4812" y="3014598"/>
            <a:ext cx="3735704" cy="1489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7345" marR="1108710" indent="-3352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for</a:t>
            </a:r>
            <a:r>
              <a:rPr dirty="0" sz="120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name,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balance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in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customers: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if</a:t>
            </a:r>
            <a:r>
              <a:rPr dirty="0" sz="1200" spc="-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balance</a:t>
            </a:r>
            <a:r>
              <a:rPr dirty="0" sz="120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&gt;= 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1000:</a:t>
            </a:r>
            <a:endParaRPr sz="1200">
              <a:latin typeface="Consolas"/>
              <a:cs typeface="Consolas"/>
            </a:endParaRPr>
          </a:p>
          <a:p>
            <a:pPr algn="r" marR="1697355">
              <a:lnSpc>
                <a:spcPct val="100000"/>
              </a:lnSpc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tier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0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"Premium"</a:t>
            </a:r>
            <a:endParaRPr sz="1200">
              <a:latin typeface="Consolas"/>
              <a:cs typeface="Consolas"/>
            </a:endParaRPr>
          </a:p>
          <a:p>
            <a:pPr algn="r" marR="1692275">
              <a:lnSpc>
                <a:spcPct val="100000"/>
              </a:lnSpc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elif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balance</a:t>
            </a:r>
            <a:r>
              <a:rPr dirty="0" sz="1200" spc="-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&gt;=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 500:</a:t>
            </a:r>
            <a:endParaRPr sz="1200">
              <a:latin typeface="Consolas"/>
              <a:cs typeface="Consolas"/>
            </a:endParaRPr>
          </a:p>
          <a:p>
            <a:pPr marL="347345" marR="1613535" indent="336550">
              <a:lnSpc>
                <a:spcPct val="100000"/>
              </a:lnSpc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tier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0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"Standard" else:</a:t>
            </a:r>
            <a:endParaRPr sz="1200">
              <a:latin typeface="Consolas"/>
              <a:cs typeface="Consolas"/>
            </a:endParaRPr>
          </a:p>
          <a:p>
            <a:pPr marL="684530">
              <a:lnSpc>
                <a:spcPct val="100000"/>
              </a:lnSpc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tier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0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"Basic"</a:t>
            </a:r>
            <a:endParaRPr sz="1200">
              <a:latin typeface="Consolas"/>
              <a:cs typeface="Consolas"/>
            </a:endParaRPr>
          </a:p>
          <a:p>
            <a:pPr marL="347345">
              <a:lnSpc>
                <a:spcPct val="100000"/>
              </a:lnSpc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print(f"{name}:</a:t>
            </a:r>
            <a:r>
              <a:rPr dirty="0" sz="1200" spc="-4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{tier}</a:t>
            </a:r>
            <a:r>
              <a:rPr dirty="0" sz="1200" spc="-3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({balance}</a:t>
            </a:r>
            <a:r>
              <a:rPr dirty="0" sz="1200" spc="-3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ETB)")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283173" y="1796626"/>
            <a:ext cx="4467860" cy="1799589"/>
            <a:chOff x="7283173" y="1796626"/>
            <a:chExt cx="4467860" cy="1799589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83173" y="1796626"/>
              <a:ext cx="4467652" cy="179933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315200" y="1828799"/>
              <a:ext cx="4373880" cy="1691639"/>
            </a:xfrm>
            <a:custGeom>
              <a:avLst/>
              <a:gdLst/>
              <a:ahLst/>
              <a:cxnLst/>
              <a:rect l="l" t="t" r="r" b="b"/>
              <a:pathLst>
                <a:path w="4373880" h="1691639">
                  <a:moveTo>
                    <a:pt x="430047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618488"/>
                  </a:lnTo>
                  <a:lnTo>
                    <a:pt x="5750" y="1646955"/>
                  </a:lnTo>
                  <a:lnTo>
                    <a:pt x="21431" y="1670208"/>
                  </a:lnTo>
                  <a:lnTo>
                    <a:pt x="44684" y="1685889"/>
                  </a:lnTo>
                  <a:lnTo>
                    <a:pt x="73151" y="1691639"/>
                  </a:lnTo>
                  <a:lnTo>
                    <a:pt x="4300474" y="1691639"/>
                  </a:lnTo>
                  <a:lnTo>
                    <a:pt x="4328941" y="1685889"/>
                  </a:lnTo>
                  <a:lnTo>
                    <a:pt x="4352194" y="1670208"/>
                  </a:lnTo>
                  <a:lnTo>
                    <a:pt x="4367875" y="1646955"/>
                  </a:lnTo>
                  <a:lnTo>
                    <a:pt x="4373626" y="1618488"/>
                  </a:lnTo>
                  <a:lnTo>
                    <a:pt x="4373626" y="73151"/>
                  </a:lnTo>
                  <a:lnTo>
                    <a:pt x="4367875" y="44684"/>
                  </a:lnTo>
                  <a:lnTo>
                    <a:pt x="4352194" y="21431"/>
                  </a:lnTo>
                  <a:lnTo>
                    <a:pt x="4328941" y="5750"/>
                  </a:lnTo>
                  <a:lnTo>
                    <a:pt x="4300474" y="0"/>
                  </a:lnTo>
                  <a:close/>
                </a:path>
              </a:pathLst>
            </a:custGeom>
            <a:solidFill>
              <a:srgbClr val="1A23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7531989" y="1979422"/>
            <a:ext cx="4464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6D8FB8"/>
                </a:solidFill>
                <a:latin typeface="Consolas"/>
                <a:cs typeface="Consolas"/>
              </a:rPr>
              <a:t>Output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31989" y="2205963"/>
            <a:ext cx="1930400" cy="629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1100">
                <a:solidFill>
                  <a:srgbClr val="5EEAD3"/>
                </a:solidFill>
                <a:latin typeface="Consolas"/>
                <a:cs typeface="Consolas"/>
              </a:rPr>
              <a:t>Almaz:</a:t>
            </a:r>
            <a:r>
              <a:rPr dirty="0" sz="1100" spc="-30">
                <a:solidFill>
                  <a:srgbClr val="5EEAD3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5EEAD3"/>
                </a:solidFill>
                <a:latin typeface="Consolas"/>
                <a:cs typeface="Consolas"/>
              </a:rPr>
              <a:t>Premium</a:t>
            </a:r>
            <a:r>
              <a:rPr dirty="0" sz="1100" spc="-30">
                <a:solidFill>
                  <a:srgbClr val="5EEAD3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5EEAD3"/>
                </a:solidFill>
                <a:latin typeface="Consolas"/>
                <a:cs typeface="Consolas"/>
              </a:rPr>
              <a:t>(1500</a:t>
            </a:r>
            <a:r>
              <a:rPr dirty="0" sz="1100" spc="-30">
                <a:solidFill>
                  <a:srgbClr val="5EEAD3"/>
                </a:solidFill>
                <a:latin typeface="Consolas"/>
                <a:cs typeface="Consolas"/>
              </a:rPr>
              <a:t> </a:t>
            </a:r>
            <a:r>
              <a:rPr dirty="0" sz="1100" spc="-20">
                <a:solidFill>
                  <a:srgbClr val="5EEAD3"/>
                </a:solidFill>
                <a:latin typeface="Consolas"/>
                <a:cs typeface="Consolas"/>
              </a:rPr>
              <a:t>ETB) </a:t>
            </a:r>
            <a:r>
              <a:rPr dirty="0" sz="1100">
                <a:solidFill>
                  <a:srgbClr val="5EEAD3"/>
                </a:solidFill>
                <a:latin typeface="Consolas"/>
                <a:cs typeface="Consolas"/>
              </a:rPr>
              <a:t>Dawit:</a:t>
            </a:r>
            <a:r>
              <a:rPr dirty="0" sz="1100" spc="-30">
                <a:solidFill>
                  <a:srgbClr val="5EEAD3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5EEAD3"/>
                </a:solidFill>
                <a:latin typeface="Consolas"/>
                <a:cs typeface="Consolas"/>
              </a:rPr>
              <a:t>Standard</a:t>
            </a:r>
            <a:r>
              <a:rPr dirty="0" sz="1100" spc="-30">
                <a:solidFill>
                  <a:srgbClr val="5EEAD3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5EEAD3"/>
                </a:solidFill>
                <a:latin typeface="Consolas"/>
                <a:cs typeface="Consolas"/>
              </a:rPr>
              <a:t>(700</a:t>
            </a:r>
            <a:r>
              <a:rPr dirty="0" sz="1100" spc="-30">
                <a:solidFill>
                  <a:srgbClr val="5EEAD3"/>
                </a:solidFill>
                <a:latin typeface="Consolas"/>
                <a:cs typeface="Consolas"/>
              </a:rPr>
              <a:t> </a:t>
            </a:r>
            <a:r>
              <a:rPr dirty="0" sz="1100" spc="-20">
                <a:solidFill>
                  <a:srgbClr val="5EEAD3"/>
                </a:solidFill>
                <a:latin typeface="Consolas"/>
                <a:cs typeface="Consolas"/>
              </a:rPr>
              <a:t>ETB) </a:t>
            </a:r>
            <a:r>
              <a:rPr dirty="0" sz="1100">
                <a:solidFill>
                  <a:srgbClr val="5EEAD3"/>
                </a:solidFill>
                <a:latin typeface="Consolas"/>
                <a:cs typeface="Consolas"/>
              </a:rPr>
              <a:t>Tigist:</a:t>
            </a:r>
            <a:r>
              <a:rPr dirty="0" sz="1100" spc="-30">
                <a:solidFill>
                  <a:srgbClr val="5EEAD3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5EEAD3"/>
                </a:solidFill>
                <a:latin typeface="Consolas"/>
                <a:cs typeface="Consolas"/>
              </a:rPr>
              <a:t>Basic</a:t>
            </a:r>
            <a:r>
              <a:rPr dirty="0" sz="1100" spc="-25">
                <a:solidFill>
                  <a:srgbClr val="5EEAD3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5EEAD3"/>
                </a:solidFill>
                <a:latin typeface="Consolas"/>
                <a:cs typeface="Consolas"/>
              </a:rPr>
              <a:t>(200</a:t>
            </a:r>
            <a:r>
              <a:rPr dirty="0" sz="1100" spc="-25">
                <a:solidFill>
                  <a:srgbClr val="5EEAD3"/>
                </a:solidFill>
                <a:latin typeface="Consolas"/>
                <a:cs typeface="Consolas"/>
              </a:rPr>
              <a:t> </a:t>
            </a:r>
            <a:r>
              <a:rPr dirty="0" sz="1100" spc="-20">
                <a:solidFill>
                  <a:srgbClr val="5EEAD3"/>
                </a:solidFill>
                <a:latin typeface="Consolas"/>
                <a:cs typeface="Consolas"/>
              </a:rPr>
              <a:t>ETB)</a:t>
            </a:r>
            <a:endParaRPr sz="1100">
              <a:latin typeface="Consolas"/>
              <a:cs typeface="Consola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283173" y="3625470"/>
            <a:ext cx="4467860" cy="2211070"/>
            <a:chOff x="7283173" y="3625470"/>
            <a:chExt cx="4467860" cy="221107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83173" y="3625470"/>
              <a:ext cx="4467652" cy="221076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315200" y="3657600"/>
              <a:ext cx="4373880" cy="2103120"/>
            </a:xfrm>
            <a:custGeom>
              <a:avLst/>
              <a:gdLst/>
              <a:ahLst/>
              <a:cxnLst/>
              <a:rect l="l" t="t" r="r" b="b"/>
              <a:pathLst>
                <a:path w="4373880" h="2103120">
                  <a:moveTo>
                    <a:pt x="430047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2029968"/>
                  </a:lnTo>
                  <a:lnTo>
                    <a:pt x="5750" y="2058441"/>
                  </a:lnTo>
                  <a:lnTo>
                    <a:pt x="21431" y="2081693"/>
                  </a:lnTo>
                  <a:lnTo>
                    <a:pt x="44684" y="2097371"/>
                  </a:lnTo>
                  <a:lnTo>
                    <a:pt x="73151" y="2103120"/>
                  </a:lnTo>
                  <a:lnTo>
                    <a:pt x="4300474" y="2103120"/>
                  </a:lnTo>
                  <a:lnTo>
                    <a:pt x="4328941" y="2097371"/>
                  </a:lnTo>
                  <a:lnTo>
                    <a:pt x="4352194" y="2081693"/>
                  </a:lnTo>
                  <a:lnTo>
                    <a:pt x="4367875" y="2058441"/>
                  </a:lnTo>
                  <a:lnTo>
                    <a:pt x="4373626" y="2029968"/>
                  </a:lnTo>
                  <a:lnTo>
                    <a:pt x="4373626" y="73151"/>
                  </a:lnTo>
                  <a:lnTo>
                    <a:pt x="4367875" y="44684"/>
                  </a:lnTo>
                  <a:lnTo>
                    <a:pt x="4352194" y="21431"/>
                  </a:lnTo>
                  <a:lnTo>
                    <a:pt x="4328941" y="5750"/>
                  </a:lnTo>
                  <a:lnTo>
                    <a:pt x="4300474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7531989" y="3730413"/>
            <a:ext cx="2349500" cy="1082675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1300" b="1">
                <a:solidFill>
                  <a:srgbClr val="091F3C"/>
                </a:solidFill>
                <a:latin typeface="Arial"/>
                <a:cs typeface="Arial"/>
              </a:rPr>
              <a:t>What's</a:t>
            </a:r>
            <a:r>
              <a:rPr dirty="0" sz="1300" spc="-2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091F3C"/>
                </a:solidFill>
                <a:latin typeface="Arial"/>
                <a:cs typeface="Arial"/>
              </a:rPr>
              <a:t>happening</a:t>
            </a:r>
            <a:endParaRPr sz="1300">
              <a:latin typeface="Arial"/>
              <a:cs typeface="Arial"/>
            </a:endParaRPr>
          </a:p>
          <a:p>
            <a:pPr marL="153035" indent="-140335">
              <a:lnSpc>
                <a:spcPct val="100000"/>
              </a:lnSpc>
              <a:spcBef>
                <a:spcPts val="760"/>
              </a:spcBef>
              <a:buChar char="•"/>
              <a:tabLst>
                <a:tab pos="153035" algn="l"/>
              </a:tabLst>
            </a:pP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20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for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loop</a:t>
            </a:r>
            <a:r>
              <a:rPr dirty="0" sz="12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visits each</a:t>
            </a:r>
            <a:r>
              <a:rPr dirty="0" sz="12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customer</a:t>
            </a:r>
            <a:endParaRPr sz="1200">
              <a:latin typeface="Arial MT"/>
              <a:cs typeface="Arial MT"/>
            </a:endParaRPr>
          </a:p>
          <a:p>
            <a:pPr marL="153035" indent="-140335">
              <a:lnSpc>
                <a:spcPct val="100000"/>
              </a:lnSpc>
              <a:spcBef>
                <a:spcPts val="434"/>
              </a:spcBef>
              <a:buChar char="•"/>
              <a:tabLst>
                <a:tab pos="153035" algn="l"/>
              </a:tabLst>
            </a:pP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if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/</a:t>
            </a:r>
            <a:r>
              <a:rPr dirty="0" sz="1200" spc="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elif</a:t>
            </a:r>
            <a:r>
              <a:rPr dirty="0" sz="120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/</a:t>
            </a:r>
            <a:r>
              <a:rPr dirty="0" sz="120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else</a:t>
            </a:r>
            <a:r>
              <a:rPr dirty="0" sz="120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picks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a</a:t>
            </a:r>
            <a:r>
              <a:rPr dirty="0" sz="120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tier</a:t>
            </a:r>
            <a:endParaRPr sz="1200">
              <a:latin typeface="Arial MT"/>
              <a:cs typeface="Arial MT"/>
            </a:endParaRPr>
          </a:p>
          <a:p>
            <a:pPr marL="153035" indent="-140335">
              <a:lnSpc>
                <a:spcPct val="100000"/>
              </a:lnSpc>
              <a:spcBef>
                <a:spcPts val="430"/>
              </a:spcBef>
              <a:buChar char="•"/>
              <a:tabLst>
                <a:tab pos="153035" algn="l"/>
              </a:tabLst>
            </a:pP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2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f-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string</a:t>
            </a:r>
            <a:r>
              <a:rPr dirty="0" sz="120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builds</a:t>
            </a:r>
            <a:r>
              <a:rPr dirty="0" sz="1200" spc="-4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20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output</a:t>
            </a:r>
            <a:r>
              <a:rPr dirty="0" sz="1200" spc="-4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line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Property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IBT</a:t>
            </a:r>
            <a:r>
              <a:rPr dirty="0" spc="-35"/>
              <a:t> </a:t>
            </a:r>
            <a:r>
              <a:rPr dirty="0"/>
              <a:t>College</a:t>
            </a:r>
            <a:r>
              <a:rPr dirty="0" spc="-15"/>
              <a:t> </a:t>
            </a:r>
            <a:r>
              <a:rPr dirty="0" spc="-10"/>
              <a:t>Canada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17</a:t>
            </a:fld>
            <a:r>
              <a:rPr dirty="0"/>
              <a:t> /</a:t>
            </a:r>
            <a:r>
              <a:rPr dirty="0" spc="-10"/>
              <a:t> </a:t>
            </a:r>
            <a:r>
              <a:rPr dirty="0" spc="-25"/>
              <a:t>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838055" y="1862454"/>
            <a:ext cx="1960880" cy="2738755"/>
          </a:xfrm>
          <a:custGeom>
            <a:avLst/>
            <a:gdLst/>
            <a:ahLst/>
            <a:cxnLst/>
            <a:rect l="l" t="t" r="r" b="b"/>
            <a:pathLst>
              <a:path w="1960879" h="2738754">
                <a:moveTo>
                  <a:pt x="1622171" y="2189734"/>
                </a:moveTo>
                <a:lnTo>
                  <a:pt x="1116202" y="2189734"/>
                </a:lnTo>
                <a:lnTo>
                  <a:pt x="1116202" y="2738501"/>
                </a:lnTo>
                <a:lnTo>
                  <a:pt x="1622171" y="2738501"/>
                </a:lnTo>
                <a:lnTo>
                  <a:pt x="1622171" y="2189734"/>
                </a:lnTo>
                <a:close/>
              </a:path>
              <a:path w="1960879" h="2738754">
                <a:moveTo>
                  <a:pt x="1622171" y="0"/>
                </a:moveTo>
                <a:lnTo>
                  <a:pt x="1183131" y="0"/>
                </a:lnTo>
                <a:lnTo>
                  <a:pt x="0" y="1732026"/>
                </a:lnTo>
                <a:lnTo>
                  <a:pt x="0" y="2189734"/>
                </a:lnTo>
                <a:lnTo>
                  <a:pt x="1960752" y="2189734"/>
                </a:lnTo>
                <a:lnTo>
                  <a:pt x="1960752" y="1730248"/>
                </a:lnTo>
                <a:lnTo>
                  <a:pt x="489203" y="1730248"/>
                </a:lnTo>
                <a:lnTo>
                  <a:pt x="1116202" y="798195"/>
                </a:lnTo>
                <a:lnTo>
                  <a:pt x="1622171" y="798195"/>
                </a:lnTo>
                <a:lnTo>
                  <a:pt x="1622171" y="0"/>
                </a:lnTo>
                <a:close/>
              </a:path>
              <a:path w="1960879" h="2738754">
                <a:moveTo>
                  <a:pt x="1622171" y="798195"/>
                </a:moveTo>
                <a:lnTo>
                  <a:pt x="1116202" y="798195"/>
                </a:lnTo>
                <a:lnTo>
                  <a:pt x="1116202" y="1730248"/>
                </a:lnTo>
                <a:lnTo>
                  <a:pt x="1622171" y="1730248"/>
                </a:lnTo>
                <a:lnTo>
                  <a:pt x="1622171" y="798195"/>
                </a:lnTo>
                <a:close/>
              </a:path>
            </a:pathLst>
          </a:custGeom>
          <a:solidFill>
            <a:srgbClr val="4F46E4">
              <a:alpha val="3803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81659" y="2385187"/>
            <a:ext cx="178625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E4B546"/>
                </a:solidFill>
                <a:latin typeface="Arial"/>
                <a:cs typeface="Arial"/>
              </a:rPr>
              <a:t>S</a:t>
            </a:r>
            <a:r>
              <a:rPr dirty="0" sz="1400" spc="-95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E4B546"/>
                </a:solidFill>
                <a:latin typeface="Arial"/>
                <a:cs typeface="Arial"/>
              </a:rPr>
              <a:t>E</a:t>
            </a:r>
            <a:r>
              <a:rPr dirty="0" sz="1400" spc="-95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4B546"/>
                </a:solidFill>
                <a:latin typeface="Arial"/>
                <a:cs typeface="Arial"/>
              </a:rPr>
              <a:t>C</a:t>
            </a:r>
            <a:r>
              <a:rPr dirty="0" sz="1400" spc="-100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4B546"/>
                </a:solidFill>
                <a:latin typeface="Arial"/>
                <a:cs typeface="Arial"/>
              </a:rPr>
              <a:t>T</a:t>
            </a:r>
            <a:r>
              <a:rPr dirty="0" sz="1400" spc="-100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4B546"/>
                </a:solidFill>
                <a:latin typeface="Arial"/>
                <a:cs typeface="Arial"/>
              </a:rPr>
              <a:t>I</a:t>
            </a:r>
            <a:r>
              <a:rPr dirty="0" sz="1400" spc="-85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4B546"/>
                </a:solidFill>
                <a:latin typeface="Arial"/>
                <a:cs typeface="Arial"/>
              </a:rPr>
              <a:t>O</a:t>
            </a:r>
            <a:r>
              <a:rPr dirty="0" sz="1400" spc="-95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4B546"/>
                </a:solidFill>
                <a:latin typeface="Arial"/>
                <a:cs typeface="Arial"/>
              </a:rPr>
              <a:t>N</a:t>
            </a:r>
            <a:r>
              <a:rPr dirty="0" sz="1400" spc="95" b="1">
                <a:solidFill>
                  <a:srgbClr val="E4B546"/>
                </a:solidFill>
                <a:latin typeface="Arial"/>
                <a:cs typeface="Arial"/>
              </a:rPr>
              <a:t>  </a:t>
            </a:r>
            <a:r>
              <a:rPr dirty="0" sz="1400" b="1">
                <a:solidFill>
                  <a:srgbClr val="E4B546"/>
                </a:solidFill>
                <a:latin typeface="Arial"/>
                <a:cs typeface="Arial"/>
              </a:rPr>
              <a:t>F</a:t>
            </a:r>
            <a:r>
              <a:rPr dirty="0" sz="1400" spc="-100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4B546"/>
                </a:solidFill>
                <a:latin typeface="Arial"/>
                <a:cs typeface="Arial"/>
              </a:rPr>
              <a:t>O</a:t>
            </a:r>
            <a:r>
              <a:rPr dirty="0" sz="1400" spc="-95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4B546"/>
                </a:solidFill>
                <a:latin typeface="Arial"/>
                <a:cs typeface="Arial"/>
              </a:rPr>
              <a:t>U</a:t>
            </a:r>
            <a:r>
              <a:rPr dirty="0" sz="1400" spc="-100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spc="-50" b="1">
                <a:solidFill>
                  <a:srgbClr val="E4B546"/>
                </a:solidFill>
                <a:latin typeface="Arial"/>
                <a:cs typeface="Arial"/>
              </a:rPr>
              <a:t>R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FFFFF"/>
                </a:solidFill>
              </a:rPr>
              <a:t>Functions</a:t>
            </a:r>
            <a:r>
              <a:rPr dirty="0" sz="4000" spc="-105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&amp;</a:t>
            </a:r>
            <a:r>
              <a:rPr dirty="0" sz="4000" spc="-85">
                <a:solidFill>
                  <a:srgbClr val="FFFFFF"/>
                </a:solidFill>
              </a:rPr>
              <a:t> </a:t>
            </a:r>
            <a:r>
              <a:rPr dirty="0" sz="4000" spc="-10">
                <a:solidFill>
                  <a:srgbClr val="FFFFFF"/>
                </a:solidFill>
              </a:rPr>
              <a:t>Scope</a:t>
            </a:r>
            <a:endParaRPr sz="4000"/>
          </a:p>
        </p:txBody>
      </p:sp>
      <p:sp>
        <p:nvSpPr>
          <p:cNvPr id="5" name="object 5"/>
          <p:cNvSpPr txBox="1"/>
          <p:nvPr/>
        </p:nvSpPr>
        <p:spPr>
          <a:xfrm>
            <a:off x="599948" y="4098417"/>
            <a:ext cx="6259830" cy="476884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200"/>
              </a:spcBef>
            </a:pP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Packaging</a:t>
            </a:r>
            <a:r>
              <a:rPr dirty="0" sz="1500" spc="-40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code</a:t>
            </a:r>
            <a:r>
              <a:rPr dirty="0" sz="1500" spc="-40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into</a:t>
            </a:r>
            <a:r>
              <a:rPr dirty="0" sz="1500" spc="-30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reusable,</a:t>
            </a:r>
            <a:r>
              <a:rPr dirty="0" sz="1500" spc="-50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named</a:t>
            </a:r>
            <a:r>
              <a:rPr dirty="0" sz="1500" spc="-3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blocks</a:t>
            </a:r>
            <a:r>
              <a:rPr dirty="0" sz="1500" spc="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—</a:t>
            </a:r>
            <a:r>
              <a:rPr dirty="0" sz="1500" spc="-30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and</a:t>
            </a:r>
            <a:r>
              <a:rPr dirty="0" sz="1500" spc="-2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6D8FB8"/>
                </a:solidFill>
                <a:latin typeface="Arial MT"/>
                <a:cs typeface="Arial MT"/>
              </a:rPr>
              <a:t>understanding</a:t>
            </a:r>
            <a:r>
              <a:rPr dirty="0" sz="1500" spc="-6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6D8FB8"/>
                </a:solidFill>
                <a:latin typeface="Arial MT"/>
                <a:cs typeface="Arial MT"/>
              </a:rPr>
              <a:t>where </a:t>
            </a:r>
            <a:r>
              <a:rPr dirty="0" sz="1500">
                <a:solidFill>
                  <a:srgbClr val="6D8FB8"/>
                </a:solidFill>
                <a:latin typeface="Arial MT"/>
                <a:cs typeface="Arial MT"/>
              </a:rPr>
              <a:t>variables</a:t>
            </a:r>
            <a:r>
              <a:rPr dirty="0" sz="1500" spc="-75">
                <a:solidFill>
                  <a:srgbClr val="6D8FB8"/>
                </a:solidFill>
                <a:latin typeface="Arial MT"/>
                <a:cs typeface="Arial MT"/>
              </a:rPr>
              <a:t> </a:t>
            </a:r>
            <a:r>
              <a:rPr dirty="0" sz="1500" spc="-20">
                <a:solidFill>
                  <a:srgbClr val="6D8FB8"/>
                </a:solidFill>
                <a:latin typeface="Arial MT"/>
                <a:cs typeface="Arial MT"/>
              </a:rPr>
              <a:t>live.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6" name="object 6" descr="/home/claude/decks/assets/ibt_logo_trim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359" y="5989320"/>
            <a:ext cx="528726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343915"/>
            <a:ext cx="30810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C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14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I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38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4</a:t>
            </a:r>
            <a:r>
              <a:rPr dirty="0" sz="1100" spc="38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·</a:t>
            </a:r>
            <a:r>
              <a:rPr dirty="0" sz="1100" spc="39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F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U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C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14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I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38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&amp;</a:t>
            </a:r>
            <a:r>
              <a:rPr dirty="0" sz="1100" spc="39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C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P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Defining</a:t>
            </a:r>
            <a:r>
              <a:rPr dirty="0" spc="-65"/>
              <a:t> </a:t>
            </a:r>
            <a:r>
              <a:rPr dirty="0"/>
              <a:t>&amp;</a:t>
            </a:r>
            <a:r>
              <a:rPr dirty="0" spc="-80"/>
              <a:t> </a:t>
            </a:r>
            <a:r>
              <a:rPr dirty="0"/>
              <a:t>Calling</a:t>
            </a:r>
            <a:r>
              <a:rPr dirty="0" spc="-60"/>
              <a:t> </a:t>
            </a:r>
            <a:r>
              <a:rPr dirty="0" spc="-10"/>
              <a:t>Functions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0219" y="1378965"/>
            <a:ext cx="846264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A</a:t>
            </a:r>
            <a:r>
              <a:rPr dirty="0" sz="1400" spc="-6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function</a:t>
            </a:r>
            <a:r>
              <a:rPr dirty="0" sz="1400" spc="-5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is</a:t>
            </a:r>
            <a:r>
              <a:rPr dirty="0" sz="1400" spc="-2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a</a:t>
            </a:r>
            <a:r>
              <a:rPr dirty="0" sz="1400" spc="-1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named,</a:t>
            </a:r>
            <a:r>
              <a:rPr dirty="0" sz="14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reusable</a:t>
            </a:r>
            <a:r>
              <a:rPr dirty="0" sz="1400" spc="-5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block</a:t>
            </a:r>
            <a:r>
              <a:rPr dirty="0" sz="14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of</a:t>
            </a:r>
            <a:r>
              <a:rPr dirty="0" sz="1400" spc="-2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code.</a:t>
            </a:r>
            <a:r>
              <a:rPr dirty="0" sz="14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Define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it</a:t>
            </a:r>
            <a:r>
              <a:rPr dirty="0" sz="1400" spc="-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once</a:t>
            </a:r>
            <a:r>
              <a:rPr dirty="0" sz="14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with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def,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then</a:t>
            </a:r>
            <a:r>
              <a:rPr dirty="0" sz="1400" spc="-4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call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it</a:t>
            </a:r>
            <a:r>
              <a:rPr dirty="0" sz="1400" spc="-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as</a:t>
            </a:r>
            <a:r>
              <a:rPr dirty="0" sz="1400" spc="-2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many</a:t>
            </a:r>
            <a:r>
              <a:rPr dirty="0" sz="1400" spc="-2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times</a:t>
            </a:r>
            <a:r>
              <a:rPr dirty="0" sz="14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as</a:t>
            </a:r>
            <a:r>
              <a:rPr dirty="0" sz="1400" spc="-2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you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spc="-10" i="1">
                <a:solidFill>
                  <a:srgbClr val="495468"/>
                </a:solidFill>
                <a:latin typeface="Arial"/>
                <a:cs typeface="Arial"/>
              </a:rPr>
              <a:t>like.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174" y="1783070"/>
            <a:ext cx="6064885" cy="3138805"/>
            <a:chOff x="457174" y="1783070"/>
            <a:chExt cx="6064885" cy="313880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74" y="1783070"/>
              <a:ext cx="6064809" cy="313869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2920" y="1828799"/>
              <a:ext cx="5943600" cy="3017520"/>
            </a:xfrm>
            <a:custGeom>
              <a:avLst/>
              <a:gdLst/>
              <a:ahLst/>
              <a:cxnLst/>
              <a:rect l="l" t="t" r="r" b="b"/>
              <a:pathLst>
                <a:path w="5943600" h="3017520">
                  <a:moveTo>
                    <a:pt x="5897880" y="0"/>
                  </a:moveTo>
                  <a:lnTo>
                    <a:pt x="45720" y="0"/>
                  </a:ln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20"/>
                  </a:lnTo>
                  <a:lnTo>
                    <a:pt x="0" y="2971800"/>
                  </a:lnTo>
                  <a:lnTo>
                    <a:pt x="3593" y="2989605"/>
                  </a:lnTo>
                  <a:lnTo>
                    <a:pt x="13392" y="3004137"/>
                  </a:lnTo>
                  <a:lnTo>
                    <a:pt x="27924" y="3013930"/>
                  </a:lnTo>
                  <a:lnTo>
                    <a:pt x="45720" y="3017520"/>
                  </a:lnTo>
                  <a:lnTo>
                    <a:pt x="5897880" y="3017520"/>
                  </a:lnTo>
                  <a:lnTo>
                    <a:pt x="5915685" y="3013930"/>
                  </a:lnTo>
                  <a:lnTo>
                    <a:pt x="5930217" y="3004137"/>
                  </a:lnTo>
                  <a:lnTo>
                    <a:pt x="5940010" y="2989605"/>
                  </a:lnTo>
                  <a:lnTo>
                    <a:pt x="5943600" y="2971800"/>
                  </a:lnTo>
                  <a:lnTo>
                    <a:pt x="5943600" y="45720"/>
                  </a:lnTo>
                  <a:lnTo>
                    <a:pt x="5940010" y="27914"/>
                  </a:lnTo>
                  <a:lnTo>
                    <a:pt x="5930217" y="13382"/>
                  </a:lnTo>
                  <a:lnTo>
                    <a:pt x="5915685" y="3589"/>
                  </a:lnTo>
                  <a:lnTo>
                    <a:pt x="5897880" y="0"/>
                  </a:lnTo>
                  <a:close/>
                </a:path>
              </a:pathLst>
            </a:custGeom>
            <a:solidFill>
              <a:srgbClr val="1A23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654812" y="1916938"/>
            <a:ext cx="2475230" cy="5975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#</a:t>
            </a:r>
            <a:r>
              <a:rPr dirty="0" sz="1250" spc="-4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Define</a:t>
            </a:r>
            <a:r>
              <a:rPr dirty="0" sz="1250" spc="-20">
                <a:solidFill>
                  <a:srgbClr val="E6ECF3"/>
                </a:solidFill>
                <a:latin typeface="Consolas"/>
                <a:cs typeface="Consolas"/>
              </a:rPr>
              <a:t> once</a:t>
            </a:r>
            <a:endParaRPr sz="12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def</a:t>
            </a:r>
            <a:r>
              <a:rPr dirty="0" sz="1250" spc="-4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greet(name):</a:t>
            </a:r>
            <a:endParaRPr sz="1250">
              <a:latin typeface="Consolas"/>
              <a:cs typeface="Consolas"/>
            </a:endParaRPr>
          </a:p>
          <a:p>
            <a:pPr marL="360045">
              <a:lnSpc>
                <a:spcPct val="100000"/>
              </a:lnSpc>
              <a:spcBef>
                <a:spcPts val="5"/>
              </a:spcBef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print(f"Selam,</a:t>
            </a:r>
            <a:r>
              <a:rPr dirty="0" sz="1250" spc="-5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{name}!")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25665" y="2869819"/>
            <a:ext cx="133413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#</a:t>
            </a:r>
            <a:r>
              <a:rPr dirty="0" sz="1250" spc="-3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Selam,</a:t>
            </a:r>
            <a:r>
              <a:rPr dirty="0" sz="1250" spc="-3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Almaz!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4812" y="2679319"/>
            <a:ext cx="1508760" cy="596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#</a:t>
            </a:r>
            <a:r>
              <a:rPr dirty="0" sz="1250" spc="-3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Call</a:t>
            </a:r>
            <a:r>
              <a:rPr dirty="0" sz="1250" spc="-3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many</a:t>
            </a:r>
            <a:r>
              <a:rPr dirty="0" sz="125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20">
                <a:solidFill>
                  <a:srgbClr val="E6ECF3"/>
                </a:solidFill>
                <a:latin typeface="Consolas"/>
                <a:cs typeface="Consolas"/>
              </a:rPr>
              <a:t>times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greet("Almaz") greet("Dawit")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25665" y="3060319"/>
            <a:ext cx="133413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#</a:t>
            </a:r>
            <a:r>
              <a:rPr dirty="0" sz="1250" spc="-3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E6ECF3"/>
                </a:solidFill>
                <a:latin typeface="Consolas"/>
                <a:cs typeface="Consolas"/>
              </a:rPr>
              <a:t>Selam,</a:t>
            </a:r>
            <a:r>
              <a:rPr dirty="0" sz="1250" spc="-3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E6ECF3"/>
                </a:solidFill>
                <a:latin typeface="Consolas"/>
                <a:cs typeface="Consolas"/>
              </a:rPr>
              <a:t>Dawit!</a:t>
            </a:r>
            <a:endParaRPr sz="1250">
              <a:latin typeface="Consolas"/>
              <a:cs typeface="Consola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643071" y="1796620"/>
            <a:ext cx="5107940" cy="1022350"/>
            <a:chOff x="6643071" y="1796620"/>
            <a:chExt cx="5107940" cy="102235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43071" y="1796620"/>
              <a:ext cx="5107774" cy="102210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675119" y="1828800"/>
              <a:ext cx="5013960" cy="914400"/>
            </a:xfrm>
            <a:custGeom>
              <a:avLst/>
              <a:gdLst/>
              <a:ahLst/>
              <a:cxnLst/>
              <a:rect l="l" t="t" r="r" b="b"/>
              <a:pathLst>
                <a:path w="5013959" h="914400">
                  <a:moveTo>
                    <a:pt x="494055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841248"/>
                  </a:lnTo>
                  <a:lnTo>
                    <a:pt x="5750" y="869715"/>
                  </a:lnTo>
                  <a:lnTo>
                    <a:pt x="21431" y="892968"/>
                  </a:lnTo>
                  <a:lnTo>
                    <a:pt x="44684" y="908649"/>
                  </a:lnTo>
                  <a:lnTo>
                    <a:pt x="73151" y="914400"/>
                  </a:lnTo>
                  <a:lnTo>
                    <a:pt x="4940554" y="914400"/>
                  </a:lnTo>
                  <a:lnTo>
                    <a:pt x="4969021" y="908649"/>
                  </a:lnTo>
                  <a:lnTo>
                    <a:pt x="4992274" y="892968"/>
                  </a:lnTo>
                  <a:lnTo>
                    <a:pt x="5007955" y="869715"/>
                  </a:lnTo>
                  <a:lnTo>
                    <a:pt x="5013706" y="841248"/>
                  </a:lnTo>
                  <a:lnTo>
                    <a:pt x="5013706" y="73151"/>
                  </a:lnTo>
                  <a:lnTo>
                    <a:pt x="5007955" y="44684"/>
                  </a:lnTo>
                  <a:lnTo>
                    <a:pt x="4992274" y="21431"/>
                  </a:lnTo>
                  <a:lnTo>
                    <a:pt x="4969021" y="5750"/>
                  </a:lnTo>
                  <a:lnTo>
                    <a:pt x="4940554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846189" y="2158746"/>
            <a:ext cx="30797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25" b="1">
                <a:solidFill>
                  <a:srgbClr val="2D5C99"/>
                </a:solidFill>
                <a:latin typeface="Consolas"/>
                <a:cs typeface="Consolas"/>
              </a:rPr>
              <a:t>def</a:t>
            </a:r>
            <a:endParaRPr sz="135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46769" y="2177033"/>
            <a:ext cx="288480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1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keyword</a:t>
            </a:r>
            <a:r>
              <a:rPr dirty="0" sz="1150" spc="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that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starts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a</a:t>
            </a:r>
            <a:r>
              <a:rPr dirty="0" sz="11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function</a:t>
            </a:r>
            <a:r>
              <a:rPr dirty="0" sz="11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definition.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615683" y="2775204"/>
            <a:ext cx="5162550" cy="1062990"/>
            <a:chOff x="6615683" y="2775204"/>
            <a:chExt cx="5162550" cy="1062990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15683" y="2775204"/>
              <a:ext cx="5162550" cy="106299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675119" y="2834640"/>
              <a:ext cx="5013960" cy="914400"/>
            </a:xfrm>
            <a:custGeom>
              <a:avLst/>
              <a:gdLst/>
              <a:ahLst/>
              <a:cxnLst/>
              <a:rect l="l" t="t" r="r" b="b"/>
              <a:pathLst>
                <a:path w="5013959" h="914400">
                  <a:moveTo>
                    <a:pt x="494055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841248"/>
                  </a:lnTo>
                  <a:lnTo>
                    <a:pt x="5750" y="869715"/>
                  </a:lnTo>
                  <a:lnTo>
                    <a:pt x="21431" y="892968"/>
                  </a:lnTo>
                  <a:lnTo>
                    <a:pt x="44684" y="908649"/>
                  </a:lnTo>
                  <a:lnTo>
                    <a:pt x="73151" y="914400"/>
                  </a:lnTo>
                  <a:lnTo>
                    <a:pt x="4940554" y="914400"/>
                  </a:lnTo>
                  <a:lnTo>
                    <a:pt x="4969021" y="908649"/>
                  </a:lnTo>
                  <a:lnTo>
                    <a:pt x="4992274" y="892968"/>
                  </a:lnTo>
                  <a:lnTo>
                    <a:pt x="5007955" y="869715"/>
                  </a:lnTo>
                  <a:lnTo>
                    <a:pt x="5013706" y="841248"/>
                  </a:lnTo>
                  <a:lnTo>
                    <a:pt x="5013706" y="73151"/>
                  </a:lnTo>
                  <a:lnTo>
                    <a:pt x="5007955" y="44684"/>
                  </a:lnTo>
                  <a:lnTo>
                    <a:pt x="4992274" y="21431"/>
                  </a:lnTo>
                  <a:lnTo>
                    <a:pt x="4969021" y="5750"/>
                  </a:lnTo>
                  <a:lnTo>
                    <a:pt x="4940554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6846189" y="3164840"/>
            <a:ext cx="4953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0" b="1">
                <a:solidFill>
                  <a:srgbClr val="1B7979"/>
                </a:solidFill>
                <a:latin typeface="Consolas"/>
                <a:cs typeface="Consolas"/>
              </a:rPr>
              <a:t>greet</a:t>
            </a:r>
            <a:endParaRPr sz="1350">
              <a:latin typeface="Consolas"/>
              <a:cs typeface="Consola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446769" y="3183127"/>
            <a:ext cx="272478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function's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name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—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call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it by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this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later.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615683" y="3781044"/>
            <a:ext cx="5162550" cy="1062990"/>
            <a:chOff x="6615683" y="3781044"/>
            <a:chExt cx="5162550" cy="1062990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15683" y="3781044"/>
              <a:ext cx="5162550" cy="106299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675119" y="3840480"/>
              <a:ext cx="5013960" cy="914400"/>
            </a:xfrm>
            <a:custGeom>
              <a:avLst/>
              <a:gdLst/>
              <a:ahLst/>
              <a:cxnLst/>
              <a:rect l="l" t="t" r="r" b="b"/>
              <a:pathLst>
                <a:path w="5013959" h="914400">
                  <a:moveTo>
                    <a:pt x="494055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841248"/>
                  </a:lnTo>
                  <a:lnTo>
                    <a:pt x="5750" y="869715"/>
                  </a:lnTo>
                  <a:lnTo>
                    <a:pt x="21431" y="892968"/>
                  </a:lnTo>
                  <a:lnTo>
                    <a:pt x="44684" y="908649"/>
                  </a:lnTo>
                  <a:lnTo>
                    <a:pt x="73151" y="914400"/>
                  </a:lnTo>
                  <a:lnTo>
                    <a:pt x="4940554" y="914400"/>
                  </a:lnTo>
                  <a:lnTo>
                    <a:pt x="4969021" y="908649"/>
                  </a:lnTo>
                  <a:lnTo>
                    <a:pt x="4992274" y="892968"/>
                  </a:lnTo>
                  <a:lnTo>
                    <a:pt x="5007955" y="869715"/>
                  </a:lnTo>
                  <a:lnTo>
                    <a:pt x="5013706" y="841248"/>
                  </a:lnTo>
                  <a:lnTo>
                    <a:pt x="5013706" y="73152"/>
                  </a:lnTo>
                  <a:lnTo>
                    <a:pt x="5007955" y="44684"/>
                  </a:lnTo>
                  <a:lnTo>
                    <a:pt x="4992274" y="21431"/>
                  </a:lnTo>
                  <a:lnTo>
                    <a:pt x="4969021" y="5750"/>
                  </a:lnTo>
                  <a:lnTo>
                    <a:pt x="4940554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846189" y="4170679"/>
            <a:ext cx="58991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0" b="1">
                <a:solidFill>
                  <a:srgbClr val="C79239"/>
                </a:solidFill>
                <a:latin typeface="Consolas"/>
                <a:cs typeface="Consolas"/>
              </a:rPr>
              <a:t>(name)</a:t>
            </a:r>
            <a:endParaRPr sz="1350">
              <a:latin typeface="Consolas"/>
              <a:cs typeface="Consola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446769" y="4188967"/>
            <a:ext cx="287718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Parameters:</a:t>
            </a:r>
            <a:r>
              <a:rPr dirty="0" sz="11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inputs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function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accepts.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615683" y="4786884"/>
            <a:ext cx="5162550" cy="1062990"/>
            <a:chOff x="6615683" y="4786884"/>
            <a:chExt cx="5162550" cy="1062990"/>
          </a:xfrm>
        </p:grpSpPr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15683" y="4786884"/>
              <a:ext cx="5162550" cy="106298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675119" y="4846320"/>
              <a:ext cx="5013960" cy="914400"/>
            </a:xfrm>
            <a:custGeom>
              <a:avLst/>
              <a:gdLst/>
              <a:ahLst/>
              <a:cxnLst/>
              <a:rect l="l" t="t" r="r" b="b"/>
              <a:pathLst>
                <a:path w="5013959" h="914400">
                  <a:moveTo>
                    <a:pt x="494055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841247"/>
                  </a:lnTo>
                  <a:lnTo>
                    <a:pt x="5750" y="869721"/>
                  </a:lnTo>
                  <a:lnTo>
                    <a:pt x="21431" y="892973"/>
                  </a:lnTo>
                  <a:lnTo>
                    <a:pt x="44684" y="908651"/>
                  </a:lnTo>
                  <a:lnTo>
                    <a:pt x="73151" y="914399"/>
                  </a:lnTo>
                  <a:lnTo>
                    <a:pt x="4940554" y="914399"/>
                  </a:lnTo>
                  <a:lnTo>
                    <a:pt x="4969021" y="908651"/>
                  </a:lnTo>
                  <a:lnTo>
                    <a:pt x="4992274" y="892973"/>
                  </a:lnTo>
                  <a:lnTo>
                    <a:pt x="5007955" y="869721"/>
                  </a:lnTo>
                  <a:lnTo>
                    <a:pt x="5013706" y="841247"/>
                  </a:lnTo>
                  <a:lnTo>
                    <a:pt x="5013706" y="73151"/>
                  </a:lnTo>
                  <a:lnTo>
                    <a:pt x="5007955" y="44684"/>
                  </a:lnTo>
                  <a:lnTo>
                    <a:pt x="4992274" y="21431"/>
                  </a:lnTo>
                  <a:lnTo>
                    <a:pt x="4969021" y="5750"/>
                  </a:lnTo>
                  <a:lnTo>
                    <a:pt x="4940554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6846189" y="5176773"/>
            <a:ext cx="77724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b="1">
                <a:solidFill>
                  <a:srgbClr val="6B3E9F"/>
                </a:solidFill>
                <a:latin typeface="Consolas"/>
                <a:cs typeface="Consolas"/>
              </a:rPr>
              <a:t>the</a:t>
            </a:r>
            <a:r>
              <a:rPr dirty="0" sz="1350" spc="-15" b="1">
                <a:solidFill>
                  <a:srgbClr val="6B3E9F"/>
                </a:solidFill>
                <a:latin typeface="Consolas"/>
                <a:cs typeface="Consolas"/>
              </a:rPr>
              <a:t> </a:t>
            </a:r>
            <a:r>
              <a:rPr dirty="0" sz="1350" spc="-20" b="1">
                <a:solidFill>
                  <a:srgbClr val="6B3E9F"/>
                </a:solidFill>
                <a:latin typeface="Consolas"/>
                <a:cs typeface="Consolas"/>
              </a:rPr>
              <a:t>body</a:t>
            </a:r>
            <a:endParaRPr sz="1350">
              <a:latin typeface="Consolas"/>
              <a:cs typeface="Consolas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Property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IBT</a:t>
            </a:r>
            <a:r>
              <a:rPr dirty="0" spc="-35"/>
              <a:t> </a:t>
            </a:r>
            <a:r>
              <a:rPr dirty="0"/>
              <a:t>College</a:t>
            </a:r>
            <a:r>
              <a:rPr dirty="0" spc="-15"/>
              <a:t> </a:t>
            </a:r>
            <a:r>
              <a:rPr dirty="0" spc="-10"/>
              <a:t>Canada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23</a:t>
            </a:fld>
            <a:r>
              <a:rPr dirty="0"/>
              <a:t> /</a:t>
            </a:r>
            <a:r>
              <a:rPr dirty="0" spc="-10"/>
              <a:t> </a:t>
            </a:r>
            <a:r>
              <a:rPr dirty="0" spc="-25"/>
              <a:t>30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8446769" y="5195061"/>
            <a:ext cx="294640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indented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block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that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runs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when</a:t>
            </a:r>
            <a:r>
              <a:rPr dirty="0" sz="1150" spc="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you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call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it.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343915"/>
            <a:ext cx="30810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C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14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I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38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4</a:t>
            </a:r>
            <a:r>
              <a:rPr dirty="0" sz="1100" spc="38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·</a:t>
            </a:r>
            <a:r>
              <a:rPr dirty="0" sz="1100" spc="39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F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U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C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14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I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38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&amp;</a:t>
            </a:r>
            <a:r>
              <a:rPr dirty="0" sz="1100" spc="39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C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P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Parameters,</a:t>
            </a:r>
            <a:r>
              <a:rPr dirty="0" spc="-140"/>
              <a:t> </a:t>
            </a:r>
            <a:r>
              <a:rPr dirty="0"/>
              <a:t>Arguments</a:t>
            </a:r>
            <a:r>
              <a:rPr dirty="0" spc="-25"/>
              <a:t> </a:t>
            </a:r>
            <a:r>
              <a:rPr dirty="0"/>
              <a:t>&amp; </a:t>
            </a:r>
            <a:r>
              <a:rPr dirty="0" spc="-10"/>
              <a:t>return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0219" y="1378965"/>
            <a:ext cx="6557009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Parameters</a:t>
            </a:r>
            <a:r>
              <a:rPr dirty="0" sz="1400" spc="-6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are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the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inputs;</a:t>
            </a:r>
            <a:r>
              <a:rPr dirty="0" sz="1400" spc="-4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return</a:t>
            </a:r>
            <a:r>
              <a:rPr dirty="0" sz="14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sends</a:t>
            </a:r>
            <a:r>
              <a:rPr dirty="0" sz="1400" spc="-4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a</a:t>
            </a:r>
            <a:r>
              <a:rPr dirty="0" sz="1400" spc="-1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value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back</a:t>
            </a:r>
            <a:r>
              <a:rPr dirty="0" sz="14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out</a:t>
            </a:r>
            <a:r>
              <a:rPr dirty="0" sz="14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so</a:t>
            </a:r>
            <a:r>
              <a:rPr dirty="0" sz="1400" spc="-1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you</a:t>
            </a:r>
            <a:r>
              <a:rPr dirty="0" sz="14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can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use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the</a:t>
            </a:r>
            <a:r>
              <a:rPr dirty="0" sz="1400" spc="-2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spc="-10" i="1">
                <a:solidFill>
                  <a:srgbClr val="495468"/>
                </a:solidFill>
                <a:latin typeface="Arial"/>
                <a:cs typeface="Arial"/>
              </a:rPr>
              <a:t>result.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185" y="1783053"/>
            <a:ext cx="6247765" cy="3504565"/>
            <a:chOff x="457185" y="1783053"/>
            <a:chExt cx="6247765" cy="350456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85" y="1783053"/>
              <a:ext cx="6247667" cy="350449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2920" y="1828799"/>
              <a:ext cx="6126480" cy="3383279"/>
            </a:xfrm>
            <a:custGeom>
              <a:avLst/>
              <a:gdLst/>
              <a:ahLst/>
              <a:cxnLst/>
              <a:rect l="l" t="t" r="r" b="b"/>
              <a:pathLst>
                <a:path w="6126480" h="3383279">
                  <a:moveTo>
                    <a:pt x="6080759" y="0"/>
                  </a:moveTo>
                  <a:lnTo>
                    <a:pt x="45707" y="0"/>
                  </a:lnTo>
                  <a:lnTo>
                    <a:pt x="27914" y="3589"/>
                  </a:lnTo>
                  <a:lnTo>
                    <a:pt x="13385" y="13382"/>
                  </a:lnTo>
                  <a:lnTo>
                    <a:pt x="3591" y="27914"/>
                  </a:lnTo>
                  <a:lnTo>
                    <a:pt x="0" y="45720"/>
                  </a:lnTo>
                  <a:lnTo>
                    <a:pt x="0" y="3337560"/>
                  </a:lnTo>
                  <a:lnTo>
                    <a:pt x="3591" y="3355365"/>
                  </a:lnTo>
                  <a:lnTo>
                    <a:pt x="13385" y="3369897"/>
                  </a:lnTo>
                  <a:lnTo>
                    <a:pt x="27914" y="3379690"/>
                  </a:lnTo>
                  <a:lnTo>
                    <a:pt x="45707" y="3383279"/>
                  </a:lnTo>
                  <a:lnTo>
                    <a:pt x="6080759" y="3383279"/>
                  </a:lnTo>
                  <a:lnTo>
                    <a:pt x="6098565" y="3379690"/>
                  </a:lnTo>
                  <a:lnTo>
                    <a:pt x="6113097" y="3369897"/>
                  </a:lnTo>
                  <a:lnTo>
                    <a:pt x="6122890" y="3355365"/>
                  </a:lnTo>
                  <a:lnTo>
                    <a:pt x="6126480" y="3337560"/>
                  </a:lnTo>
                  <a:lnTo>
                    <a:pt x="6126480" y="45720"/>
                  </a:lnTo>
                  <a:lnTo>
                    <a:pt x="6122890" y="27914"/>
                  </a:lnTo>
                  <a:lnTo>
                    <a:pt x="6113097" y="13382"/>
                  </a:lnTo>
                  <a:lnTo>
                    <a:pt x="6098565" y="3589"/>
                  </a:lnTo>
                  <a:lnTo>
                    <a:pt x="6080759" y="0"/>
                  </a:lnTo>
                  <a:close/>
                </a:path>
              </a:pathLst>
            </a:custGeom>
            <a:solidFill>
              <a:srgbClr val="1A23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654812" y="1916938"/>
            <a:ext cx="264033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def</a:t>
            </a:r>
            <a:r>
              <a:rPr dirty="0" sz="1200" spc="-4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add_tax(price,</a:t>
            </a:r>
            <a:r>
              <a:rPr dirty="0" sz="1200" spc="-3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rate=0.15):</a:t>
            </a:r>
            <a:endParaRPr sz="1200">
              <a:latin typeface="Consolas"/>
              <a:cs typeface="Consolas"/>
            </a:endParaRPr>
          </a:p>
          <a:p>
            <a:pPr marL="347345">
              <a:lnSpc>
                <a:spcPct val="100000"/>
              </a:lnSpc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return</a:t>
            </a:r>
            <a:r>
              <a:rPr dirty="0" sz="120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price</a:t>
            </a:r>
            <a:r>
              <a:rPr dirty="0" sz="1200" spc="-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+</a:t>
            </a:r>
            <a:r>
              <a:rPr dirty="0" sz="1200" spc="-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price</a:t>
            </a:r>
            <a:r>
              <a:rPr dirty="0" sz="1200" spc="-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*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 rate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4812" y="2465959"/>
            <a:ext cx="29692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2282190" algn="l"/>
              </a:tabLst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#</a:t>
            </a:r>
            <a:r>
              <a:rPr dirty="0" sz="120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rate</a:t>
            </a:r>
            <a:r>
              <a:rPr dirty="0" sz="120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uses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its</a:t>
            </a:r>
            <a:r>
              <a:rPr dirty="0" sz="120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default</a:t>
            </a:r>
            <a:r>
              <a:rPr dirty="0" sz="120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(0.15)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total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 add_tax(1000)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	#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 1150.0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4812" y="3014598"/>
            <a:ext cx="28835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#</a:t>
            </a:r>
            <a:r>
              <a:rPr dirty="0" sz="120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override</a:t>
            </a:r>
            <a:r>
              <a:rPr dirty="0" sz="120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with</a:t>
            </a:r>
            <a:r>
              <a:rPr dirty="0" sz="120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a</a:t>
            </a:r>
            <a:r>
              <a:rPr dirty="0" sz="120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keyword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 argument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total</a:t>
            </a:r>
            <a:r>
              <a:rPr dirty="0" sz="1200" spc="-3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add_tax(1000,</a:t>
            </a:r>
            <a:r>
              <a:rPr dirty="0" sz="1200" spc="-3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rate=0.10)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14293" y="3197478"/>
            <a:ext cx="6978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# 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1100.0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25924" y="1842275"/>
            <a:ext cx="4925060" cy="1250950"/>
            <a:chOff x="6825924" y="1842275"/>
            <a:chExt cx="4925060" cy="125095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5924" y="1842275"/>
              <a:ext cx="4924948" cy="125080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857999" y="1874519"/>
              <a:ext cx="4831080" cy="1143000"/>
            </a:xfrm>
            <a:custGeom>
              <a:avLst/>
              <a:gdLst/>
              <a:ahLst/>
              <a:cxnLst/>
              <a:rect l="l" t="t" r="r" b="b"/>
              <a:pathLst>
                <a:path w="4831080" h="1143000">
                  <a:moveTo>
                    <a:pt x="475767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069847"/>
                  </a:lnTo>
                  <a:lnTo>
                    <a:pt x="5750" y="1098315"/>
                  </a:lnTo>
                  <a:lnTo>
                    <a:pt x="21431" y="1121568"/>
                  </a:lnTo>
                  <a:lnTo>
                    <a:pt x="44684" y="1137249"/>
                  </a:lnTo>
                  <a:lnTo>
                    <a:pt x="73151" y="1143000"/>
                  </a:lnTo>
                  <a:lnTo>
                    <a:pt x="4757674" y="1143000"/>
                  </a:lnTo>
                  <a:lnTo>
                    <a:pt x="4786141" y="1137249"/>
                  </a:lnTo>
                  <a:lnTo>
                    <a:pt x="4809394" y="1121568"/>
                  </a:lnTo>
                  <a:lnTo>
                    <a:pt x="4825075" y="1098315"/>
                  </a:lnTo>
                  <a:lnTo>
                    <a:pt x="4830826" y="1069847"/>
                  </a:lnTo>
                  <a:lnTo>
                    <a:pt x="4830826" y="73151"/>
                  </a:lnTo>
                  <a:lnTo>
                    <a:pt x="4825075" y="44684"/>
                  </a:lnTo>
                  <a:lnTo>
                    <a:pt x="4809394" y="21431"/>
                  </a:lnTo>
                  <a:lnTo>
                    <a:pt x="4786141" y="5750"/>
                  </a:lnTo>
                  <a:lnTo>
                    <a:pt x="4757674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857999" y="1874519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91440" y="0"/>
                  </a:moveTo>
                  <a:lnTo>
                    <a:pt x="18288" y="0"/>
                  </a:lnTo>
                  <a:lnTo>
                    <a:pt x="11144" y="1428"/>
                  </a:lnTo>
                  <a:lnTo>
                    <a:pt x="5333" y="5334"/>
                  </a:lnTo>
                  <a:lnTo>
                    <a:pt x="1428" y="11144"/>
                  </a:lnTo>
                  <a:lnTo>
                    <a:pt x="0" y="18287"/>
                  </a:lnTo>
                  <a:lnTo>
                    <a:pt x="0" y="1124712"/>
                  </a:lnTo>
                  <a:lnTo>
                    <a:pt x="1428" y="1131855"/>
                  </a:lnTo>
                  <a:lnTo>
                    <a:pt x="5334" y="1137665"/>
                  </a:lnTo>
                  <a:lnTo>
                    <a:pt x="11144" y="1141571"/>
                  </a:lnTo>
                  <a:lnTo>
                    <a:pt x="18288" y="1143000"/>
                  </a:lnTo>
                  <a:lnTo>
                    <a:pt x="91440" y="1143000"/>
                  </a:lnTo>
                  <a:lnTo>
                    <a:pt x="98583" y="1141571"/>
                  </a:lnTo>
                  <a:lnTo>
                    <a:pt x="104394" y="1137665"/>
                  </a:lnTo>
                  <a:lnTo>
                    <a:pt x="108299" y="1131855"/>
                  </a:lnTo>
                  <a:lnTo>
                    <a:pt x="109727" y="1124712"/>
                  </a:lnTo>
                  <a:lnTo>
                    <a:pt x="109727" y="18287"/>
                  </a:lnTo>
                  <a:lnTo>
                    <a:pt x="108299" y="11144"/>
                  </a:lnTo>
                  <a:lnTo>
                    <a:pt x="104394" y="5334"/>
                  </a:lnTo>
                  <a:lnTo>
                    <a:pt x="98583" y="1428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2D5C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7102220" y="1992253"/>
            <a:ext cx="4003040" cy="54673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400" b="1">
                <a:solidFill>
                  <a:srgbClr val="091F3C"/>
                </a:solidFill>
                <a:latin typeface="Arial"/>
                <a:cs typeface="Arial"/>
              </a:rPr>
              <a:t>Default</a:t>
            </a:r>
            <a:r>
              <a:rPr dirty="0" sz="1400" spc="-3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91F3C"/>
                </a:solidFill>
                <a:latin typeface="Arial"/>
                <a:cs typeface="Arial"/>
              </a:rPr>
              <a:t>values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rate=0.15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makes</a:t>
            </a:r>
            <a:r>
              <a:rPr dirty="0" sz="11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parameter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optional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—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callers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can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skip</a:t>
            </a:r>
            <a:r>
              <a:rPr dirty="0" sz="115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it.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798564" y="3067811"/>
            <a:ext cx="4979670" cy="1291590"/>
            <a:chOff x="6798564" y="3067811"/>
            <a:chExt cx="4979670" cy="1291590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98564" y="3067811"/>
              <a:ext cx="4979670" cy="129158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858000" y="3127247"/>
              <a:ext cx="4831080" cy="1143000"/>
            </a:xfrm>
            <a:custGeom>
              <a:avLst/>
              <a:gdLst/>
              <a:ahLst/>
              <a:cxnLst/>
              <a:rect l="l" t="t" r="r" b="b"/>
              <a:pathLst>
                <a:path w="4831080" h="1143000">
                  <a:moveTo>
                    <a:pt x="475767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069847"/>
                  </a:lnTo>
                  <a:lnTo>
                    <a:pt x="5750" y="1098315"/>
                  </a:lnTo>
                  <a:lnTo>
                    <a:pt x="21431" y="1121568"/>
                  </a:lnTo>
                  <a:lnTo>
                    <a:pt x="44684" y="1137249"/>
                  </a:lnTo>
                  <a:lnTo>
                    <a:pt x="73151" y="1143000"/>
                  </a:lnTo>
                  <a:lnTo>
                    <a:pt x="4757674" y="1143000"/>
                  </a:lnTo>
                  <a:lnTo>
                    <a:pt x="4786141" y="1137249"/>
                  </a:lnTo>
                  <a:lnTo>
                    <a:pt x="4809394" y="1121568"/>
                  </a:lnTo>
                  <a:lnTo>
                    <a:pt x="4825075" y="1098315"/>
                  </a:lnTo>
                  <a:lnTo>
                    <a:pt x="4830826" y="1069847"/>
                  </a:lnTo>
                  <a:lnTo>
                    <a:pt x="4830826" y="73151"/>
                  </a:lnTo>
                  <a:lnTo>
                    <a:pt x="4825075" y="44684"/>
                  </a:lnTo>
                  <a:lnTo>
                    <a:pt x="4809394" y="21431"/>
                  </a:lnTo>
                  <a:lnTo>
                    <a:pt x="4786141" y="5750"/>
                  </a:lnTo>
                  <a:lnTo>
                    <a:pt x="4757674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858000" y="3127247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91440" y="0"/>
                  </a:moveTo>
                  <a:lnTo>
                    <a:pt x="18288" y="0"/>
                  </a:lnTo>
                  <a:lnTo>
                    <a:pt x="11144" y="1428"/>
                  </a:lnTo>
                  <a:lnTo>
                    <a:pt x="5333" y="5334"/>
                  </a:lnTo>
                  <a:lnTo>
                    <a:pt x="1428" y="11144"/>
                  </a:lnTo>
                  <a:lnTo>
                    <a:pt x="0" y="18287"/>
                  </a:lnTo>
                  <a:lnTo>
                    <a:pt x="0" y="1124712"/>
                  </a:lnTo>
                  <a:lnTo>
                    <a:pt x="1428" y="1131855"/>
                  </a:lnTo>
                  <a:lnTo>
                    <a:pt x="5334" y="1137665"/>
                  </a:lnTo>
                  <a:lnTo>
                    <a:pt x="11144" y="1141571"/>
                  </a:lnTo>
                  <a:lnTo>
                    <a:pt x="18288" y="1143000"/>
                  </a:lnTo>
                  <a:lnTo>
                    <a:pt x="91440" y="1143000"/>
                  </a:lnTo>
                  <a:lnTo>
                    <a:pt x="98583" y="1141571"/>
                  </a:lnTo>
                  <a:lnTo>
                    <a:pt x="104394" y="1137666"/>
                  </a:lnTo>
                  <a:lnTo>
                    <a:pt x="108299" y="1131855"/>
                  </a:lnTo>
                  <a:lnTo>
                    <a:pt x="109727" y="1124712"/>
                  </a:lnTo>
                  <a:lnTo>
                    <a:pt x="109727" y="18287"/>
                  </a:lnTo>
                  <a:lnTo>
                    <a:pt x="108299" y="11144"/>
                  </a:lnTo>
                  <a:lnTo>
                    <a:pt x="104394" y="5334"/>
                  </a:lnTo>
                  <a:lnTo>
                    <a:pt x="98583" y="1428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1B797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7102220" y="3246700"/>
            <a:ext cx="3536950" cy="54546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1400" b="1">
                <a:solidFill>
                  <a:srgbClr val="091F3C"/>
                </a:solidFill>
                <a:latin typeface="Arial"/>
                <a:cs typeface="Arial"/>
              </a:rPr>
              <a:t>Keyword</a:t>
            </a:r>
            <a:r>
              <a:rPr dirty="0" sz="1400" spc="-6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91F3C"/>
                </a:solidFill>
                <a:latin typeface="Arial"/>
                <a:cs typeface="Arial"/>
              </a:rPr>
              <a:t>arguments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Name</a:t>
            </a:r>
            <a:r>
              <a:rPr dirty="0" sz="1150" spc="-6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argument</a:t>
            </a:r>
            <a:r>
              <a:rPr dirty="0" sz="115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when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calling</a:t>
            </a:r>
            <a:r>
              <a:rPr dirty="0" sz="115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for</a:t>
            </a:r>
            <a:r>
              <a:rPr dirty="0" sz="11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clarity: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rate=0.10.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798564" y="4320565"/>
            <a:ext cx="4979670" cy="1291590"/>
            <a:chOff x="6798564" y="4320565"/>
            <a:chExt cx="4979670" cy="1291590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98564" y="4320565"/>
              <a:ext cx="4979670" cy="129159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858000" y="4379975"/>
              <a:ext cx="4831080" cy="1143000"/>
            </a:xfrm>
            <a:custGeom>
              <a:avLst/>
              <a:gdLst/>
              <a:ahLst/>
              <a:cxnLst/>
              <a:rect l="l" t="t" r="r" b="b"/>
              <a:pathLst>
                <a:path w="4831080" h="1143000">
                  <a:moveTo>
                    <a:pt x="475767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069848"/>
                  </a:lnTo>
                  <a:lnTo>
                    <a:pt x="5750" y="1098315"/>
                  </a:lnTo>
                  <a:lnTo>
                    <a:pt x="21431" y="1121568"/>
                  </a:lnTo>
                  <a:lnTo>
                    <a:pt x="44684" y="1137249"/>
                  </a:lnTo>
                  <a:lnTo>
                    <a:pt x="73151" y="1143000"/>
                  </a:lnTo>
                  <a:lnTo>
                    <a:pt x="4757674" y="1143000"/>
                  </a:lnTo>
                  <a:lnTo>
                    <a:pt x="4786141" y="1137249"/>
                  </a:lnTo>
                  <a:lnTo>
                    <a:pt x="4809394" y="1121568"/>
                  </a:lnTo>
                  <a:lnTo>
                    <a:pt x="4825075" y="1098315"/>
                  </a:lnTo>
                  <a:lnTo>
                    <a:pt x="4830826" y="1069848"/>
                  </a:lnTo>
                  <a:lnTo>
                    <a:pt x="4830826" y="73151"/>
                  </a:lnTo>
                  <a:lnTo>
                    <a:pt x="4825075" y="44684"/>
                  </a:lnTo>
                  <a:lnTo>
                    <a:pt x="4809394" y="21431"/>
                  </a:lnTo>
                  <a:lnTo>
                    <a:pt x="4786141" y="5750"/>
                  </a:lnTo>
                  <a:lnTo>
                    <a:pt x="4757674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858000" y="4379975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91440" y="0"/>
                  </a:moveTo>
                  <a:lnTo>
                    <a:pt x="18288" y="0"/>
                  </a:lnTo>
                  <a:lnTo>
                    <a:pt x="11144" y="1428"/>
                  </a:lnTo>
                  <a:lnTo>
                    <a:pt x="5333" y="5333"/>
                  </a:lnTo>
                  <a:lnTo>
                    <a:pt x="1428" y="11144"/>
                  </a:lnTo>
                  <a:lnTo>
                    <a:pt x="0" y="18287"/>
                  </a:lnTo>
                  <a:lnTo>
                    <a:pt x="0" y="1124712"/>
                  </a:lnTo>
                  <a:lnTo>
                    <a:pt x="1428" y="1131855"/>
                  </a:lnTo>
                  <a:lnTo>
                    <a:pt x="5334" y="1137666"/>
                  </a:lnTo>
                  <a:lnTo>
                    <a:pt x="11144" y="1141571"/>
                  </a:lnTo>
                  <a:lnTo>
                    <a:pt x="18288" y="1143000"/>
                  </a:lnTo>
                  <a:lnTo>
                    <a:pt x="91440" y="1143000"/>
                  </a:lnTo>
                  <a:lnTo>
                    <a:pt x="98583" y="1141571"/>
                  </a:lnTo>
                  <a:lnTo>
                    <a:pt x="104394" y="1137666"/>
                  </a:lnTo>
                  <a:lnTo>
                    <a:pt x="108299" y="1131855"/>
                  </a:lnTo>
                  <a:lnTo>
                    <a:pt x="109727" y="1124712"/>
                  </a:lnTo>
                  <a:lnTo>
                    <a:pt x="109727" y="18287"/>
                  </a:lnTo>
                  <a:lnTo>
                    <a:pt x="108299" y="11144"/>
                  </a:lnTo>
                  <a:lnTo>
                    <a:pt x="104394" y="5334"/>
                  </a:lnTo>
                  <a:lnTo>
                    <a:pt x="98583" y="1428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C792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7102220" y="4499162"/>
            <a:ext cx="3638550" cy="54546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1400" spc="-10" b="1">
                <a:solidFill>
                  <a:srgbClr val="091F3C"/>
                </a:solidFill>
                <a:latin typeface="Arial"/>
                <a:cs typeface="Arial"/>
              </a:rPr>
              <a:t>return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Hands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a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value back.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Without</a:t>
            </a:r>
            <a:r>
              <a:rPr dirty="0" sz="1150" spc="-4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it,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a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function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returns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None.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Property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IBT</a:t>
            </a:r>
            <a:r>
              <a:rPr dirty="0" spc="-35"/>
              <a:t> </a:t>
            </a:r>
            <a:r>
              <a:rPr dirty="0"/>
              <a:t>College</a:t>
            </a:r>
            <a:r>
              <a:rPr dirty="0" spc="-15"/>
              <a:t> </a:t>
            </a:r>
            <a:r>
              <a:rPr dirty="0" spc="-10"/>
              <a:t>Canada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23</a:t>
            </a:fld>
            <a:r>
              <a:rPr dirty="0"/>
              <a:t> /</a:t>
            </a:r>
            <a:r>
              <a:rPr dirty="0" spc="-10"/>
              <a:t> </a:t>
            </a:r>
            <a:r>
              <a:rPr dirty="0" spc="-25"/>
              <a:t>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343915"/>
            <a:ext cx="30810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C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14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I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38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4</a:t>
            </a:r>
            <a:r>
              <a:rPr dirty="0" sz="1100" spc="38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·</a:t>
            </a:r>
            <a:r>
              <a:rPr dirty="0" sz="1100" spc="39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F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U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C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14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I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38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&amp;</a:t>
            </a:r>
            <a:r>
              <a:rPr dirty="0" sz="1100" spc="39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C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P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Variable</a:t>
            </a:r>
            <a:r>
              <a:rPr dirty="0" spc="-190"/>
              <a:t> </a:t>
            </a:r>
            <a:r>
              <a:rPr dirty="0" spc="-10"/>
              <a:t>Scope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0219" y="1378965"/>
            <a:ext cx="87045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Scope</a:t>
            </a:r>
            <a:r>
              <a:rPr dirty="0" sz="1400" spc="-4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is</a:t>
            </a:r>
            <a:r>
              <a:rPr dirty="0" sz="1400" spc="-1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where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a</a:t>
            </a:r>
            <a:r>
              <a:rPr dirty="0" sz="1400" spc="-1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variable</a:t>
            </a:r>
            <a:r>
              <a:rPr dirty="0" sz="1400" spc="-4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can</a:t>
            </a:r>
            <a:r>
              <a:rPr dirty="0" sz="14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be</a:t>
            </a:r>
            <a:r>
              <a:rPr dirty="0" sz="1400" spc="-1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seen.</a:t>
            </a:r>
            <a:r>
              <a:rPr dirty="0" sz="14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spc="-10" i="1">
                <a:solidFill>
                  <a:srgbClr val="495468"/>
                </a:solidFill>
                <a:latin typeface="Arial"/>
                <a:cs typeface="Arial"/>
              </a:rPr>
              <a:t>Variables</a:t>
            </a:r>
            <a:r>
              <a:rPr dirty="0" sz="1400" spc="-4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made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inside</a:t>
            </a:r>
            <a:r>
              <a:rPr dirty="0" sz="1400" spc="-4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a</a:t>
            </a:r>
            <a:r>
              <a:rPr dirty="0" sz="1400" spc="-1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function</a:t>
            </a:r>
            <a:r>
              <a:rPr dirty="0" sz="1400" spc="-5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are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local</a:t>
            </a:r>
            <a:r>
              <a:rPr dirty="0" sz="1400" spc="-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—</a:t>
            </a:r>
            <a:r>
              <a:rPr dirty="0" sz="1400" spc="-1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they</a:t>
            </a:r>
            <a:r>
              <a:rPr dirty="0" sz="14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don't</a:t>
            </a:r>
            <a:r>
              <a:rPr dirty="0" sz="14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exist</a:t>
            </a:r>
            <a:r>
              <a:rPr dirty="0" sz="14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495468"/>
                </a:solidFill>
                <a:latin typeface="Arial"/>
                <a:cs typeface="Arial"/>
              </a:rPr>
              <a:t>outside</a:t>
            </a:r>
            <a:r>
              <a:rPr dirty="0" sz="1400" spc="-5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400" spc="-25" i="1">
                <a:solidFill>
                  <a:srgbClr val="495468"/>
                </a:solidFill>
                <a:latin typeface="Arial"/>
                <a:cs typeface="Arial"/>
              </a:rPr>
              <a:t>it.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185" y="1783070"/>
            <a:ext cx="6247765" cy="3413125"/>
            <a:chOff x="457185" y="1783070"/>
            <a:chExt cx="6247765" cy="34131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85" y="1783070"/>
              <a:ext cx="6247667" cy="341301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2920" y="1828799"/>
              <a:ext cx="6126480" cy="3291840"/>
            </a:xfrm>
            <a:custGeom>
              <a:avLst/>
              <a:gdLst/>
              <a:ahLst/>
              <a:cxnLst/>
              <a:rect l="l" t="t" r="r" b="b"/>
              <a:pathLst>
                <a:path w="6126480" h="3291840">
                  <a:moveTo>
                    <a:pt x="6080759" y="0"/>
                  </a:moveTo>
                  <a:lnTo>
                    <a:pt x="45720" y="0"/>
                  </a:ln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20"/>
                  </a:lnTo>
                  <a:lnTo>
                    <a:pt x="0" y="3246120"/>
                  </a:lnTo>
                  <a:lnTo>
                    <a:pt x="3593" y="3263925"/>
                  </a:lnTo>
                  <a:lnTo>
                    <a:pt x="13392" y="3278457"/>
                  </a:lnTo>
                  <a:lnTo>
                    <a:pt x="27924" y="3288250"/>
                  </a:lnTo>
                  <a:lnTo>
                    <a:pt x="45720" y="3291840"/>
                  </a:lnTo>
                  <a:lnTo>
                    <a:pt x="6080759" y="3291840"/>
                  </a:lnTo>
                  <a:lnTo>
                    <a:pt x="6098565" y="3288250"/>
                  </a:lnTo>
                  <a:lnTo>
                    <a:pt x="6113097" y="3278457"/>
                  </a:lnTo>
                  <a:lnTo>
                    <a:pt x="6122890" y="3263925"/>
                  </a:lnTo>
                  <a:lnTo>
                    <a:pt x="6126480" y="3246120"/>
                  </a:lnTo>
                  <a:lnTo>
                    <a:pt x="6126480" y="45720"/>
                  </a:lnTo>
                  <a:lnTo>
                    <a:pt x="6122890" y="27914"/>
                  </a:lnTo>
                  <a:lnTo>
                    <a:pt x="6113097" y="13382"/>
                  </a:lnTo>
                  <a:lnTo>
                    <a:pt x="6098565" y="3589"/>
                  </a:lnTo>
                  <a:lnTo>
                    <a:pt x="6080759" y="0"/>
                  </a:lnTo>
                  <a:close/>
                </a:path>
              </a:pathLst>
            </a:custGeom>
            <a:solidFill>
              <a:srgbClr val="1A23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654812" y="1916938"/>
            <a:ext cx="12858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tax_rate</a:t>
            </a:r>
            <a:r>
              <a:rPr dirty="0" sz="120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0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0.15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88158" y="1916938"/>
            <a:ext cx="6991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# 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global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92730" y="2465959"/>
            <a:ext cx="6153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#</a:t>
            </a:r>
            <a:r>
              <a:rPr dirty="0" sz="1200" spc="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local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4812" y="2283078"/>
            <a:ext cx="18796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7345" marR="429259" indent="-3352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def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total(price):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fee</a:t>
            </a:r>
            <a:r>
              <a:rPr dirty="0" sz="1200" spc="-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=</a:t>
            </a:r>
            <a:r>
              <a:rPr dirty="0" sz="120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 spc="-25">
                <a:solidFill>
                  <a:srgbClr val="E6ECF3"/>
                </a:solidFill>
                <a:latin typeface="Consolas"/>
                <a:cs typeface="Consolas"/>
              </a:rPr>
              <a:t>50</a:t>
            </a:r>
            <a:endParaRPr sz="1200">
              <a:latin typeface="Consolas"/>
              <a:cs typeface="Consolas"/>
            </a:endParaRPr>
          </a:p>
          <a:p>
            <a:pPr marL="347345">
              <a:lnSpc>
                <a:spcPct val="100000"/>
              </a:lnSpc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return</a:t>
            </a:r>
            <a:r>
              <a:rPr dirty="0" sz="1200" spc="-20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price</a:t>
            </a:r>
            <a:r>
              <a:rPr dirty="0" sz="1200" spc="-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+</a:t>
            </a:r>
            <a:r>
              <a:rPr dirty="0" sz="1200" spc="-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 spc="-25">
                <a:solidFill>
                  <a:srgbClr val="E6ECF3"/>
                </a:solidFill>
                <a:latin typeface="Consolas"/>
                <a:cs typeface="Consolas"/>
              </a:rPr>
              <a:t>fee</a:t>
            </a:r>
            <a:endParaRPr sz="1200">
              <a:latin typeface="Consolas"/>
              <a:cs typeface="Consolas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635762" y="3066515"/>
          <a:ext cx="3083560" cy="334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5139"/>
                <a:gridCol w="337185"/>
                <a:gridCol w="462914"/>
                <a:gridCol w="453389"/>
              </a:tblGrid>
              <a:tr h="16700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dirty="0" sz="1200" spc="-10">
                          <a:solidFill>
                            <a:srgbClr val="E6ECF3"/>
                          </a:solidFill>
                          <a:latin typeface="Consolas"/>
                          <a:cs typeface="Consolas"/>
                        </a:rPr>
                        <a:t>print(total(1000))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4925">
                        <a:lnSpc>
                          <a:spcPts val="1130"/>
                        </a:lnSpc>
                      </a:pPr>
                      <a:r>
                        <a:rPr dirty="0" sz="1200" spc="-50">
                          <a:solidFill>
                            <a:srgbClr val="E6ECF3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3655">
                        <a:lnSpc>
                          <a:spcPts val="1130"/>
                        </a:lnSpc>
                      </a:pPr>
                      <a:r>
                        <a:rPr dirty="0" sz="1200" spc="-20">
                          <a:solidFill>
                            <a:srgbClr val="E6ECF3"/>
                          </a:solidFill>
                          <a:latin typeface="Consolas"/>
                          <a:cs typeface="Consolas"/>
                        </a:rPr>
                        <a:t>1050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67005">
                <a:tc>
                  <a:txBody>
                    <a:bodyPr/>
                    <a:lstStyle/>
                    <a:p>
                      <a:pPr marL="31750">
                        <a:lnSpc>
                          <a:spcPts val="1220"/>
                        </a:lnSpc>
                      </a:pPr>
                      <a:r>
                        <a:rPr dirty="0" sz="1200" spc="-10">
                          <a:solidFill>
                            <a:srgbClr val="E6ECF3"/>
                          </a:solidFill>
                          <a:latin typeface="Consolas"/>
                          <a:cs typeface="Consolas"/>
                        </a:rPr>
                        <a:t>print(tax_rate)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4925">
                        <a:lnSpc>
                          <a:spcPts val="1220"/>
                        </a:lnSpc>
                      </a:pPr>
                      <a:r>
                        <a:rPr dirty="0" sz="1200" spc="-50">
                          <a:solidFill>
                            <a:srgbClr val="E6ECF3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3655">
                        <a:lnSpc>
                          <a:spcPts val="1220"/>
                        </a:lnSpc>
                      </a:pPr>
                      <a:r>
                        <a:rPr dirty="0" sz="1200" spc="-20">
                          <a:solidFill>
                            <a:srgbClr val="E6ECF3"/>
                          </a:solidFill>
                          <a:latin typeface="Consolas"/>
                          <a:cs typeface="Consolas"/>
                        </a:rPr>
                        <a:t>0.15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1220"/>
                        </a:lnSpc>
                      </a:pPr>
                      <a:r>
                        <a:rPr dirty="0" sz="1200" spc="-20">
                          <a:solidFill>
                            <a:srgbClr val="E6ECF3"/>
                          </a:solidFill>
                          <a:latin typeface="Consolas"/>
                          <a:cs typeface="Consolas"/>
                        </a:rPr>
                        <a:t>(ok)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654812" y="3380359"/>
            <a:ext cx="8655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print(fee)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47215" y="3380359"/>
            <a:ext cx="2045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#</a:t>
            </a:r>
            <a:r>
              <a:rPr dirty="0" sz="1200" spc="-2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NameError:</a:t>
            </a:r>
            <a:r>
              <a:rPr dirty="0" sz="120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6ECF3"/>
                </a:solidFill>
                <a:latin typeface="Consolas"/>
                <a:cs typeface="Consolas"/>
              </a:rPr>
              <a:t>not</a:t>
            </a:r>
            <a:r>
              <a:rPr dirty="0" sz="1200" spc="-15">
                <a:solidFill>
                  <a:srgbClr val="E6ECF3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6ECF3"/>
                </a:solidFill>
                <a:latin typeface="Consolas"/>
                <a:cs typeface="Consolas"/>
              </a:rPr>
              <a:t>defined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825924" y="1796688"/>
            <a:ext cx="4925060" cy="1708150"/>
            <a:chOff x="6825924" y="1796688"/>
            <a:chExt cx="4925060" cy="170815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5924" y="1796688"/>
              <a:ext cx="4924948" cy="170780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857999" y="1828799"/>
              <a:ext cx="4831080" cy="1600200"/>
            </a:xfrm>
            <a:custGeom>
              <a:avLst/>
              <a:gdLst/>
              <a:ahLst/>
              <a:cxnLst/>
              <a:rect l="l" t="t" r="r" b="b"/>
              <a:pathLst>
                <a:path w="4831080" h="1600200">
                  <a:moveTo>
                    <a:pt x="475767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527048"/>
                  </a:lnTo>
                  <a:lnTo>
                    <a:pt x="5750" y="1555515"/>
                  </a:lnTo>
                  <a:lnTo>
                    <a:pt x="21431" y="1578768"/>
                  </a:lnTo>
                  <a:lnTo>
                    <a:pt x="44684" y="1594449"/>
                  </a:lnTo>
                  <a:lnTo>
                    <a:pt x="73151" y="1600200"/>
                  </a:lnTo>
                  <a:lnTo>
                    <a:pt x="4757674" y="1600200"/>
                  </a:lnTo>
                  <a:lnTo>
                    <a:pt x="4786141" y="1594449"/>
                  </a:lnTo>
                  <a:lnTo>
                    <a:pt x="4809394" y="1578768"/>
                  </a:lnTo>
                  <a:lnTo>
                    <a:pt x="4825075" y="1555515"/>
                  </a:lnTo>
                  <a:lnTo>
                    <a:pt x="4830826" y="1527048"/>
                  </a:lnTo>
                  <a:lnTo>
                    <a:pt x="4830826" y="73151"/>
                  </a:lnTo>
                  <a:lnTo>
                    <a:pt x="4825075" y="44684"/>
                  </a:lnTo>
                  <a:lnTo>
                    <a:pt x="4809394" y="21431"/>
                  </a:lnTo>
                  <a:lnTo>
                    <a:pt x="4786141" y="5750"/>
                  </a:lnTo>
                  <a:lnTo>
                    <a:pt x="4757674" y="0"/>
                  </a:lnTo>
                  <a:close/>
                </a:path>
              </a:pathLst>
            </a:custGeom>
            <a:solidFill>
              <a:srgbClr val="EAF3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7074789" y="1922629"/>
            <a:ext cx="4060190" cy="779145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400" spc="-10" b="1">
                <a:solidFill>
                  <a:srgbClr val="2D8A56"/>
                </a:solidFill>
                <a:latin typeface="Arial"/>
                <a:cs typeface="Arial"/>
              </a:rPr>
              <a:t>Local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ts val="1400"/>
              </a:lnSpc>
              <a:spcBef>
                <a:spcPts val="730"/>
              </a:spcBef>
            </a:pP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Created</a:t>
            </a:r>
            <a:r>
              <a:rPr dirty="0" sz="1200" spc="-4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inside</a:t>
            </a:r>
            <a:r>
              <a:rPr dirty="0" sz="1200" spc="-3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a</a:t>
            </a:r>
            <a:r>
              <a:rPr dirty="0" sz="1200" spc="-2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function.</a:t>
            </a:r>
            <a:r>
              <a:rPr dirty="0" sz="1200" spc="-4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Lives</a:t>
            </a:r>
            <a:r>
              <a:rPr dirty="0" sz="1200" spc="-1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only</a:t>
            </a:r>
            <a:r>
              <a:rPr dirty="0" sz="1200" spc="-3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while</a:t>
            </a:r>
            <a:r>
              <a:rPr dirty="0" sz="1200" spc="-2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the</a:t>
            </a:r>
            <a:r>
              <a:rPr dirty="0" sz="1200" spc="-2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function</a:t>
            </a:r>
            <a:r>
              <a:rPr dirty="0" sz="1200" spc="-5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2333"/>
                </a:solidFill>
                <a:latin typeface="Arial MT"/>
                <a:cs typeface="Arial MT"/>
              </a:rPr>
              <a:t>runs,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then</a:t>
            </a:r>
            <a:r>
              <a:rPr dirty="0" sz="1200" spc="-3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disappears.</a:t>
            </a:r>
            <a:r>
              <a:rPr dirty="0" sz="1200" spc="-3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fee</a:t>
            </a:r>
            <a:r>
              <a:rPr dirty="0" sz="1200" spc="-4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is</a:t>
            </a:r>
            <a:r>
              <a:rPr dirty="0" sz="1200" spc="-1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2333"/>
                </a:solidFill>
                <a:latin typeface="Arial MT"/>
                <a:cs typeface="Arial MT"/>
              </a:rPr>
              <a:t>local.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825924" y="3534049"/>
            <a:ext cx="4925060" cy="1708150"/>
            <a:chOff x="6825924" y="3534049"/>
            <a:chExt cx="4925060" cy="170815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5924" y="3534049"/>
              <a:ext cx="4924948" cy="170780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857999" y="3566160"/>
              <a:ext cx="4831080" cy="1600200"/>
            </a:xfrm>
            <a:custGeom>
              <a:avLst/>
              <a:gdLst/>
              <a:ahLst/>
              <a:cxnLst/>
              <a:rect l="l" t="t" r="r" b="b"/>
              <a:pathLst>
                <a:path w="4831080" h="1600200">
                  <a:moveTo>
                    <a:pt x="475767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527047"/>
                  </a:lnTo>
                  <a:lnTo>
                    <a:pt x="5750" y="1555515"/>
                  </a:lnTo>
                  <a:lnTo>
                    <a:pt x="21431" y="1578768"/>
                  </a:lnTo>
                  <a:lnTo>
                    <a:pt x="44684" y="1594449"/>
                  </a:lnTo>
                  <a:lnTo>
                    <a:pt x="73151" y="1600200"/>
                  </a:lnTo>
                  <a:lnTo>
                    <a:pt x="4757674" y="1600200"/>
                  </a:lnTo>
                  <a:lnTo>
                    <a:pt x="4786141" y="1594449"/>
                  </a:lnTo>
                  <a:lnTo>
                    <a:pt x="4809394" y="1578768"/>
                  </a:lnTo>
                  <a:lnTo>
                    <a:pt x="4825075" y="1555515"/>
                  </a:lnTo>
                  <a:lnTo>
                    <a:pt x="4830826" y="1527047"/>
                  </a:lnTo>
                  <a:lnTo>
                    <a:pt x="4830826" y="73151"/>
                  </a:lnTo>
                  <a:lnTo>
                    <a:pt x="4825075" y="44684"/>
                  </a:lnTo>
                  <a:lnTo>
                    <a:pt x="4809394" y="21431"/>
                  </a:lnTo>
                  <a:lnTo>
                    <a:pt x="4786141" y="5750"/>
                  </a:lnTo>
                  <a:lnTo>
                    <a:pt x="4757674" y="0"/>
                  </a:lnTo>
                  <a:close/>
                </a:path>
              </a:pathLst>
            </a:custGeom>
            <a:solidFill>
              <a:srgbClr val="EAEF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7074789" y="3661467"/>
            <a:ext cx="4134485" cy="77787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400" spc="-10" b="1">
                <a:solidFill>
                  <a:srgbClr val="2D5C99"/>
                </a:solidFill>
                <a:latin typeface="Arial"/>
                <a:cs typeface="Arial"/>
              </a:rPr>
              <a:t>Global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ts val="1400"/>
              </a:lnSpc>
              <a:spcBef>
                <a:spcPts val="725"/>
              </a:spcBef>
            </a:pP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Defined</a:t>
            </a:r>
            <a:r>
              <a:rPr dirty="0" sz="1200" spc="-4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at</a:t>
            </a:r>
            <a:r>
              <a:rPr dirty="0" sz="1200" spc="-2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the</a:t>
            </a:r>
            <a:r>
              <a:rPr dirty="0" sz="1200" spc="-2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top</a:t>
            </a:r>
            <a:r>
              <a:rPr dirty="0" sz="1200" spc="-2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level.</a:t>
            </a:r>
            <a:r>
              <a:rPr dirty="0" sz="1200" spc="-2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Readable</a:t>
            </a:r>
            <a:r>
              <a:rPr dirty="0" sz="1200" spc="-5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anywhere,</a:t>
            </a:r>
            <a:r>
              <a:rPr dirty="0" sz="1200" spc="-2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including</a:t>
            </a:r>
            <a:r>
              <a:rPr dirty="0" sz="1200" spc="-6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2333"/>
                </a:solidFill>
                <a:latin typeface="Arial MT"/>
                <a:cs typeface="Arial MT"/>
              </a:rPr>
              <a:t>inside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functions.</a:t>
            </a:r>
            <a:r>
              <a:rPr dirty="0" sz="1200" spc="-5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tax_rate</a:t>
            </a:r>
            <a:r>
              <a:rPr dirty="0" sz="1200" spc="-2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2333"/>
                </a:solidFill>
                <a:latin typeface="Arial MT"/>
                <a:cs typeface="Arial MT"/>
              </a:rPr>
              <a:t>is</a:t>
            </a:r>
            <a:r>
              <a:rPr dirty="0" sz="1200" spc="-2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2333"/>
                </a:solidFill>
                <a:latin typeface="Arial MT"/>
                <a:cs typeface="Arial MT"/>
              </a:rPr>
              <a:t>global.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02919" y="5303520"/>
            <a:ext cx="6126480" cy="594360"/>
          </a:xfrm>
          <a:custGeom>
            <a:avLst/>
            <a:gdLst/>
            <a:ahLst/>
            <a:cxnLst/>
            <a:rect l="l" t="t" r="r" b="b"/>
            <a:pathLst>
              <a:path w="6126480" h="594360">
                <a:moveTo>
                  <a:pt x="6071615" y="0"/>
                </a:moveTo>
                <a:lnTo>
                  <a:pt x="54864" y="0"/>
                </a:lnTo>
                <a:lnTo>
                  <a:pt x="33507" y="4304"/>
                </a:lnTo>
                <a:lnTo>
                  <a:pt x="16068" y="16049"/>
                </a:lnTo>
                <a:lnTo>
                  <a:pt x="4311" y="33486"/>
                </a:lnTo>
                <a:lnTo>
                  <a:pt x="0" y="54863"/>
                </a:lnTo>
                <a:lnTo>
                  <a:pt x="0" y="539495"/>
                </a:lnTo>
                <a:lnTo>
                  <a:pt x="4311" y="560852"/>
                </a:lnTo>
                <a:lnTo>
                  <a:pt x="16068" y="578291"/>
                </a:lnTo>
                <a:lnTo>
                  <a:pt x="33507" y="590048"/>
                </a:lnTo>
                <a:lnTo>
                  <a:pt x="54864" y="594359"/>
                </a:lnTo>
                <a:lnTo>
                  <a:pt x="6071615" y="594359"/>
                </a:lnTo>
                <a:lnTo>
                  <a:pt x="6092993" y="590048"/>
                </a:lnTo>
                <a:lnTo>
                  <a:pt x="6110430" y="578291"/>
                </a:lnTo>
                <a:lnTo>
                  <a:pt x="6122175" y="560852"/>
                </a:lnTo>
                <a:lnTo>
                  <a:pt x="6126480" y="539495"/>
                </a:lnTo>
                <a:lnTo>
                  <a:pt x="6126480" y="54863"/>
                </a:lnTo>
                <a:lnTo>
                  <a:pt x="6122175" y="33486"/>
                </a:lnTo>
                <a:lnTo>
                  <a:pt x="6110430" y="16049"/>
                </a:lnTo>
                <a:lnTo>
                  <a:pt x="6092993" y="4304"/>
                </a:lnTo>
                <a:lnTo>
                  <a:pt x="6071615" y="0"/>
                </a:lnTo>
                <a:close/>
              </a:path>
            </a:pathLst>
          </a:custGeom>
          <a:solidFill>
            <a:srgbClr val="FFF7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718819" y="5492292"/>
            <a:ext cx="528066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6B530F"/>
                </a:solidFill>
                <a:latin typeface="Arial"/>
                <a:cs typeface="Arial"/>
              </a:rPr>
              <a:t>Keep</a:t>
            </a:r>
            <a:r>
              <a:rPr dirty="0" sz="1150" spc="-25" b="1">
                <a:solidFill>
                  <a:srgbClr val="6B530F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6B530F"/>
                </a:solidFill>
                <a:latin typeface="Arial"/>
                <a:cs typeface="Arial"/>
              </a:rPr>
              <a:t>it</a:t>
            </a:r>
            <a:r>
              <a:rPr dirty="0" sz="1150" spc="-5" b="1">
                <a:solidFill>
                  <a:srgbClr val="6B530F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6B530F"/>
                </a:solidFill>
                <a:latin typeface="Arial"/>
                <a:cs typeface="Arial"/>
              </a:rPr>
              <a:t>local.</a:t>
            </a:r>
            <a:r>
              <a:rPr dirty="0" sz="1150" spc="305" b="1">
                <a:solidFill>
                  <a:srgbClr val="6B530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6B530F"/>
                </a:solidFill>
                <a:latin typeface="Arial MT"/>
                <a:cs typeface="Arial MT"/>
              </a:rPr>
              <a:t>Local</a:t>
            </a:r>
            <a:r>
              <a:rPr dirty="0" sz="1150" spc="-2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6B530F"/>
                </a:solidFill>
                <a:latin typeface="Arial MT"/>
                <a:cs typeface="Arial MT"/>
              </a:rPr>
              <a:t>variables</a:t>
            </a:r>
            <a:r>
              <a:rPr dirty="0" sz="1150" spc="-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6B530F"/>
                </a:solidFill>
                <a:latin typeface="Arial MT"/>
                <a:cs typeface="Arial MT"/>
              </a:rPr>
              <a:t>prevent</a:t>
            </a:r>
            <a:r>
              <a:rPr dirty="0" sz="1150" spc="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6B530F"/>
                </a:solidFill>
                <a:latin typeface="Arial MT"/>
                <a:cs typeface="Arial MT"/>
              </a:rPr>
              <a:t>bugs</a:t>
            </a:r>
            <a:r>
              <a:rPr dirty="0" sz="1150" spc="-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6B530F"/>
                </a:solidFill>
                <a:latin typeface="Arial MT"/>
                <a:cs typeface="Arial MT"/>
              </a:rPr>
              <a:t>by</a:t>
            </a:r>
            <a:r>
              <a:rPr dirty="0" sz="1150" spc="-20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6B530F"/>
                </a:solidFill>
                <a:latin typeface="Arial MT"/>
                <a:cs typeface="Arial MT"/>
              </a:rPr>
              <a:t>keeping</a:t>
            </a:r>
            <a:r>
              <a:rPr dirty="0" sz="1150" spc="-2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6B530F"/>
                </a:solidFill>
                <a:latin typeface="Arial MT"/>
                <a:cs typeface="Arial MT"/>
              </a:rPr>
              <a:t>a</a:t>
            </a:r>
            <a:r>
              <a:rPr dirty="0" sz="1150" spc="-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6B530F"/>
                </a:solidFill>
                <a:latin typeface="Arial MT"/>
                <a:cs typeface="Arial MT"/>
              </a:rPr>
              <a:t>function</a:t>
            </a:r>
            <a:r>
              <a:rPr dirty="0" sz="1150" spc="-35">
                <a:solidFill>
                  <a:srgbClr val="6B530F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6B530F"/>
                </a:solidFill>
                <a:latin typeface="Arial MT"/>
                <a:cs typeface="Arial MT"/>
              </a:rPr>
              <a:t>self-</a:t>
            </a:r>
            <a:r>
              <a:rPr dirty="0" sz="1150" spc="-10">
                <a:solidFill>
                  <a:srgbClr val="6B530F"/>
                </a:solidFill>
                <a:latin typeface="Arial MT"/>
                <a:cs typeface="Arial MT"/>
              </a:rPr>
              <a:t>contained.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Property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IBT</a:t>
            </a:r>
            <a:r>
              <a:rPr dirty="0" spc="-35"/>
              <a:t> </a:t>
            </a:r>
            <a:r>
              <a:rPr dirty="0"/>
              <a:t>College</a:t>
            </a:r>
            <a:r>
              <a:rPr dirty="0" spc="-15"/>
              <a:t> </a:t>
            </a:r>
            <a:r>
              <a:rPr dirty="0" spc="-10"/>
              <a:t>Canada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23</a:t>
            </a:fld>
            <a:r>
              <a:rPr dirty="0"/>
              <a:t> /</a:t>
            </a:r>
            <a:r>
              <a:rPr dirty="0" spc="-10"/>
              <a:t> </a:t>
            </a:r>
            <a:r>
              <a:rPr dirty="0" spc="-25"/>
              <a:t>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343915"/>
            <a:ext cx="8985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U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M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M</a:t>
            </a:r>
            <a:r>
              <a:rPr dirty="0" sz="1100" spc="-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A</a:t>
            </a:r>
            <a:r>
              <a:rPr dirty="0" sz="1100" spc="-14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R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D39F27"/>
                </a:solidFill>
                <a:latin typeface="Arial"/>
                <a:cs typeface="Arial"/>
              </a:rPr>
              <a:t>Y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Day</a:t>
            </a:r>
            <a:r>
              <a:rPr dirty="0" spc="-35"/>
              <a:t> </a:t>
            </a:r>
            <a:r>
              <a:rPr dirty="0"/>
              <a:t>2</a:t>
            </a:r>
            <a:r>
              <a:rPr dirty="0" spc="-15"/>
              <a:t> </a:t>
            </a:r>
            <a:r>
              <a:rPr dirty="0"/>
              <a:t>in</a:t>
            </a:r>
            <a:r>
              <a:rPr dirty="0" spc="-5"/>
              <a:t> </a:t>
            </a:r>
            <a:r>
              <a:rPr dirty="0" spc="-10"/>
              <a:t>Review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70842" y="1568048"/>
            <a:ext cx="3639185" cy="2073910"/>
            <a:chOff x="470842" y="1568048"/>
            <a:chExt cx="3639185" cy="20739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42" y="1568048"/>
              <a:ext cx="3638696" cy="207362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2920" y="1600199"/>
              <a:ext cx="3545840" cy="1965960"/>
            </a:xfrm>
            <a:custGeom>
              <a:avLst/>
              <a:gdLst/>
              <a:ahLst/>
              <a:cxnLst/>
              <a:rect l="l" t="t" r="r" b="b"/>
              <a:pathLst>
                <a:path w="3545840" h="1965960">
                  <a:moveTo>
                    <a:pt x="347256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1892808"/>
                  </a:lnTo>
                  <a:lnTo>
                    <a:pt x="5748" y="1921275"/>
                  </a:lnTo>
                  <a:lnTo>
                    <a:pt x="21426" y="1944528"/>
                  </a:lnTo>
                  <a:lnTo>
                    <a:pt x="44678" y="1960209"/>
                  </a:lnTo>
                  <a:lnTo>
                    <a:pt x="73151" y="1965960"/>
                  </a:lnTo>
                  <a:lnTo>
                    <a:pt x="3472560" y="1965960"/>
                  </a:lnTo>
                  <a:lnTo>
                    <a:pt x="3501028" y="1960209"/>
                  </a:lnTo>
                  <a:lnTo>
                    <a:pt x="3524281" y="1944528"/>
                  </a:lnTo>
                  <a:lnTo>
                    <a:pt x="3539962" y="1921275"/>
                  </a:lnTo>
                  <a:lnTo>
                    <a:pt x="3545713" y="1892808"/>
                  </a:lnTo>
                  <a:lnTo>
                    <a:pt x="3545713" y="73151"/>
                  </a:lnTo>
                  <a:lnTo>
                    <a:pt x="3539962" y="44684"/>
                  </a:lnTo>
                  <a:lnTo>
                    <a:pt x="3524281" y="21431"/>
                  </a:lnTo>
                  <a:lnTo>
                    <a:pt x="3501028" y="5750"/>
                  </a:lnTo>
                  <a:lnTo>
                    <a:pt x="347256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31520" y="18287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0"/>
                  </a:move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4" y="317575"/>
                  </a:lnTo>
                  <a:lnTo>
                    <a:pt x="39041" y="356406"/>
                  </a:lnTo>
                  <a:lnTo>
                    <a:pt x="66955" y="390239"/>
                  </a:lnTo>
                  <a:lnTo>
                    <a:pt x="100788" y="418154"/>
                  </a:lnTo>
                  <a:lnTo>
                    <a:pt x="139619" y="439233"/>
                  </a:lnTo>
                  <a:lnTo>
                    <a:pt x="182529" y="452555"/>
                  </a:lnTo>
                  <a:lnTo>
                    <a:pt x="228599" y="457200"/>
                  </a:lnTo>
                  <a:lnTo>
                    <a:pt x="274670" y="452555"/>
                  </a:lnTo>
                  <a:lnTo>
                    <a:pt x="317580" y="439233"/>
                  </a:lnTo>
                  <a:lnTo>
                    <a:pt x="356411" y="418154"/>
                  </a:lnTo>
                  <a:lnTo>
                    <a:pt x="390244" y="390239"/>
                  </a:lnTo>
                  <a:lnTo>
                    <a:pt x="418158" y="356406"/>
                  </a:lnTo>
                  <a:lnTo>
                    <a:pt x="439235" y="317575"/>
                  </a:lnTo>
                  <a:lnTo>
                    <a:pt x="452555" y="274666"/>
                  </a:lnTo>
                  <a:lnTo>
                    <a:pt x="457199" y="228600"/>
                  </a:lnTo>
                  <a:lnTo>
                    <a:pt x="452555" y="182533"/>
                  </a:lnTo>
                  <a:lnTo>
                    <a:pt x="439235" y="139624"/>
                  </a:lnTo>
                  <a:lnTo>
                    <a:pt x="418158" y="100793"/>
                  </a:lnTo>
                  <a:lnTo>
                    <a:pt x="390244" y="66960"/>
                  </a:lnTo>
                  <a:lnTo>
                    <a:pt x="356411" y="39045"/>
                  </a:lnTo>
                  <a:lnTo>
                    <a:pt x="317580" y="17966"/>
                  </a:lnTo>
                  <a:lnTo>
                    <a:pt x="274670" y="4644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2D5C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891336" y="1912061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13433" y="1954733"/>
            <a:ext cx="149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091F3C"/>
                </a:solidFill>
                <a:latin typeface="Arial"/>
                <a:cs typeface="Arial"/>
              </a:rPr>
              <a:t>Variables</a:t>
            </a:r>
            <a:r>
              <a:rPr dirty="0" sz="1400" spc="-3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91F3C"/>
                </a:solidFill>
                <a:latin typeface="Arial"/>
                <a:cs typeface="Arial"/>
              </a:rPr>
              <a:t>&amp;</a:t>
            </a:r>
            <a:r>
              <a:rPr dirty="0" sz="1400" spc="-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091F3C"/>
                </a:solidFill>
                <a:latin typeface="Arial"/>
                <a:cs typeface="Arial"/>
              </a:rPr>
              <a:t>types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8819" y="2406523"/>
            <a:ext cx="3001010" cy="37211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340"/>
              </a:lnSpc>
              <a:spcBef>
                <a:spcPts val="180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Store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data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with names;</a:t>
            </a:r>
            <a:r>
              <a:rPr dirty="0" sz="1150" spc="-4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int,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float,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str,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bool,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and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None.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89997" y="1568048"/>
            <a:ext cx="3640454" cy="2073910"/>
            <a:chOff x="4289997" y="1568048"/>
            <a:chExt cx="3640454" cy="207391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89997" y="1568048"/>
              <a:ext cx="3640198" cy="207362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322952" y="1600199"/>
              <a:ext cx="3545840" cy="1965960"/>
            </a:xfrm>
            <a:custGeom>
              <a:avLst/>
              <a:gdLst/>
              <a:ahLst/>
              <a:cxnLst/>
              <a:rect l="l" t="t" r="r" b="b"/>
              <a:pathLst>
                <a:path w="3545840" h="1965960">
                  <a:moveTo>
                    <a:pt x="347256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892808"/>
                  </a:lnTo>
                  <a:lnTo>
                    <a:pt x="5750" y="1921275"/>
                  </a:lnTo>
                  <a:lnTo>
                    <a:pt x="21431" y="1944528"/>
                  </a:lnTo>
                  <a:lnTo>
                    <a:pt x="44684" y="1960209"/>
                  </a:lnTo>
                  <a:lnTo>
                    <a:pt x="73151" y="1965960"/>
                  </a:lnTo>
                  <a:lnTo>
                    <a:pt x="3472561" y="1965960"/>
                  </a:lnTo>
                  <a:lnTo>
                    <a:pt x="3501082" y="1960209"/>
                  </a:lnTo>
                  <a:lnTo>
                    <a:pt x="3524329" y="1944528"/>
                  </a:lnTo>
                  <a:lnTo>
                    <a:pt x="3539980" y="1921275"/>
                  </a:lnTo>
                  <a:lnTo>
                    <a:pt x="3545713" y="1892808"/>
                  </a:lnTo>
                  <a:lnTo>
                    <a:pt x="3545713" y="73151"/>
                  </a:lnTo>
                  <a:lnTo>
                    <a:pt x="3539980" y="44684"/>
                  </a:lnTo>
                  <a:lnTo>
                    <a:pt x="3524329" y="21431"/>
                  </a:lnTo>
                  <a:lnTo>
                    <a:pt x="3501082" y="5750"/>
                  </a:lnTo>
                  <a:lnTo>
                    <a:pt x="3472561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51552" y="18287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1B797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711700" y="1912061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33847" y="1954733"/>
            <a:ext cx="877569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091F3C"/>
                </a:solidFill>
                <a:latin typeface="Arial"/>
                <a:cs typeface="Arial"/>
              </a:rPr>
              <a:t>Operators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39488" y="2406523"/>
            <a:ext cx="2782570" cy="37211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340"/>
              </a:lnSpc>
              <a:spcBef>
                <a:spcPts val="180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Arithmetic</a:t>
            </a:r>
            <a:r>
              <a:rPr dirty="0" sz="1150" spc="-4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(+</a:t>
            </a:r>
            <a:r>
              <a:rPr dirty="0" sz="1150" spc="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-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*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/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//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%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**), comparison,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and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logical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(and/or/not).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110666" y="1568048"/>
            <a:ext cx="3640454" cy="2073910"/>
            <a:chOff x="8110666" y="1568048"/>
            <a:chExt cx="3640454" cy="2073910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10666" y="1568048"/>
              <a:ext cx="3640198" cy="207362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142986" y="1600199"/>
              <a:ext cx="3545840" cy="1965960"/>
            </a:xfrm>
            <a:custGeom>
              <a:avLst/>
              <a:gdLst/>
              <a:ahLst/>
              <a:cxnLst/>
              <a:rect l="l" t="t" r="r" b="b"/>
              <a:pathLst>
                <a:path w="3545840" h="1965960">
                  <a:moveTo>
                    <a:pt x="3472688" y="0"/>
                  </a:moveTo>
                  <a:lnTo>
                    <a:pt x="73152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892808"/>
                  </a:lnTo>
                  <a:lnTo>
                    <a:pt x="5750" y="1921275"/>
                  </a:lnTo>
                  <a:lnTo>
                    <a:pt x="21431" y="1944528"/>
                  </a:lnTo>
                  <a:lnTo>
                    <a:pt x="44684" y="1960209"/>
                  </a:lnTo>
                  <a:lnTo>
                    <a:pt x="73152" y="1965960"/>
                  </a:lnTo>
                  <a:lnTo>
                    <a:pt x="3472688" y="1965960"/>
                  </a:lnTo>
                  <a:lnTo>
                    <a:pt x="3501155" y="1960209"/>
                  </a:lnTo>
                  <a:lnTo>
                    <a:pt x="3524408" y="1944528"/>
                  </a:lnTo>
                  <a:lnTo>
                    <a:pt x="3540089" y="1921275"/>
                  </a:lnTo>
                  <a:lnTo>
                    <a:pt x="3545840" y="1892808"/>
                  </a:lnTo>
                  <a:lnTo>
                    <a:pt x="3545840" y="73151"/>
                  </a:lnTo>
                  <a:lnTo>
                    <a:pt x="3540089" y="44684"/>
                  </a:lnTo>
                  <a:lnTo>
                    <a:pt x="3524408" y="21431"/>
                  </a:lnTo>
                  <a:lnTo>
                    <a:pt x="3501155" y="5750"/>
                  </a:lnTo>
                  <a:lnTo>
                    <a:pt x="3472688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371586" y="18287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703" y="452555"/>
                  </a:lnTo>
                  <a:lnTo>
                    <a:pt x="317628" y="439233"/>
                  </a:lnTo>
                  <a:lnTo>
                    <a:pt x="356461" y="418154"/>
                  </a:lnTo>
                  <a:lnTo>
                    <a:pt x="390286" y="390239"/>
                  </a:lnTo>
                  <a:lnTo>
                    <a:pt x="418188" y="356406"/>
                  </a:lnTo>
                  <a:lnTo>
                    <a:pt x="439251" y="317575"/>
                  </a:lnTo>
                  <a:lnTo>
                    <a:pt x="452560" y="274666"/>
                  </a:lnTo>
                  <a:lnTo>
                    <a:pt x="457200" y="228600"/>
                  </a:lnTo>
                  <a:lnTo>
                    <a:pt x="452560" y="182533"/>
                  </a:lnTo>
                  <a:lnTo>
                    <a:pt x="439251" y="139624"/>
                  </a:lnTo>
                  <a:lnTo>
                    <a:pt x="418188" y="100793"/>
                  </a:lnTo>
                  <a:lnTo>
                    <a:pt x="390286" y="66960"/>
                  </a:lnTo>
                  <a:lnTo>
                    <a:pt x="356461" y="39045"/>
                  </a:lnTo>
                  <a:lnTo>
                    <a:pt x="317628" y="17966"/>
                  </a:lnTo>
                  <a:lnTo>
                    <a:pt x="274703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792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8532368" y="1912061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954516" y="1954733"/>
            <a:ext cx="110299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091F3C"/>
                </a:solidFill>
                <a:latin typeface="Arial"/>
                <a:cs typeface="Arial"/>
              </a:rPr>
              <a:t>Conditionals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60156" y="2406523"/>
            <a:ext cx="2618105" cy="37211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340"/>
              </a:lnSpc>
              <a:spcBef>
                <a:spcPts val="180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if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/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elif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/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else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run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different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code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based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on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True/False.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70842" y="3808341"/>
            <a:ext cx="3639185" cy="2073910"/>
            <a:chOff x="470842" y="3808341"/>
            <a:chExt cx="3639185" cy="2073910"/>
          </a:xfrm>
        </p:grpSpPr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0842" y="3808341"/>
              <a:ext cx="3638696" cy="207362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02920" y="3840479"/>
              <a:ext cx="3545840" cy="1965960"/>
            </a:xfrm>
            <a:custGeom>
              <a:avLst/>
              <a:gdLst/>
              <a:ahLst/>
              <a:cxnLst/>
              <a:rect l="l" t="t" r="r" b="b"/>
              <a:pathLst>
                <a:path w="3545840" h="1965960">
                  <a:moveTo>
                    <a:pt x="347256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2"/>
                  </a:lnTo>
                  <a:lnTo>
                    <a:pt x="0" y="1892808"/>
                  </a:lnTo>
                  <a:lnTo>
                    <a:pt x="5748" y="1921281"/>
                  </a:lnTo>
                  <a:lnTo>
                    <a:pt x="21426" y="1944533"/>
                  </a:lnTo>
                  <a:lnTo>
                    <a:pt x="44678" y="1960211"/>
                  </a:lnTo>
                  <a:lnTo>
                    <a:pt x="73151" y="1965960"/>
                  </a:lnTo>
                  <a:lnTo>
                    <a:pt x="3472560" y="1965960"/>
                  </a:lnTo>
                  <a:lnTo>
                    <a:pt x="3501028" y="1960211"/>
                  </a:lnTo>
                  <a:lnTo>
                    <a:pt x="3524281" y="1944533"/>
                  </a:lnTo>
                  <a:lnTo>
                    <a:pt x="3539962" y="1921281"/>
                  </a:lnTo>
                  <a:lnTo>
                    <a:pt x="3545713" y="1892808"/>
                  </a:lnTo>
                  <a:lnTo>
                    <a:pt x="3545713" y="73152"/>
                  </a:lnTo>
                  <a:lnTo>
                    <a:pt x="3539962" y="44684"/>
                  </a:lnTo>
                  <a:lnTo>
                    <a:pt x="3524281" y="21431"/>
                  </a:lnTo>
                  <a:lnTo>
                    <a:pt x="3501028" y="5750"/>
                  </a:lnTo>
                  <a:lnTo>
                    <a:pt x="347256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31520" y="406907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0"/>
                  </a:move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4" y="317575"/>
                  </a:lnTo>
                  <a:lnTo>
                    <a:pt x="39041" y="356406"/>
                  </a:lnTo>
                  <a:lnTo>
                    <a:pt x="66955" y="390239"/>
                  </a:lnTo>
                  <a:lnTo>
                    <a:pt x="100788" y="418154"/>
                  </a:lnTo>
                  <a:lnTo>
                    <a:pt x="139619" y="439233"/>
                  </a:lnTo>
                  <a:lnTo>
                    <a:pt x="182529" y="452555"/>
                  </a:lnTo>
                  <a:lnTo>
                    <a:pt x="228599" y="457200"/>
                  </a:lnTo>
                  <a:lnTo>
                    <a:pt x="274670" y="452555"/>
                  </a:lnTo>
                  <a:lnTo>
                    <a:pt x="317580" y="439233"/>
                  </a:lnTo>
                  <a:lnTo>
                    <a:pt x="356411" y="418154"/>
                  </a:lnTo>
                  <a:lnTo>
                    <a:pt x="390244" y="390239"/>
                  </a:lnTo>
                  <a:lnTo>
                    <a:pt x="418158" y="356406"/>
                  </a:lnTo>
                  <a:lnTo>
                    <a:pt x="439235" y="317575"/>
                  </a:lnTo>
                  <a:lnTo>
                    <a:pt x="452555" y="274666"/>
                  </a:lnTo>
                  <a:lnTo>
                    <a:pt x="457199" y="228600"/>
                  </a:lnTo>
                  <a:lnTo>
                    <a:pt x="452555" y="182533"/>
                  </a:lnTo>
                  <a:lnTo>
                    <a:pt x="439235" y="139624"/>
                  </a:lnTo>
                  <a:lnTo>
                    <a:pt x="418158" y="100793"/>
                  </a:lnTo>
                  <a:lnTo>
                    <a:pt x="390244" y="66960"/>
                  </a:lnTo>
                  <a:lnTo>
                    <a:pt x="356411" y="39045"/>
                  </a:lnTo>
                  <a:lnTo>
                    <a:pt x="317580" y="17966"/>
                  </a:lnTo>
                  <a:lnTo>
                    <a:pt x="274670" y="4644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6B3E9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891336" y="4153280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13433" y="4195952"/>
            <a:ext cx="5568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091F3C"/>
                </a:solidFill>
                <a:latin typeface="Arial"/>
                <a:cs typeface="Arial"/>
              </a:rPr>
              <a:t>Loops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18819" y="4647057"/>
            <a:ext cx="3026410" cy="37211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340"/>
              </a:lnSpc>
              <a:spcBef>
                <a:spcPts val="180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while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repeats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on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a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condition;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for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walks a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range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or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list.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289997" y="3808341"/>
            <a:ext cx="3640454" cy="2073910"/>
            <a:chOff x="4289997" y="3808341"/>
            <a:chExt cx="3640454" cy="2073910"/>
          </a:xfrm>
        </p:grpSpPr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89997" y="3808341"/>
              <a:ext cx="3640198" cy="2073623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322952" y="3840479"/>
              <a:ext cx="3545840" cy="1965960"/>
            </a:xfrm>
            <a:custGeom>
              <a:avLst/>
              <a:gdLst/>
              <a:ahLst/>
              <a:cxnLst/>
              <a:rect l="l" t="t" r="r" b="b"/>
              <a:pathLst>
                <a:path w="3545840" h="1965960">
                  <a:moveTo>
                    <a:pt x="347256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1892808"/>
                  </a:lnTo>
                  <a:lnTo>
                    <a:pt x="5750" y="1921281"/>
                  </a:lnTo>
                  <a:lnTo>
                    <a:pt x="21431" y="1944533"/>
                  </a:lnTo>
                  <a:lnTo>
                    <a:pt x="44684" y="1960211"/>
                  </a:lnTo>
                  <a:lnTo>
                    <a:pt x="73151" y="1965960"/>
                  </a:lnTo>
                  <a:lnTo>
                    <a:pt x="3472561" y="1965960"/>
                  </a:lnTo>
                  <a:lnTo>
                    <a:pt x="3501082" y="1960211"/>
                  </a:lnTo>
                  <a:lnTo>
                    <a:pt x="3524329" y="1944533"/>
                  </a:lnTo>
                  <a:lnTo>
                    <a:pt x="3539980" y="1921281"/>
                  </a:lnTo>
                  <a:lnTo>
                    <a:pt x="3545713" y="1892808"/>
                  </a:lnTo>
                  <a:lnTo>
                    <a:pt x="3545713" y="73152"/>
                  </a:lnTo>
                  <a:lnTo>
                    <a:pt x="3539980" y="44684"/>
                  </a:lnTo>
                  <a:lnTo>
                    <a:pt x="3524329" y="21431"/>
                  </a:lnTo>
                  <a:lnTo>
                    <a:pt x="3501082" y="5750"/>
                  </a:lnTo>
                  <a:lnTo>
                    <a:pt x="3472561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551552" y="406907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2D8A5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4711700" y="4153280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133847" y="4195952"/>
            <a:ext cx="8750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091F3C"/>
                </a:solidFill>
                <a:latin typeface="Arial"/>
                <a:cs typeface="Arial"/>
              </a:rPr>
              <a:t>Functions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539488" y="4647057"/>
            <a:ext cx="2931795" cy="37211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340"/>
              </a:lnSpc>
              <a:spcBef>
                <a:spcPts val="180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def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packages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reusable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code</a:t>
            </a:r>
            <a:r>
              <a:rPr dirty="0" sz="11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with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 parameters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and</a:t>
            </a:r>
            <a:r>
              <a:rPr dirty="0" sz="11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return.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110666" y="3808341"/>
            <a:ext cx="3640454" cy="2073910"/>
            <a:chOff x="8110666" y="3808341"/>
            <a:chExt cx="3640454" cy="2073910"/>
          </a:xfrm>
        </p:grpSpPr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10666" y="3808341"/>
              <a:ext cx="3640198" cy="2073623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8142986" y="3840479"/>
              <a:ext cx="3545840" cy="1965960"/>
            </a:xfrm>
            <a:custGeom>
              <a:avLst/>
              <a:gdLst/>
              <a:ahLst/>
              <a:cxnLst/>
              <a:rect l="l" t="t" r="r" b="b"/>
              <a:pathLst>
                <a:path w="3545840" h="1965960">
                  <a:moveTo>
                    <a:pt x="3472688" y="0"/>
                  </a:moveTo>
                  <a:lnTo>
                    <a:pt x="73152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1892808"/>
                  </a:lnTo>
                  <a:lnTo>
                    <a:pt x="5750" y="1921281"/>
                  </a:lnTo>
                  <a:lnTo>
                    <a:pt x="21431" y="1944533"/>
                  </a:lnTo>
                  <a:lnTo>
                    <a:pt x="44684" y="1960211"/>
                  </a:lnTo>
                  <a:lnTo>
                    <a:pt x="73152" y="1965960"/>
                  </a:lnTo>
                  <a:lnTo>
                    <a:pt x="3472688" y="1965960"/>
                  </a:lnTo>
                  <a:lnTo>
                    <a:pt x="3501155" y="1960211"/>
                  </a:lnTo>
                  <a:lnTo>
                    <a:pt x="3524408" y="1944533"/>
                  </a:lnTo>
                  <a:lnTo>
                    <a:pt x="3540089" y="1921281"/>
                  </a:lnTo>
                  <a:lnTo>
                    <a:pt x="3545840" y="1892808"/>
                  </a:lnTo>
                  <a:lnTo>
                    <a:pt x="3545840" y="73152"/>
                  </a:lnTo>
                  <a:lnTo>
                    <a:pt x="3540089" y="44684"/>
                  </a:lnTo>
                  <a:lnTo>
                    <a:pt x="3524408" y="21431"/>
                  </a:lnTo>
                  <a:lnTo>
                    <a:pt x="3501155" y="5750"/>
                  </a:lnTo>
                  <a:lnTo>
                    <a:pt x="3472688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8371586" y="406907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703" y="452555"/>
                  </a:lnTo>
                  <a:lnTo>
                    <a:pt x="317628" y="439233"/>
                  </a:lnTo>
                  <a:lnTo>
                    <a:pt x="356461" y="418154"/>
                  </a:lnTo>
                  <a:lnTo>
                    <a:pt x="390286" y="390239"/>
                  </a:lnTo>
                  <a:lnTo>
                    <a:pt x="418188" y="356406"/>
                  </a:lnTo>
                  <a:lnTo>
                    <a:pt x="439251" y="317575"/>
                  </a:lnTo>
                  <a:lnTo>
                    <a:pt x="452560" y="274666"/>
                  </a:lnTo>
                  <a:lnTo>
                    <a:pt x="457200" y="228600"/>
                  </a:lnTo>
                  <a:lnTo>
                    <a:pt x="452560" y="182533"/>
                  </a:lnTo>
                  <a:lnTo>
                    <a:pt x="439251" y="139624"/>
                  </a:lnTo>
                  <a:lnTo>
                    <a:pt x="418188" y="100793"/>
                  </a:lnTo>
                  <a:lnTo>
                    <a:pt x="390286" y="66960"/>
                  </a:lnTo>
                  <a:lnTo>
                    <a:pt x="356461" y="39045"/>
                  </a:lnTo>
                  <a:lnTo>
                    <a:pt x="317628" y="17966"/>
                  </a:lnTo>
                  <a:lnTo>
                    <a:pt x="274703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2A487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8532368" y="4153280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600">
              <a:latin typeface="Arial"/>
              <a:cs typeface="Arial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Property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IBT</a:t>
            </a:r>
            <a:r>
              <a:rPr dirty="0" spc="-35"/>
              <a:t> </a:t>
            </a:r>
            <a:r>
              <a:rPr dirty="0"/>
              <a:t>College</a:t>
            </a:r>
            <a:r>
              <a:rPr dirty="0" spc="-15"/>
              <a:t> </a:t>
            </a:r>
            <a:r>
              <a:rPr dirty="0" spc="-10"/>
              <a:t>Canada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23</a:t>
            </a:fld>
            <a:r>
              <a:rPr dirty="0"/>
              <a:t> /</a:t>
            </a:r>
            <a:r>
              <a:rPr dirty="0" spc="-10"/>
              <a:t> </a:t>
            </a:r>
            <a:r>
              <a:rPr dirty="0" spc="-25"/>
              <a:t>30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8954516" y="4195952"/>
            <a:ext cx="5594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091F3C"/>
                </a:solidFill>
                <a:latin typeface="Arial"/>
                <a:cs typeface="Arial"/>
              </a:rPr>
              <a:t>Scope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360156" y="4647057"/>
            <a:ext cx="3095625" cy="37211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340"/>
              </a:lnSpc>
              <a:spcBef>
                <a:spcPts val="180"/>
              </a:spcBef>
            </a:pP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Local</a:t>
            </a:r>
            <a:r>
              <a:rPr dirty="0" sz="11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variables</a:t>
            </a:r>
            <a:r>
              <a:rPr dirty="0" sz="11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live</a:t>
            </a:r>
            <a:r>
              <a:rPr dirty="0" sz="11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inside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functions;</a:t>
            </a:r>
            <a:r>
              <a:rPr dirty="0" sz="11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globals</a:t>
            </a:r>
            <a:r>
              <a:rPr dirty="0" sz="1150" spc="-25">
                <a:solidFill>
                  <a:srgbClr val="495468"/>
                </a:solidFill>
                <a:latin typeface="Arial MT"/>
                <a:cs typeface="Arial MT"/>
              </a:rPr>
              <a:t> are </a:t>
            </a:r>
            <a:r>
              <a:rPr dirty="0" sz="1150">
                <a:solidFill>
                  <a:srgbClr val="495468"/>
                </a:solidFill>
                <a:latin typeface="Arial MT"/>
                <a:cs typeface="Arial MT"/>
              </a:rPr>
              <a:t>seen</a:t>
            </a:r>
            <a:r>
              <a:rPr dirty="0" sz="11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495468"/>
                </a:solidFill>
                <a:latin typeface="Arial MT"/>
                <a:cs typeface="Arial MT"/>
              </a:rPr>
              <a:t>everywhere.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343915"/>
            <a:ext cx="281495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C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H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C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K</a:t>
            </a:r>
            <a:r>
              <a:rPr dirty="0" sz="1100" spc="4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Y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U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R</a:t>
            </a:r>
            <a:r>
              <a:rPr dirty="0" sz="1100" spc="38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U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D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R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A</a:t>
            </a:r>
            <a:r>
              <a:rPr dirty="0" sz="1100" spc="-14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D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I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D39F27"/>
                </a:solidFill>
                <a:latin typeface="Arial"/>
                <a:cs typeface="Arial"/>
              </a:rPr>
              <a:t>G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Review</a:t>
            </a:r>
            <a:r>
              <a:rPr dirty="0" spc="-15"/>
              <a:t> </a:t>
            </a:r>
            <a:r>
              <a:rPr dirty="0" spc="-10"/>
              <a:t>Questions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70867" y="1613870"/>
            <a:ext cx="5504180" cy="1342390"/>
            <a:chOff x="470867" y="1613870"/>
            <a:chExt cx="5504180" cy="13423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67" y="1613870"/>
              <a:ext cx="5504023" cy="134194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2919" y="1645920"/>
              <a:ext cx="5410200" cy="1234440"/>
            </a:xfrm>
            <a:custGeom>
              <a:avLst/>
              <a:gdLst/>
              <a:ahLst/>
              <a:cxnLst/>
              <a:rect l="l" t="t" r="r" b="b"/>
              <a:pathLst>
                <a:path w="5410200" h="1234439">
                  <a:moveTo>
                    <a:pt x="533692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1161288"/>
                  </a:lnTo>
                  <a:lnTo>
                    <a:pt x="5748" y="1189755"/>
                  </a:lnTo>
                  <a:lnTo>
                    <a:pt x="21426" y="1213008"/>
                  </a:lnTo>
                  <a:lnTo>
                    <a:pt x="44678" y="1228689"/>
                  </a:lnTo>
                  <a:lnTo>
                    <a:pt x="73151" y="1234439"/>
                  </a:lnTo>
                  <a:lnTo>
                    <a:pt x="5336920" y="1234439"/>
                  </a:lnTo>
                  <a:lnTo>
                    <a:pt x="5365388" y="1228689"/>
                  </a:lnTo>
                  <a:lnTo>
                    <a:pt x="5388641" y="1213008"/>
                  </a:lnTo>
                  <a:lnTo>
                    <a:pt x="5404322" y="1189755"/>
                  </a:lnTo>
                  <a:lnTo>
                    <a:pt x="5410072" y="1161288"/>
                  </a:lnTo>
                  <a:lnTo>
                    <a:pt x="5410072" y="73151"/>
                  </a:lnTo>
                  <a:lnTo>
                    <a:pt x="5404322" y="44684"/>
                  </a:lnTo>
                  <a:lnTo>
                    <a:pt x="5388641" y="21431"/>
                  </a:lnTo>
                  <a:lnTo>
                    <a:pt x="5365388" y="5750"/>
                  </a:lnTo>
                  <a:lnTo>
                    <a:pt x="533692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18819" y="1800809"/>
            <a:ext cx="38417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25" b="1">
                <a:solidFill>
                  <a:srgbClr val="6D8FB8"/>
                </a:solidFill>
                <a:latin typeface="Cambria"/>
                <a:cs typeface="Cambria"/>
              </a:rPr>
              <a:t>Q1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42033" y="2147442"/>
            <a:ext cx="382079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What</a:t>
            </a:r>
            <a:r>
              <a:rPr dirty="0" sz="1300" spc="-6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is</a:t>
            </a:r>
            <a:r>
              <a:rPr dirty="0" sz="1300" spc="-2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the</a:t>
            </a:r>
            <a:r>
              <a:rPr dirty="0" sz="1300" spc="-3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difference</a:t>
            </a:r>
            <a:r>
              <a:rPr dirty="0" sz="1300" spc="-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between</a:t>
            </a:r>
            <a:r>
              <a:rPr dirty="0" sz="1300" spc="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=</a:t>
            </a:r>
            <a:r>
              <a:rPr dirty="0" sz="1300" spc="-3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and</a:t>
            </a:r>
            <a:r>
              <a:rPr dirty="0" sz="1300" spc="-3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==</a:t>
            </a:r>
            <a:r>
              <a:rPr dirty="0" sz="1300" spc="-3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in</a:t>
            </a:r>
            <a:r>
              <a:rPr dirty="0" sz="1300" spc="-2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1A2333"/>
                </a:solidFill>
                <a:latin typeface="Arial MT"/>
                <a:cs typeface="Arial MT"/>
              </a:rPr>
              <a:t>Python?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246827" y="1613870"/>
            <a:ext cx="5504180" cy="1342390"/>
            <a:chOff x="6246827" y="1613870"/>
            <a:chExt cx="5504180" cy="134239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6827" y="1613870"/>
              <a:ext cx="5504023" cy="134194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278753" y="1645920"/>
              <a:ext cx="5410200" cy="1234440"/>
            </a:xfrm>
            <a:custGeom>
              <a:avLst/>
              <a:gdLst/>
              <a:ahLst/>
              <a:cxnLst/>
              <a:rect l="l" t="t" r="r" b="b"/>
              <a:pathLst>
                <a:path w="5410200" h="1234439">
                  <a:moveTo>
                    <a:pt x="533692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161288"/>
                  </a:lnTo>
                  <a:lnTo>
                    <a:pt x="5750" y="1189755"/>
                  </a:lnTo>
                  <a:lnTo>
                    <a:pt x="21431" y="1213008"/>
                  </a:lnTo>
                  <a:lnTo>
                    <a:pt x="44684" y="1228689"/>
                  </a:lnTo>
                  <a:lnTo>
                    <a:pt x="73151" y="1234439"/>
                  </a:lnTo>
                  <a:lnTo>
                    <a:pt x="5336921" y="1234439"/>
                  </a:lnTo>
                  <a:lnTo>
                    <a:pt x="5365388" y="1228689"/>
                  </a:lnTo>
                  <a:lnTo>
                    <a:pt x="5388641" y="1213008"/>
                  </a:lnTo>
                  <a:lnTo>
                    <a:pt x="5404322" y="1189755"/>
                  </a:lnTo>
                  <a:lnTo>
                    <a:pt x="5410073" y="1161288"/>
                  </a:lnTo>
                  <a:lnTo>
                    <a:pt x="5410073" y="73151"/>
                  </a:lnTo>
                  <a:lnTo>
                    <a:pt x="5404322" y="44684"/>
                  </a:lnTo>
                  <a:lnTo>
                    <a:pt x="5388641" y="21431"/>
                  </a:lnTo>
                  <a:lnTo>
                    <a:pt x="5365388" y="5750"/>
                  </a:lnTo>
                  <a:lnTo>
                    <a:pt x="5336921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495415" y="1800809"/>
            <a:ext cx="38417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25" b="1">
                <a:solidFill>
                  <a:srgbClr val="6D8FB8"/>
                </a:solidFill>
                <a:latin typeface="Cambria"/>
                <a:cs typeface="Cambria"/>
              </a:rPr>
              <a:t>Q2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18629" y="2052269"/>
            <a:ext cx="4069715" cy="4171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545"/>
              </a:lnSpc>
              <a:spcBef>
                <a:spcPts val="95"/>
              </a:spcBef>
            </a:pP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What</a:t>
            </a:r>
            <a:r>
              <a:rPr dirty="0" sz="1300" spc="-6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does</a:t>
            </a:r>
            <a:r>
              <a:rPr dirty="0" sz="1300" spc="-1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int("24")</a:t>
            </a:r>
            <a:r>
              <a:rPr dirty="0" sz="1300" spc="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do,</a:t>
            </a:r>
            <a:r>
              <a:rPr dirty="0" sz="1300" spc="-3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and</a:t>
            </a:r>
            <a:r>
              <a:rPr dirty="0" sz="1300" spc="-3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why</a:t>
            </a:r>
            <a:r>
              <a:rPr dirty="0" sz="1300" spc="-2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might</a:t>
            </a:r>
            <a:r>
              <a:rPr dirty="0" sz="1300" spc="-1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you</a:t>
            </a:r>
            <a:r>
              <a:rPr dirty="0" sz="1300" spc="-2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need</a:t>
            </a:r>
            <a:r>
              <a:rPr dirty="0" sz="1300" spc="-2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it</a:t>
            </a:r>
            <a:r>
              <a:rPr dirty="0" sz="1300" spc="-2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1A2333"/>
                </a:solidFill>
                <a:latin typeface="Arial MT"/>
                <a:cs typeface="Arial MT"/>
              </a:rPr>
              <a:t>after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ts val="1545"/>
              </a:lnSpc>
            </a:pPr>
            <a:r>
              <a:rPr dirty="0" sz="1300" spc="-10">
                <a:solidFill>
                  <a:srgbClr val="1A2333"/>
                </a:solidFill>
                <a:latin typeface="Arial MT"/>
                <a:cs typeface="Arial MT"/>
              </a:rPr>
              <a:t>input()?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70867" y="3104342"/>
            <a:ext cx="5504180" cy="1342390"/>
            <a:chOff x="470867" y="3104342"/>
            <a:chExt cx="5504180" cy="134239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67" y="3104342"/>
              <a:ext cx="5504023" cy="134194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02919" y="3136391"/>
              <a:ext cx="5410200" cy="1234440"/>
            </a:xfrm>
            <a:custGeom>
              <a:avLst/>
              <a:gdLst/>
              <a:ahLst/>
              <a:cxnLst/>
              <a:rect l="l" t="t" r="r" b="b"/>
              <a:pathLst>
                <a:path w="5410200" h="1234439">
                  <a:moveTo>
                    <a:pt x="533692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2"/>
                  </a:lnTo>
                  <a:lnTo>
                    <a:pt x="0" y="1161288"/>
                  </a:lnTo>
                  <a:lnTo>
                    <a:pt x="5748" y="1189755"/>
                  </a:lnTo>
                  <a:lnTo>
                    <a:pt x="21426" y="1213008"/>
                  </a:lnTo>
                  <a:lnTo>
                    <a:pt x="44678" y="1228689"/>
                  </a:lnTo>
                  <a:lnTo>
                    <a:pt x="73151" y="1234440"/>
                  </a:lnTo>
                  <a:lnTo>
                    <a:pt x="5336920" y="1234440"/>
                  </a:lnTo>
                  <a:lnTo>
                    <a:pt x="5365388" y="1228689"/>
                  </a:lnTo>
                  <a:lnTo>
                    <a:pt x="5388641" y="1213008"/>
                  </a:lnTo>
                  <a:lnTo>
                    <a:pt x="5404322" y="1189755"/>
                  </a:lnTo>
                  <a:lnTo>
                    <a:pt x="5410072" y="1161288"/>
                  </a:lnTo>
                  <a:lnTo>
                    <a:pt x="5410072" y="73152"/>
                  </a:lnTo>
                  <a:lnTo>
                    <a:pt x="5404322" y="44684"/>
                  </a:lnTo>
                  <a:lnTo>
                    <a:pt x="5388641" y="21431"/>
                  </a:lnTo>
                  <a:lnTo>
                    <a:pt x="5365388" y="5750"/>
                  </a:lnTo>
                  <a:lnTo>
                    <a:pt x="533692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718819" y="3291662"/>
            <a:ext cx="38417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25" b="1">
                <a:solidFill>
                  <a:srgbClr val="6D8FB8"/>
                </a:solidFill>
                <a:latin typeface="Cambria"/>
                <a:cs typeface="Cambria"/>
              </a:rPr>
              <a:t>Q3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42033" y="3637610"/>
            <a:ext cx="40697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When</a:t>
            </a:r>
            <a:r>
              <a:rPr dirty="0" sz="1300" spc="-5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would</a:t>
            </a:r>
            <a:r>
              <a:rPr dirty="0" sz="1300" spc="-2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you</a:t>
            </a:r>
            <a:r>
              <a:rPr dirty="0" sz="1300" spc="-1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use</a:t>
            </a:r>
            <a:r>
              <a:rPr dirty="0" sz="1300" spc="-1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a</a:t>
            </a:r>
            <a:r>
              <a:rPr dirty="0" sz="1300" spc="-3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while</a:t>
            </a:r>
            <a:r>
              <a:rPr dirty="0" sz="1300" spc="-1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loop</a:t>
            </a:r>
            <a:r>
              <a:rPr dirty="0" sz="1300" spc="-2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instead</a:t>
            </a:r>
            <a:r>
              <a:rPr dirty="0" sz="1300" spc="-1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of</a:t>
            </a:r>
            <a:r>
              <a:rPr dirty="0" sz="1300" spc="-2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a</a:t>
            </a:r>
            <a:r>
              <a:rPr dirty="0" sz="1300" spc="-3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for</a:t>
            </a:r>
            <a:r>
              <a:rPr dirty="0" sz="1300" spc="-1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1A2333"/>
                </a:solidFill>
                <a:latin typeface="Arial MT"/>
                <a:cs typeface="Arial MT"/>
              </a:rPr>
              <a:t>loop?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46827" y="3104342"/>
            <a:ext cx="5504180" cy="1342390"/>
            <a:chOff x="6246827" y="3104342"/>
            <a:chExt cx="5504180" cy="134239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6827" y="3104342"/>
              <a:ext cx="5504023" cy="134194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278753" y="3136391"/>
              <a:ext cx="5410200" cy="1234440"/>
            </a:xfrm>
            <a:custGeom>
              <a:avLst/>
              <a:gdLst/>
              <a:ahLst/>
              <a:cxnLst/>
              <a:rect l="l" t="t" r="r" b="b"/>
              <a:pathLst>
                <a:path w="5410200" h="1234439">
                  <a:moveTo>
                    <a:pt x="533692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1161288"/>
                  </a:lnTo>
                  <a:lnTo>
                    <a:pt x="5750" y="1189755"/>
                  </a:lnTo>
                  <a:lnTo>
                    <a:pt x="21431" y="1213008"/>
                  </a:lnTo>
                  <a:lnTo>
                    <a:pt x="44684" y="1228689"/>
                  </a:lnTo>
                  <a:lnTo>
                    <a:pt x="73151" y="1234440"/>
                  </a:lnTo>
                  <a:lnTo>
                    <a:pt x="5336921" y="1234440"/>
                  </a:lnTo>
                  <a:lnTo>
                    <a:pt x="5365388" y="1228689"/>
                  </a:lnTo>
                  <a:lnTo>
                    <a:pt x="5388641" y="1213008"/>
                  </a:lnTo>
                  <a:lnTo>
                    <a:pt x="5404322" y="1189755"/>
                  </a:lnTo>
                  <a:lnTo>
                    <a:pt x="5410073" y="1161288"/>
                  </a:lnTo>
                  <a:lnTo>
                    <a:pt x="5410073" y="73152"/>
                  </a:lnTo>
                  <a:lnTo>
                    <a:pt x="5404322" y="44684"/>
                  </a:lnTo>
                  <a:lnTo>
                    <a:pt x="5388641" y="21431"/>
                  </a:lnTo>
                  <a:lnTo>
                    <a:pt x="5365388" y="5750"/>
                  </a:lnTo>
                  <a:lnTo>
                    <a:pt x="5336921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495415" y="3291662"/>
            <a:ext cx="38417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25" b="1">
                <a:solidFill>
                  <a:srgbClr val="6D8FB8"/>
                </a:solidFill>
                <a:latin typeface="Cambria"/>
                <a:cs typeface="Cambria"/>
              </a:rPr>
              <a:t>Q4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318629" y="3637610"/>
            <a:ext cx="35306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What</a:t>
            </a:r>
            <a:r>
              <a:rPr dirty="0" sz="1300" spc="-6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does</a:t>
            </a:r>
            <a:r>
              <a:rPr dirty="0" sz="1300" spc="-1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range(1,</a:t>
            </a:r>
            <a:r>
              <a:rPr dirty="0" sz="1300" spc="-1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5)</a:t>
            </a:r>
            <a:r>
              <a:rPr dirty="0" sz="1300" spc="-2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produce, and</a:t>
            </a:r>
            <a:r>
              <a:rPr dirty="0" sz="1300" spc="-3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why</a:t>
            </a:r>
            <a:r>
              <a:rPr dirty="0" sz="1300" spc="-2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not</a:t>
            </a:r>
            <a:r>
              <a:rPr dirty="0" sz="1300" spc="-3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 spc="-25">
                <a:solidFill>
                  <a:srgbClr val="1A2333"/>
                </a:solidFill>
                <a:latin typeface="Arial MT"/>
                <a:cs typeface="Arial MT"/>
              </a:rPr>
              <a:t>5?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70867" y="4594789"/>
            <a:ext cx="5504180" cy="1342390"/>
            <a:chOff x="470867" y="4594789"/>
            <a:chExt cx="5504180" cy="1342390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67" y="4594789"/>
              <a:ext cx="5504023" cy="13419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02919" y="4626863"/>
              <a:ext cx="5410200" cy="1234440"/>
            </a:xfrm>
            <a:custGeom>
              <a:avLst/>
              <a:gdLst/>
              <a:ahLst/>
              <a:cxnLst/>
              <a:rect l="l" t="t" r="r" b="b"/>
              <a:pathLst>
                <a:path w="5410200" h="1234439">
                  <a:moveTo>
                    <a:pt x="533692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2"/>
                  </a:lnTo>
                  <a:lnTo>
                    <a:pt x="0" y="1161288"/>
                  </a:lnTo>
                  <a:lnTo>
                    <a:pt x="5748" y="1189761"/>
                  </a:lnTo>
                  <a:lnTo>
                    <a:pt x="21426" y="1213013"/>
                  </a:lnTo>
                  <a:lnTo>
                    <a:pt x="44678" y="1228691"/>
                  </a:lnTo>
                  <a:lnTo>
                    <a:pt x="73151" y="1234440"/>
                  </a:lnTo>
                  <a:lnTo>
                    <a:pt x="5336920" y="1234440"/>
                  </a:lnTo>
                  <a:lnTo>
                    <a:pt x="5365388" y="1228691"/>
                  </a:lnTo>
                  <a:lnTo>
                    <a:pt x="5388641" y="1213013"/>
                  </a:lnTo>
                  <a:lnTo>
                    <a:pt x="5404322" y="1189761"/>
                  </a:lnTo>
                  <a:lnTo>
                    <a:pt x="5410072" y="1161288"/>
                  </a:lnTo>
                  <a:lnTo>
                    <a:pt x="5410072" y="73152"/>
                  </a:lnTo>
                  <a:lnTo>
                    <a:pt x="5404322" y="44684"/>
                  </a:lnTo>
                  <a:lnTo>
                    <a:pt x="5388641" y="21431"/>
                  </a:lnTo>
                  <a:lnTo>
                    <a:pt x="5365388" y="5750"/>
                  </a:lnTo>
                  <a:lnTo>
                    <a:pt x="533692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718819" y="4782692"/>
            <a:ext cx="38417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25" b="1">
                <a:solidFill>
                  <a:srgbClr val="6D8FB8"/>
                </a:solidFill>
                <a:latin typeface="Cambria"/>
                <a:cs typeface="Cambria"/>
              </a:rPr>
              <a:t>Q5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42033" y="5033848"/>
            <a:ext cx="3693160" cy="4171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545"/>
              </a:lnSpc>
              <a:spcBef>
                <a:spcPts val="95"/>
              </a:spcBef>
            </a:pP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What</a:t>
            </a:r>
            <a:r>
              <a:rPr dirty="0" sz="1300" spc="-6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is</a:t>
            </a:r>
            <a:r>
              <a:rPr dirty="0" sz="1300" spc="-2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the</a:t>
            </a:r>
            <a:r>
              <a:rPr dirty="0" sz="1300" spc="-3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1A2333"/>
                </a:solidFill>
                <a:latin typeface="Arial MT"/>
                <a:cs typeface="Arial MT"/>
              </a:rPr>
              <a:t>difference</a:t>
            </a:r>
            <a:r>
              <a:rPr dirty="0" sz="1300" spc="-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between</a:t>
            </a:r>
            <a:r>
              <a:rPr dirty="0" sz="1300" spc="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a</a:t>
            </a:r>
            <a:r>
              <a:rPr dirty="0" sz="1300" spc="-2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parameter</a:t>
            </a:r>
            <a:r>
              <a:rPr dirty="0" sz="1300" spc="1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and</a:t>
            </a:r>
            <a:r>
              <a:rPr dirty="0" sz="1300" spc="-3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 spc="-50">
                <a:solidFill>
                  <a:srgbClr val="1A2333"/>
                </a:solidFill>
                <a:latin typeface="Arial MT"/>
                <a:cs typeface="Arial MT"/>
              </a:rPr>
              <a:t>a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ts val="1545"/>
              </a:lnSpc>
            </a:pP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return</a:t>
            </a:r>
            <a:r>
              <a:rPr dirty="0" sz="1300" spc="-3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1A2333"/>
                </a:solidFill>
                <a:latin typeface="Arial MT"/>
                <a:cs typeface="Arial MT"/>
              </a:rPr>
              <a:t>value?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246827" y="4594789"/>
            <a:ext cx="5504180" cy="1342390"/>
            <a:chOff x="6246827" y="4594789"/>
            <a:chExt cx="5504180" cy="1342390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6827" y="4594789"/>
              <a:ext cx="5504023" cy="134194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278753" y="4626863"/>
              <a:ext cx="5410200" cy="1234440"/>
            </a:xfrm>
            <a:custGeom>
              <a:avLst/>
              <a:gdLst/>
              <a:ahLst/>
              <a:cxnLst/>
              <a:rect l="l" t="t" r="r" b="b"/>
              <a:pathLst>
                <a:path w="5410200" h="1234439">
                  <a:moveTo>
                    <a:pt x="533692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1161288"/>
                  </a:lnTo>
                  <a:lnTo>
                    <a:pt x="5750" y="1189761"/>
                  </a:lnTo>
                  <a:lnTo>
                    <a:pt x="21431" y="1213013"/>
                  </a:lnTo>
                  <a:lnTo>
                    <a:pt x="44684" y="1228691"/>
                  </a:lnTo>
                  <a:lnTo>
                    <a:pt x="73151" y="1234440"/>
                  </a:lnTo>
                  <a:lnTo>
                    <a:pt x="5336921" y="1234440"/>
                  </a:lnTo>
                  <a:lnTo>
                    <a:pt x="5365388" y="1228691"/>
                  </a:lnTo>
                  <a:lnTo>
                    <a:pt x="5388641" y="1213013"/>
                  </a:lnTo>
                  <a:lnTo>
                    <a:pt x="5404322" y="1189761"/>
                  </a:lnTo>
                  <a:lnTo>
                    <a:pt x="5410073" y="1161288"/>
                  </a:lnTo>
                  <a:lnTo>
                    <a:pt x="5410073" y="73152"/>
                  </a:lnTo>
                  <a:lnTo>
                    <a:pt x="5404322" y="44684"/>
                  </a:lnTo>
                  <a:lnTo>
                    <a:pt x="5388641" y="21431"/>
                  </a:lnTo>
                  <a:lnTo>
                    <a:pt x="5365388" y="5750"/>
                  </a:lnTo>
                  <a:lnTo>
                    <a:pt x="5336921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6495415" y="4782692"/>
            <a:ext cx="38417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25" b="1">
                <a:solidFill>
                  <a:srgbClr val="6D8FB8"/>
                </a:solidFill>
                <a:latin typeface="Cambria"/>
                <a:cs typeface="Cambria"/>
              </a:rPr>
              <a:t>Q6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Property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IBT</a:t>
            </a:r>
            <a:r>
              <a:rPr dirty="0" spc="-35"/>
              <a:t> </a:t>
            </a:r>
            <a:r>
              <a:rPr dirty="0"/>
              <a:t>College</a:t>
            </a:r>
            <a:r>
              <a:rPr dirty="0" spc="-15"/>
              <a:t> </a:t>
            </a:r>
            <a:r>
              <a:rPr dirty="0" spc="-10"/>
              <a:t>Canada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23</a:t>
            </a:fld>
            <a:r>
              <a:rPr dirty="0"/>
              <a:t> /</a:t>
            </a:r>
            <a:r>
              <a:rPr dirty="0" spc="-10"/>
              <a:t> </a:t>
            </a:r>
            <a:r>
              <a:rPr dirty="0" spc="-25"/>
              <a:t>30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7318629" y="5033848"/>
            <a:ext cx="3700145" cy="4171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545"/>
              </a:lnSpc>
              <a:spcBef>
                <a:spcPts val="95"/>
              </a:spcBef>
            </a:pP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Why</a:t>
            </a:r>
            <a:r>
              <a:rPr dirty="0" sz="1300" spc="-7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can't</a:t>
            </a:r>
            <a:r>
              <a:rPr dirty="0" sz="1300" spc="-4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you</a:t>
            </a:r>
            <a:r>
              <a:rPr dirty="0" sz="1300" spc="-3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read</a:t>
            </a:r>
            <a:r>
              <a:rPr dirty="0" sz="1300" spc="-3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a</a:t>
            </a:r>
            <a:r>
              <a:rPr dirty="0" sz="1300" spc="-4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function's</a:t>
            </a:r>
            <a:r>
              <a:rPr dirty="0" sz="1300" spc="-2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local</a:t>
            </a:r>
            <a:r>
              <a:rPr dirty="0" sz="1300" spc="-4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variable</a:t>
            </a:r>
            <a:r>
              <a:rPr dirty="0" sz="1300" spc="-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 spc="-20">
                <a:solidFill>
                  <a:srgbClr val="1A2333"/>
                </a:solidFill>
                <a:latin typeface="Arial MT"/>
                <a:cs typeface="Arial MT"/>
              </a:rPr>
              <a:t>from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ts val="1545"/>
              </a:lnSpc>
            </a:pP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outside</a:t>
            </a:r>
            <a:r>
              <a:rPr dirty="0" sz="1300" spc="-5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 spc="-25">
                <a:solidFill>
                  <a:srgbClr val="1A2333"/>
                </a:solidFill>
                <a:latin typeface="Arial MT"/>
                <a:cs typeface="Arial MT"/>
              </a:rPr>
              <a:t>it?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343915"/>
            <a:ext cx="18618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H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U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R</a:t>
            </a:r>
            <a:r>
              <a:rPr dirty="0" sz="1100" spc="38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3</a:t>
            </a:r>
            <a:r>
              <a:rPr dirty="0" sz="1100" spc="39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·</a:t>
            </a:r>
            <a:r>
              <a:rPr dirty="0" sz="1100" spc="38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H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A</a:t>
            </a:r>
            <a:r>
              <a:rPr dirty="0" sz="1100" spc="-14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N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D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-8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-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75" b="1">
                <a:solidFill>
                  <a:srgbClr val="D39F27"/>
                </a:solidFill>
                <a:latin typeface="Arial"/>
                <a:cs typeface="Arial"/>
              </a:rPr>
              <a:t>ON 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In-</a:t>
            </a:r>
            <a:r>
              <a:rPr dirty="0"/>
              <a:t>Class</a:t>
            </a:r>
            <a:r>
              <a:rPr dirty="0" spc="-40"/>
              <a:t> </a:t>
            </a:r>
            <a:r>
              <a:rPr dirty="0"/>
              <a:t>Exercise</a:t>
            </a:r>
            <a:r>
              <a:rPr dirty="0" spc="-75"/>
              <a:t> </a:t>
            </a:r>
            <a:r>
              <a:rPr dirty="0"/>
              <a:t>—</a:t>
            </a:r>
            <a:r>
              <a:rPr dirty="0" spc="-55"/>
              <a:t> </a:t>
            </a:r>
            <a:r>
              <a:rPr dirty="0" spc="-20"/>
              <a:t>TeleBirr</a:t>
            </a:r>
            <a:r>
              <a:rPr dirty="0" spc="-55"/>
              <a:t> </a:t>
            </a:r>
            <a:r>
              <a:rPr dirty="0"/>
              <a:t>Tip</a:t>
            </a:r>
            <a:r>
              <a:rPr dirty="0" spc="-35"/>
              <a:t> </a:t>
            </a:r>
            <a:r>
              <a:rPr dirty="0" spc="-10"/>
              <a:t>Calculator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70870" y="1613889"/>
            <a:ext cx="6860540" cy="4359910"/>
            <a:chOff x="470870" y="1613889"/>
            <a:chExt cx="6860540" cy="43599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70" y="1613889"/>
              <a:ext cx="6860376" cy="435942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2919" y="1645920"/>
              <a:ext cx="6766559" cy="4251960"/>
            </a:xfrm>
            <a:custGeom>
              <a:avLst/>
              <a:gdLst/>
              <a:ahLst/>
              <a:cxnLst/>
              <a:rect l="l" t="t" r="r" b="b"/>
              <a:pathLst>
                <a:path w="6766559" h="4251960">
                  <a:moveTo>
                    <a:pt x="6693408" y="0"/>
                  </a:moveTo>
                  <a:lnTo>
                    <a:pt x="73139" y="0"/>
                  </a:lnTo>
                  <a:lnTo>
                    <a:pt x="44668" y="5750"/>
                  </a:lnTo>
                  <a:lnTo>
                    <a:pt x="21420" y="21431"/>
                  </a:lnTo>
                  <a:lnTo>
                    <a:pt x="5746" y="44684"/>
                  </a:lnTo>
                  <a:lnTo>
                    <a:pt x="0" y="73151"/>
                  </a:lnTo>
                  <a:lnTo>
                    <a:pt x="0" y="4178820"/>
                  </a:lnTo>
                  <a:lnTo>
                    <a:pt x="5746" y="4207291"/>
                  </a:lnTo>
                  <a:lnTo>
                    <a:pt x="21420" y="4230539"/>
                  </a:lnTo>
                  <a:lnTo>
                    <a:pt x="44668" y="4246213"/>
                  </a:lnTo>
                  <a:lnTo>
                    <a:pt x="73139" y="4251959"/>
                  </a:lnTo>
                  <a:lnTo>
                    <a:pt x="6693408" y="4251959"/>
                  </a:lnTo>
                  <a:lnTo>
                    <a:pt x="6721875" y="4246213"/>
                  </a:lnTo>
                  <a:lnTo>
                    <a:pt x="6745128" y="4230539"/>
                  </a:lnTo>
                  <a:lnTo>
                    <a:pt x="6760809" y="4207291"/>
                  </a:lnTo>
                  <a:lnTo>
                    <a:pt x="6766559" y="4178820"/>
                  </a:lnTo>
                  <a:lnTo>
                    <a:pt x="6766559" y="73151"/>
                  </a:lnTo>
                  <a:lnTo>
                    <a:pt x="6760809" y="44684"/>
                  </a:lnTo>
                  <a:lnTo>
                    <a:pt x="6745128" y="21431"/>
                  </a:lnTo>
                  <a:lnTo>
                    <a:pt x="6721875" y="5750"/>
                  </a:lnTo>
                  <a:lnTo>
                    <a:pt x="6693408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64540" y="1794885"/>
            <a:ext cx="6111875" cy="271272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1400" spc="45" b="1">
                <a:solidFill>
                  <a:srgbClr val="D39F27"/>
                </a:solidFill>
                <a:latin typeface="Arial"/>
                <a:cs typeface="Arial"/>
              </a:rPr>
              <a:t>Goal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ts val="1520"/>
              </a:lnSpc>
              <a:spcBef>
                <a:spcPts val="545"/>
              </a:spcBef>
            </a:pP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Write</a:t>
            </a:r>
            <a:r>
              <a:rPr dirty="0" sz="1300" spc="-6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a</a:t>
            </a:r>
            <a:r>
              <a:rPr dirty="0" sz="1300" spc="-3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small</a:t>
            </a:r>
            <a:r>
              <a:rPr dirty="0" sz="1300" spc="-3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Python</a:t>
            </a:r>
            <a:r>
              <a:rPr dirty="0" sz="1300" spc="-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program</a:t>
            </a:r>
            <a:r>
              <a:rPr dirty="0" sz="1300" spc="-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that</a:t>
            </a:r>
            <a:r>
              <a:rPr dirty="0" sz="1300" spc="-1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splits</a:t>
            </a:r>
            <a:r>
              <a:rPr dirty="0" sz="1300" spc="-3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a</a:t>
            </a:r>
            <a:r>
              <a:rPr dirty="0" sz="1300" spc="-2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restaurant</a:t>
            </a:r>
            <a:r>
              <a:rPr dirty="0" sz="1300" spc="-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bill</a:t>
            </a:r>
            <a:r>
              <a:rPr dirty="0" sz="1300" spc="-3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with</a:t>
            </a:r>
            <a:r>
              <a:rPr dirty="0" sz="1300" spc="-1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a</a:t>
            </a:r>
            <a:r>
              <a:rPr dirty="0" sz="1300" spc="-3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tip</a:t>
            </a:r>
            <a:r>
              <a:rPr dirty="0" sz="1300" spc="-3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across</a:t>
            </a:r>
            <a:r>
              <a:rPr dirty="0" sz="1300" spc="-1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friends</a:t>
            </a:r>
            <a:r>
              <a:rPr dirty="0" sz="1300" spc="1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 spc="-50">
                <a:solidFill>
                  <a:srgbClr val="1A2333"/>
                </a:solidFill>
                <a:latin typeface="Arial MT"/>
                <a:cs typeface="Arial MT"/>
              </a:rPr>
              <a:t>—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using</a:t>
            </a:r>
            <a:r>
              <a:rPr dirty="0" sz="1300" spc="-2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variables,</a:t>
            </a:r>
            <a:r>
              <a:rPr dirty="0" sz="1300" spc="-1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operators,</a:t>
            </a:r>
            <a:r>
              <a:rPr dirty="0" sz="1300" spc="-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a</a:t>
            </a:r>
            <a:r>
              <a:rPr dirty="0" sz="1300" spc="-30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function,</a:t>
            </a:r>
            <a:r>
              <a:rPr dirty="0" sz="1300" spc="-2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and</a:t>
            </a:r>
            <a:r>
              <a:rPr dirty="0" sz="1300" spc="-2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2333"/>
                </a:solidFill>
                <a:latin typeface="Arial MT"/>
                <a:cs typeface="Arial MT"/>
              </a:rPr>
              <a:t>a</a:t>
            </a:r>
            <a:r>
              <a:rPr dirty="0" sz="1300" spc="-35">
                <a:solidFill>
                  <a:srgbClr val="1A2333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1A2333"/>
                </a:solidFill>
                <a:latin typeface="Arial MT"/>
                <a:cs typeface="Arial MT"/>
              </a:rPr>
              <a:t>loop.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60" b="1">
                <a:solidFill>
                  <a:srgbClr val="D39F27"/>
                </a:solidFill>
                <a:latin typeface="Arial"/>
                <a:cs typeface="Arial"/>
              </a:rPr>
              <a:t>Steps</a:t>
            </a:r>
            <a:endParaRPr sz="1400">
              <a:latin typeface="Arial"/>
              <a:cs typeface="Arial"/>
            </a:endParaRPr>
          </a:p>
          <a:p>
            <a:pPr marL="492759" indent="-343535">
              <a:lnSpc>
                <a:spcPct val="100000"/>
              </a:lnSpc>
              <a:spcBef>
                <a:spcPts val="785"/>
              </a:spcBef>
              <a:buAutoNum type="arabicPeriod"/>
              <a:tabLst>
                <a:tab pos="492759" algn="l"/>
              </a:tabLst>
            </a:pP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Store</a:t>
            </a:r>
            <a:r>
              <a:rPr dirty="0" sz="12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a</a:t>
            </a:r>
            <a:r>
              <a:rPr dirty="0" sz="12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bill</a:t>
            </a:r>
            <a:r>
              <a:rPr dirty="0" sz="12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total</a:t>
            </a:r>
            <a:r>
              <a:rPr dirty="0" sz="12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(ETB)</a:t>
            </a:r>
            <a:r>
              <a:rPr dirty="0" sz="12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and</a:t>
            </a:r>
            <a:r>
              <a:rPr dirty="0" sz="12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number</a:t>
            </a:r>
            <a:r>
              <a:rPr dirty="0" sz="12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of</a:t>
            </a:r>
            <a:r>
              <a:rPr dirty="0" sz="12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people</a:t>
            </a:r>
            <a:r>
              <a:rPr dirty="0" sz="12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in</a:t>
            </a:r>
            <a:r>
              <a:rPr dirty="0" sz="12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95468"/>
                </a:solidFill>
                <a:latin typeface="Arial MT"/>
                <a:cs typeface="Arial MT"/>
              </a:rPr>
              <a:t>variables.</a:t>
            </a:r>
            <a:endParaRPr sz="1250">
              <a:latin typeface="Arial MT"/>
              <a:cs typeface="Arial MT"/>
            </a:endParaRPr>
          </a:p>
          <a:p>
            <a:pPr marL="492759" indent="-34353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492759" algn="l"/>
              </a:tabLst>
            </a:pP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Write</a:t>
            </a:r>
            <a:r>
              <a:rPr dirty="0" sz="1250" spc="-5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a</a:t>
            </a:r>
            <a:r>
              <a:rPr dirty="0" sz="12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function</a:t>
            </a:r>
            <a:r>
              <a:rPr dirty="0" sz="12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95468"/>
                </a:solidFill>
                <a:latin typeface="Arial MT"/>
                <a:cs typeface="Arial MT"/>
              </a:rPr>
              <a:t>split_bill(total,</a:t>
            </a:r>
            <a:r>
              <a:rPr dirty="0" sz="12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people,</a:t>
            </a:r>
            <a:r>
              <a:rPr dirty="0" sz="12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95468"/>
                </a:solidFill>
                <a:latin typeface="Arial MT"/>
                <a:cs typeface="Arial MT"/>
              </a:rPr>
              <a:t>tip_rate=0.10).</a:t>
            </a:r>
            <a:endParaRPr sz="1250">
              <a:latin typeface="Arial MT"/>
              <a:cs typeface="Arial MT"/>
            </a:endParaRPr>
          </a:p>
          <a:p>
            <a:pPr marL="492759" indent="-343535">
              <a:lnSpc>
                <a:spcPct val="100000"/>
              </a:lnSpc>
              <a:spcBef>
                <a:spcPts val="605"/>
              </a:spcBef>
              <a:buAutoNum type="arabicPeriod"/>
              <a:tabLst>
                <a:tab pos="492759" algn="l"/>
              </a:tabLst>
            </a:pP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Use</a:t>
            </a:r>
            <a:r>
              <a:rPr dirty="0" sz="12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it</a:t>
            </a:r>
            <a:r>
              <a:rPr dirty="0" sz="12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to</a:t>
            </a:r>
            <a:r>
              <a:rPr dirty="0" sz="12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compute</a:t>
            </a:r>
            <a:r>
              <a:rPr dirty="0" sz="12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2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95468"/>
                </a:solidFill>
                <a:latin typeface="Arial MT"/>
                <a:cs typeface="Arial MT"/>
              </a:rPr>
              <a:t>per-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person</a:t>
            </a:r>
            <a:r>
              <a:rPr dirty="0" sz="12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amount,</a:t>
            </a:r>
            <a:r>
              <a:rPr dirty="0" sz="12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tip</a:t>
            </a:r>
            <a:r>
              <a:rPr dirty="0" sz="12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95468"/>
                </a:solidFill>
                <a:latin typeface="Arial MT"/>
                <a:cs typeface="Arial MT"/>
              </a:rPr>
              <a:t>included.</a:t>
            </a:r>
            <a:endParaRPr sz="1250">
              <a:latin typeface="Arial MT"/>
              <a:cs typeface="Arial MT"/>
            </a:endParaRPr>
          </a:p>
          <a:p>
            <a:pPr marL="492759" indent="-34353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492759" algn="l"/>
              </a:tabLst>
            </a:pP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Loop</a:t>
            </a:r>
            <a:r>
              <a:rPr dirty="0" sz="12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over a</a:t>
            </a:r>
            <a:r>
              <a:rPr dirty="0" sz="12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list</a:t>
            </a:r>
            <a:r>
              <a:rPr dirty="0" sz="125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of</a:t>
            </a:r>
            <a:r>
              <a:rPr dirty="0" sz="12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names</a:t>
            </a:r>
            <a:r>
              <a:rPr dirty="0" sz="12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and</a:t>
            </a:r>
            <a:r>
              <a:rPr dirty="0" sz="12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print</a:t>
            </a:r>
            <a:r>
              <a:rPr dirty="0" sz="12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each</a:t>
            </a:r>
            <a:r>
              <a:rPr dirty="0" sz="125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person's</a:t>
            </a:r>
            <a:r>
              <a:rPr dirty="0" sz="12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95468"/>
                </a:solidFill>
                <a:latin typeface="Arial MT"/>
                <a:cs typeface="Arial MT"/>
              </a:rPr>
              <a:t>share.</a:t>
            </a:r>
            <a:endParaRPr sz="1250">
              <a:latin typeface="Arial MT"/>
              <a:cs typeface="Arial MT"/>
            </a:endParaRPr>
          </a:p>
          <a:p>
            <a:pPr marL="492759" indent="-34353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492759" algn="l"/>
              </a:tabLst>
            </a:pP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Commit</a:t>
            </a:r>
            <a:r>
              <a:rPr dirty="0" sz="1250" spc="-5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and</a:t>
            </a:r>
            <a:r>
              <a:rPr dirty="0" sz="125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push</a:t>
            </a:r>
            <a:r>
              <a:rPr dirty="0" sz="12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your</a:t>
            </a:r>
            <a:r>
              <a:rPr dirty="0" sz="125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day02 folder</a:t>
            </a:r>
            <a:r>
              <a:rPr dirty="0" sz="1250" spc="-4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95468"/>
                </a:solidFill>
                <a:latin typeface="Arial MT"/>
                <a:cs typeface="Arial MT"/>
              </a:rPr>
              <a:t>to</a:t>
            </a:r>
            <a:r>
              <a:rPr dirty="0" sz="125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95468"/>
                </a:solidFill>
                <a:latin typeface="Arial MT"/>
                <a:cs typeface="Arial MT"/>
              </a:rPr>
              <a:t>GitHub.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420332" y="1613889"/>
            <a:ext cx="4330700" cy="4359910"/>
            <a:chOff x="7420332" y="1613889"/>
            <a:chExt cx="4330700" cy="435991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20332" y="1613889"/>
              <a:ext cx="4330493" cy="435942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452360" y="1645920"/>
              <a:ext cx="4236720" cy="4251960"/>
            </a:xfrm>
            <a:custGeom>
              <a:avLst/>
              <a:gdLst/>
              <a:ahLst/>
              <a:cxnLst/>
              <a:rect l="l" t="t" r="r" b="b"/>
              <a:pathLst>
                <a:path w="4236720" h="4251960">
                  <a:moveTo>
                    <a:pt x="4163187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4178795"/>
                  </a:lnTo>
                  <a:lnTo>
                    <a:pt x="5750" y="4207275"/>
                  </a:lnTo>
                  <a:lnTo>
                    <a:pt x="21431" y="4230531"/>
                  </a:lnTo>
                  <a:lnTo>
                    <a:pt x="44684" y="4246210"/>
                  </a:lnTo>
                  <a:lnTo>
                    <a:pt x="73151" y="4251959"/>
                  </a:lnTo>
                  <a:lnTo>
                    <a:pt x="4163187" y="4251959"/>
                  </a:lnTo>
                  <a:lnTo>
                    <a:pt x="4191728" y="4246210"/>
                  </a:lnTo>
                  <a:lnTo>
                    <a:pt x="4215018" y="4230531"/>
                  </a:lnTo>
                  <a:lnTo>
                    <a:pt x="4230713" y="4207275"/>
                  </a:lnTo>
                  <a:lnTo>
                    <a:pt x="4236466" y="4178795"/>
                  </a:lnTo>
                  <a:lnTo>
                    <a:pt x="4236466" y="73151"/>
                  </a:lnTo>
                  <a:lnTo>
                    <a:pt x="4230713" y="44684"/>
                  </a:lnTo>
                  <a:lnTo>
                    <a:pt x="4215018" y="21431"/>
                  </a:lnTo>
                  <a:lnTo>
                    <a:pt x="4191728" y="5750"/>
                  </a:lnTo>
                  <a:lnTo>
                    <a:pt x="4163187" y="0"/>
                  </a:lnTo>
                  <a:close/>
                </a:path>
              </a:pathLst>
            </a:custGeom>
            <a:solidFill>
              <a:srgbClr val="091F3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669148" y="1761557"/>
            <a:ext cx="3494404" cy="2680970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1400" spc="70" b="1">
                <a:solidFill>
                  <a:srgbClr val="E4B546"/>
                </a:solidFill>
                <a:latin typeface="Arial"/>
                <a:cs typeface="Arial"/>
              </a:rPr>
              <a:t>Deliverable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ts val="1460"/>
              </a:lnSpc>
              <a:spcBef>
                <a:spcPts val="765"/>
              </a:spcBef>
            </a:pPr>
            <a:r>
              <a:rPr dirty="0" sz="125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12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FFFFFF"/>
                </a:solidFill>
                <a:latin typeface="Arial MT"/>
                <a:cs typeface="Arial MT"/>
              </a:rPr>
              <a:t>working</a:t>
            </a:r>
            <a:r>
              <a:rPr dirty="0" sz="12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Arial MT"/>
                <a:cs typeface="Arial MT"/>
              </a:rPr>
              <a:t>tip_calculator.py</a:t>
            </a:r>
            <a:r>
              <a:rPr dirty="0" sz="12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FFFFFF"/>
                </a:solidFill>
                <a:latin typeface="Arial MT"/>
                <a:cs typeface="Arial MT"/>
              </a:rPr>
              <a:t>pushed</a:t>
            </a:r>
            <a:r>
              <a:rPr dirty="0" sz="12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12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FFFFFF"/>
                </a:solidFill>
                <a:latin typeface="Arial MT"/>
                <a:cs typeface="Arial MT"/>
              </a:rPr>
              <a:t>GitHub</a:t>
            </a:r>
            <a:r>
              <a:rPr dirty="0" sz="12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50" spc="-20">
                <a:solidFill>
                  <a:srgbClr val="FFFFFF"/>
                </a:solidFill>
                <a:latin typeface="Arial MT"/>
                <a:cs typeface="Arial MT"/>
              </a:rPr>
              <a:t>that </a:t>
            </a:r>
            <a:r>
              <a:rPr dirty="0" sz="1250">
                <a:solidFill>
                  <a:srgbClr val="FFFFFF"/>
                </a:solidFill>
                <a:latin typeface="Arial MT"/>
                <a:cs typeface="Arial MT"/>
              </a:rPr>
              <a:t>prints</a:t>
            </a:r>
            <a:r>
              <a:rPr dirty="0" sz="12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FFFFFF"/>
                </a:solidFill>
                <a:latin typeface="Arial MT"/>
                <a:cs typeface="Arial MT"/>
              </a:rPr>
              <a:t>each</a:t>
            </a:r>
            <a:r>
              <a:rPr dirty="0" sz="125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FFFFFF"/>
                </a:solidFill>
                <a:latin typeface="Arial MT"/>
                <a:cs typeface="Arial MT"/>
              </a:rPr>
              <a:t>person's</a:t>
            </a:r>
            <a:r>
              <a:rPr dirty="0" sz="12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Arial MT"/>
                <a:cs typeface="Arial MT"/>
              </a:rPr>
              <a:t>share.</a:t>
            </a:r>
            <a:endParaRPr sz="12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2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2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75" b="1">
                <a:solidFill>
                  <a:srgbClr val="E4B546"/>
                </a:solidFill>
                <a:latin typeface="Arial"/>
                <a:cs typeface="Arial"/>
              </a:rPr>
              <a:t>Provided</a:t>
            </a:r>
            <a:r>
              <a:rPr dirty="0" sz="1400" spc="204" b="1">
                <a:solidFill>
                  <a:srgbClr val="E4B546"/>
                </a:solidFill>
                <a:latin typeface="Arial"/>
                <a:cs typeface="Arial"/>
              </a:rPr>
              <a:t> </a:t>
            </a:r>
            <a:r>
              <a:rPr dirty="0" sz="1400" spc="55" b="1">
                <a:solidFill>
                  <a:srgbClr val="E4B546"/>
                </a:solidFill>
                <a:latin typeface="Arial"/>
                <a:cs typeface="Arial"/>
              </a:rPr>
              <a:t>files</a:t>
            </a:r>
            <a:endParaRPr sz="1400">
              <a:latin typeface="Arial"/>
              <a:cs typeface="Arial"/>
            </a:endParaRPr>
          </a:p>
          <a:p>
            <a:pPr marL="190500" indent="-177800">
              <a:lnSpc>
                <a:spcPct val="100000"/>
              </a:lnSpc>
              <a:spcBef>
                <a:spcPts val="575"/>
              </a:spcBef>
              <a:buChar char="•"/>
              <a:tabLst>
                <a:tab pos="190500" algn="l"/>
              </a:tabLst>
            </a:pPr>
            <a:r>
              <a:rPr dirty="0" sz="1200">
                <a:solidFill>
                  <a:srgbClr val="6D8FB8"/>
                </a:solidFill>
                <a:latin typeface="Consolas"/>
                <a:cs typeface="Consolas"/>
              </a:rPr>
              <a:t>Starter/</a:t>
            </a:r>
            <a:r>
              <a:rPr dirty="0" sz="1200" spc="-20">
                <a:solidFill>
                  <a:srgbClr val="6D8FB8"/>
                </a:solidFill>
                <a:latin typeface="Consolas"/>
                <a:cs typeface="Consolas"/>
              </a:rPr>
              <a:t>  </a:t>
            </a:r>
            <a:r>
              <a:rPr dirty="0" sz="1200">
                <a:solidFill>
                  <a:srgbClr val="6D8FB8"/>
                </a:solidFill>
                <a:latin typeface="Consolas"/>
                <a:cs typeface="Consolas"/>
              </a:rPr>
              <a:t>—</a:t>
            </a:r>
            <a:r>
              <a:rPr dirty="0" sz="1200" spc="-5">
                <a:solidFill>
                  <a:srgbClr val="6D8FB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6D8FB8"/>
                </a:solidFill>
                <a:latin typeface="Consolas"/>
                <a:cs typeface="Consolas"/>
              </a:rPr>
              <a:t>skeleton</a:t>
            </a:r>
            <a:r>
              <a:rPr dirty="0" sz="1200" spc="-20">
                <a:solidFill>
                  <a:srgbClr val="6D8FB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6D8FB8"/>
                </a:solidFill>
                <a:latin typeface="Consolas"/>
                <a:cs typeface="Consolas"/>
              </a:rPr>
              <a:t>+</a:t>
            </a:r>
            <a:r>
              <a:rPr dirty="0" sz="1200" spc="-15">
                <a:solidFill>
                  <a:srgbClr val="6D8FB8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6D8FB8"/>
                </a:solidFill>
                <a:latin typeface="Consolas"/>
                <a:cs typeface="Consolas"/>
              </a:rPr>
              <a:t>TODOs</a:t>
            </a:r>
            <a:endParaRPr sz="1200">
              <a:latin typeface="Consolas"/>
              <a:cs typeface="Consolas"/>
            </a:endParaRPr>
          </a:p>
          <a:p>
            <a:pPr marL="190500" indent="-177800">
              <a:lnSpc>
                <a:spcPct val="100000"/>
              </a:lnSpc>
              <a:spcBef>
                <a:spcPts val="790"/>
              </a:spcBef>
              <a:buChar char="•"/>
              <a:tabLst>
                <a:tab pos="190500" algn="l"/>
              </a:tabLst>
            </a:pPr>
            <a:r>
              <a:rPr dirty="0" sz="1200">
                <a:solidFill>
                  <a:srgbClr val="6D8FB8"/>
                </a:solidFill>
                <a:latin typeface="Consolas"/>
                <a:cs typeface="Consolas"/>
              </a:rPr>
              <a:t>Solution/</a:t>
            </a:r>
            <a:r>
              <a:rPr dirty="0" sz="1200" spc="-40">
                <a:solidFill>
                  <a:srgbClr val="6D8FB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6D8FB8"/>
                </a:solidFill>
                <a:latin typeface="Consolas"/>
                <a:cs typeface="Consolas"/>
              </a:rPr>
              <a:t>—</a:t>
            </a:r>
            <a:r>
              <a:rPr dirty="0" sz="1200" spc="-25">
                <a:solidFill>
                  <a:srgbClr val="6D8FB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6D8FB8"/>
                </a:solidFill>
                <a:latin typeface="Consolas"/>
                <a:cs typeface="Consolas"/>
              </a:rPr>
              <a:t>worked</a:t>
            </a:r>
            <a:r>
              <a:rPr dirty="0" sz="1200" spc="-30">
                <a:solidFill>
                  <a:srgbClr val="6D8FB8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6D8FB8"/>
                </a:solidFill>
                <a:latin typeface="Consolas"/>
                <a:cs typeface="Consolas"/>
              </a:rPr>
              <a:t>reference</a:t>
            </a:r>
            <a:endParaRPr sz="1200">
              <a:latin typeface="Consolas"/>
              <a:cs typeface="Consolas"/>
            </a:endParaRPr>
          </a:p>
          <a:p>
            <a:pPr marL="190500" indent="-177800">
              <a:lnSpc>
                <a:spcPct val="100000"/>
              </a:lnSpc>
              <a:spcBef>
                <a:spcPts val="805"/>
              </a:spcBef>
              <a:buChar char="•"/>
              <a:tabLst>
                <a:tab pos="190500" algn="l"/>
              </a:tabLst>
            </a:pPr>
            <a:r>
              <a:rPr dirty="0" sz="1200">
                <a:solidFill>
                  <a:srgbClr val="6D8FB8"/>
                </a:solidFill>
                <a:latin typeface="Consolas"/>
                <a:cs typeface="Consolas"/>
              </a:rPr>
              <a:t>Rubric.docx</a:t>
            </a:r>
            <a:r>
              <a:rPr dirty="0" sz="1200" spc="-15">
                <a:solidFill>
                  <a:srgbClr val="6D8FB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6D8FB8"/>
                </a:solidFill>
                <a:latin typeface="Consolas"/>
                <a:cs typeface="Consolas"/>
              </a:rPr>
              <a:t>—</a:t>
            </a:r>
            <a:r>
              <a:rPr dirty="0" sz="1200" spc="-25">
                <a:solidFill>
                  <a:srgbClr val="6D8FB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6D8FB8"/>
                </a:solidFill>
                <a:latin typeface="Consolas"/>
                <a:cs typeface="Consolas"/>
              </a:rPr>
              <a:t>how</a:t>
            </a:r>
            <a:r>
              <a:rPr dirty="0" sz="1200" spc="-15">
                <a:solidFill>
                  <a:srgbClr val="6D8FB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6D8FB8"/>
                </a:solidFill>
                <a:latin typeface="Consolas"/>
                <a:cs typeface="Consolas"/>
              </a:rPr>
              <a:t>it's</a:t>
            </a:r>
            <a:r>
              <a:rPr dirty="0" sz="1200" spc="-30">
                <a:solidFill>
                  <a:srgbClr val="6D8FB8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6D8FB8"/>
                </a:solidFill>
                <a:latin typeface="Consolas"/>
                <a:cs typeface="Consolas"/>
              </a:rPr>
              <a:t>graded</a:t>
            </a:r>
            <a:endParaRPr sz="1200">
              <a:latin typeface="Consolas"/>
              <a:cs typeface="Consolas"/>
            </a:endParaRPr>
          </a:p>
          <a:p>
            <a:pPr marL="190500" indent="-177800">
              <a:lnSpc>
                <a:spcPct val="100000"/>
              </a:lnSpc>
              <a:spcBef>
                <a:spcPts val="805"/>
              </a:spcBef>
              <a:buChar char="•"/>
              <a:tabLst>
                <a:tab pos="190500" algn="l"/>
              </a:tabLst>
            </a:pPr>
            <a:r>
              <a:rPr dirty="0" sz="1200" spc="-10">
                <a:solidFill>
                  <a:srgbClr val="6D8FB8"/>
                </a:solidFill>
                <a:latin typeface="Consolas"/>
                <a:cs typeface="Consolas"/>
              </a:rPr>
              <a:t>test_cases.md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Property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IBT</a:t>
            </a:r>
            <a:r>
              <a:rPr dirty="0" spc="-35"/>
              <a:t> </a:t>
            </a:r>
            <a:r>
              <a:rPr dirty="0"/>
              <a:t>College</a:t>
            </a:r>
            <a:r>
              <a:rPr dirty="0" spc="-15"/>
              <a:t> </a:t>
            </a:r>
            <a:r>
              <a:rPr dirty="0" spc="-10"/>
              <a:t>Canada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23</a:t>
            </a:fld>
            <a:r>
              <a:rPr dirty="0"/>
              <a:t> /</a:t>
            </a:r>
            <a:r>
              <a:rPr dirty="0" spc="-10"/>
              <a:t> </a:t>
            </a:r>
            <a:r>
              <a:rPr dirty="0" spc="-25"/>
              <a:t>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343915"/>
            <a:ext cx="125476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A</a:t>
            </a:r>
            <a:r>
              <a:rPr dirty="0" sz="1100" spc="-14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F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T</a:t>
            </a:r>
            <a:r>
              <a:rPr dirty="0" sz="1100" spc="-12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R</a:t>
            </a:r>
            <a:r>
              <a:rPr dirty="0" sz="1100" spc="44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C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L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A</a:t>
            </a:r>
            <a:r>
              <a:rPr dirty="0" sz="1100" spc="-14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D39F27"/>
                </a:solidFill>
                <a:latin typeface="Arial"/>
                <a:cs typeface="Arial"/>
              </a:rPr>
              <a:t>S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Homework</a:t>
            </a:r>
            <a:r>
              <a:rPr dirty="0" spc="-30"/>
              <a:t> </a:t>
            </a:r>
            <a:r>
              <a:rPr dirty="0"/>
              <a:t>&amp;</a:t>
            </a:r>
            <a:r>
              <a:rPr dirty="0" spc="-25"/>
              <a:t> </a:t>
            </a:r>
            <a:r>
              <a:rPr dirty="0" spc="-10"/>
              <a:t>Reading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0219" y="1308861"/>
            <a:ext cx="9968230" cy="416559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520"/>
              </a:lnSpc>
              <a:spcBef>
                <a:spcPts val="180"/>
              </a:spcBef>
            </a:pP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The</a:t>
            </a:r>
            <a:r>
              <a:rPr dirty="0" sz="13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reading</a:t>
            </a:r>
            <a:r>
              <a:rPr dirty="0" sz="13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assignment</a:t>
            </a:r>
            <a:r>
              <a:rPr dirty="0" sz="1300" spc="1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is</a:t>
            </a:r>
            <a:r>
              <a:rPr dirty="0" sz="1300" spc="-4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the</a:t>
            </a:r>
            <a:r>
              <a:rPr dirty="0" sz="13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assigned</a:t>
            </a:r>
            <a:r>
              <a:rPr dirty="0" sz="1300" spc="-1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work</a:t>
            </a:r>
            <a:r>
              <a:rPr dirty="0" sz="1300" spc="-2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and</a:t>
            </a:r>
            <a:r>
              <a:rPr dirty="0" sz="13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lives</a:t>
            </a:r>
            <a:r>
              <a:rPr dirty="0" sz="13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on</a:t>
            </a:r>
            <a:r>
              <a:rPr dirty="0" sz="13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its</a:t>
            </a:r>
            <a:r>
              <a:rPr dirty="0" sz="1300" spc="-4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own</a:t>
            </a:r>
            <a:r>
              <a:rPr dirty="0" sz="1300" spc="-2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Day</a:t>
            </a:r>
            <a:r>
              <a:rPr dirty="0" sz="1300" spc="-4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2</a:t>
            </a:r>
            <a:r>
              <a:rPr dirty="0" sz="13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reading</a:t>
            </a:r>
            <a:r>
              <a:rPr dirty="0" sz="1300" spc="-1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sheet.</a:t>
            </a:r>
            <a:r>
              <a:rPr dirty="0" sz="1300" spc="-2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The</a:t>
            </a:r>
            <a:r>
              <a:rPr dirty="0" sz="1300" spc="-4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Learning Resources</a:t>
            </a:r>
            <a:r>
              <a:rPr dirty="0" sz="1300" spc="-1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next</a:t>
            </a:r>
            <a:r>
              <a:rPr dirty="0" sz="13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slide</a:t>
            </a:r>
            <a:r>
              <a:rPr dirty="0" sz="13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are</a:t>
            </a:r>
            <a:r>
              <a:rPr dirty="0" sz="1300" spc="-2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495468"/>
                </a:solidFill>
                <a:latin typeface="Arial"/>
                <a:cs typeface="Arial"/>
              </a:rPr>
              <a:t>optional,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supplementary</a:t>
            </a:r>
            <a:r>
              <a:rPr dirty="0" sz="1300" spc="-4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495468"/>
                </a:solidFill>
                <a:latin typeface="Arial"/>
                <a:cs typeface="Arial"/>
              </a:rPr>
              <a:t>depth.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0867" y="1933863"/>
            <a:ext cx="5504180" cy="1982470"/>
            <a:chOff x="470867" y="1933863"/>
            <a:chExt cx="5504180" cy="19824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67" y="1933863"/>
              <a:ext cx="5504023" cy="198210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2919" y="1965960"/>
              <a:ext cx="5410200" cy="1874520"/>
            </a:xfrm>
            <a:custGeom>
              <a:avLst/>
              <a:gdLst/>
              <a:ahLst/>
              <a:cxnLst/>
              <a:rect l="l" t="t" r="r" b="b"/>
              <a:pathLst>
                <a:path w="5410200" h="1874520">
                  <a:moveTo>
                    <a:pt x="533692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1801367"/>
                  </a:lnTo>
                  <a:lnTo>
                    <a:pt x="5748" y="1829835"/>
                  </a:lnTo>
                  <a:lnTo>
                    <a:pt x="21426" y="1853088"/>
                  </a:lnTo>
                  <a:lnTo>
                    <a:pt x="44678" y="1868769"/>
                  </a:lnTo>
                  <a:lnTo>
                    <a:pt x="73151" y="1874520"/>
                  </a:lnTo>
                  <a:lnTo>
                    <a:pt x="5336920" y="1874520"/>
                  </a:lnTo>
                  <a:lnTo>
                    <a:pt x="5365388" y="1868769"/>
                  </a:lnTo>
                  <a:lnTo>
                    <a:pt x="5388641" y="1853088"/>
                  </a:lnTo>
                  <a:lnTo>
                    <a:pt x="5404322" y="1829835"/>
                  </a:lnTo>
                  <a:lnTo>
                    <a:pt x="5410072" y="1801367"/>
                  </a:lnTo>
                  <a:lnTo>
                    <a:pt x="5410072" y="73151"/>
                  </a:lnTo>
                  <a:lnTo>
                    <a:pt x="5404322" y="44684"/>
                  </a:lnTo>
                  <a:lnTo>
                    <a:pt x="5388641" y="21431"/>
                  </a:lnTo>
                  <a:lnTo>
                    <a:pt x="5365388" y="5750"/>
                  </a:lnTo>
                  <a:lnTo>
                    <a:pt x="533692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31519" y="219456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448055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448055"/>
                  </a:lnTo>
                  <a:lnTo>
                    <a:pt x="4311" y="469433"/>
                  </a:lnTo>
                  <a:lnTo>
                    <a:pt x="16068" y="486870"/>
                  </a:lnTo>
                  <a:lnTo>
                    <a:pt x="33507" y="498615"/>
                  </a:lnTo>
                  <a:lnTo>
                    <a:pt x="54864" y="502919"/>
                  </a:lnTo>
                  <a:lnTo>
                    <a:pt x="448055" y="502919"/>
                  </a:lnTo>
                  <a:lnTo>
                    <a:pt x="469412" y="498615"/>
                  </a:lnTo>
                  <a:lnTo>
                    <a:pt x="486851" y="486870"/>
                  </a:lnTo>
                  <a:lnTo>
                    <a:pt x="498608" y="469433"/>
                  </a:lnTo>
                  <a:lnTo>
                    <a:pt x="502920" y="448055"/>
                  </a:lnTo>
                  <a:lnTo>
                    <a:pt x="502920" y="54863"/>
                  </a:lnTo>
                  <a:lnTo>
                    <a:pt x="498608" y="33486"/>
                  </a:lnTo>
                  <a:lnTo>
                    <a:pt x="486851" y="16049"/>
                  </a:lnTo>
                  <a:lnTo>
                    <a:pt x="469412" y="4304"/>
                  </a:lnTo>
                  <a:lnTo>
                    <a:pt x="448055" y="0"/>
                  </a:lnTo>
                  <a:close/>
                </a:path>
              </a:pathLst>
            </a:custGeom>
            <a:solidFill>
              <a:srgbClr val="2D5C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99566" y="2266314"/>
            <a:ext cx="16700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9153" y="2304415"/>
            <a:ext cx="19050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091F3C"/>
                </a:solidFill>
                <a:latin typeface="Arial"/>
                <a:cs typeface="Arial"/>
              </a:rPr>
              <a:t>Reading</a:t>
            </a:r>
            <a:r>
              <a:rPr dirty="0" sz="1500" spc="-10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091F3C"/>
                </a:solidFill>
                <a:latin typeface="Arial"/>
                <a:cs typeface="Arial"/>
              </a:rPr>
              <a:t>Assignment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8819" y="2818003"/>
            <a:ext cx="4912995" cy="38671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400"/>
              </a:lnSpc>
              <a:spcBef>
                <a:spcPts val="180"/>
              </a:spcBef>
            </a:pP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Python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fundamentals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—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2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Day</a:t>
            </a:r>
            <a:r>
              <a:rPr dirty="0" sz="120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2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reading</a:t>
            </a:r>
            <a:r>
              <a:rPr dirty="0" sz="1200" spc="-5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sheet.</a:t>
            </a:r>
            <a:r>
              <a:rPr dirty="0" sz="12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Read</a:t>
            </a:r>
            <a:r>
              <a:rPr dirty="0" sz="12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it,</a:t>
            </a:r>
            <a:r>
              <a:rPr dirty="0" sz="120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then</a:t>
            </a:r>
            <a:r>
              <a:rPr dirty="0" sz="12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complete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short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exercises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it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ships</a:t>
            </a:r>
            <a:r>
              <a:rPr dirty="0" sz="12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with.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246827" y="1933863"/>
            <a:ext cx="5504180" cy="1982470"/>
            <a:chOff x="6246827" y="1933863"/>
            <a:chExt cx="5504180" cy="198247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6827" y="1933863"/>
              <a:ext cx="5504023" cy="198210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278753" y="1965960"/>
              <a:ext cx="5410200" cy="1874520"/>
            </a:xfrm>
            <a:custGeom>
              <a:avLst/>
              <a:gdLst/>
              <a:ahLst/>
              <a:cxnLst/>
              <a:rect l="l" t="t" r="r" b="b"/>
              <a:pathLst>
                <a:path w="5410200" h="1874520">
                  <a:moveTo>
                    <a:pt x="533692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801367"/>
                  </a:lnTo>
                  <a:lnTo>
                    <a:pt x="5750" y="1829835"/>
                  </a:lnTo>
                  <a:lnTo>
                    <a:pt x="21431" y="1853088"/>
                  </a:lnTo>
                  <a:lnTo>
                    <a:pt x="44684" y="1868769"/>
                  </a:lnTo>
                  <a:lnTo>
                    <a:pt x="73151" y="1874520"/>
                  </a:lnTo>
                  <a:lnTo>
                    <a:pt x="5336921" y="1874520"/>
                  </a:lnTo>
                  <a:lnTo>
                    <a:pt x="5365388" y="1868769"/>
                  </a:lnTo>
                  <a:lnTo>
                    <a:pt x="5388641" y="1853088"/>
                  </a:lnTo>
                  <a:lnTo>
                    <a:pt x="5404322" y="1829835"/>
                  </a:lnTo>
                  <a:lnTo>
                    <a:pt x="5410073" y="1801367"/>
                  </a:lnTo>
                  <a:lnTo>
                    <a:pt x="5410073" y="73151"/>
                  </a:lnTo>
                  <a:lnTo>
                    <a:pt x="5404322" y="44684"/>
                  </a:lnTo>
                  <a:lnTo>
                    <a:pt x="5388641" y="21431"/>
                  </a:lnTo>
                  <a:lnTo>
                    <a:pt x="5365388" y="5750"/>
                  </a:lnTo>
                  <a:lnTo>
                    <a:pt x="5336921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507353" y="219456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448055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448055"/>
                  </a:lnTo>
                  <a:lnTo>
                    <a:pt x="4304" y="469433"/>
                  </a:lnTo>
                  <a:lnTo>
                    <a:pt x="16049" y="486870"/>
                  </a:lnTo>
                  <a:lnTo>
                    <a:pt x="33486" y="498615"/>
                  </a:lnTo>
                  <a:lnTo>
                    <a:pt x="54864" y="502919"/>
                  </a:lnTo>
                  <a:lnTo>
                    <a:pt x="448055" y="502919"/>
                  </a:lnTo>
                  <a:lnTo>
                    <a:pt x="469380" y="498615"/>
                  </a:lnTo>
                  <a:lnTo>
                    <a:pt x="486822" y="486870"/>
                  </a:lnTo>
                  <a:lnTo>
                    <a:pt x="498598" y="469433"/>
                  </a:lnTo>
                  <a:lnTo>
                    <a:pt x="502920" y="448055"/>
                  </a:lnTo>
                  <a:lnTo>
                    <a:pt x="502920" y="54863"/>
                  </a:lnTo>
                  <a:lnTo>
                    <a:pt x="498598" y="33486"/>
                  </a:lnTo>
                  <a:lnTo>
                    <a:pt x="486822" y="16049"/>
                  </a:lnTo>
                  <a:lnTo>
                    <a:pt x="469380" y="4304"/>
                  </a:lnTo>
                  <a:lnTo>
                    <a:pt x="448055" y="0"/>
                  </a:lnTo>
                  <a:close/>
                </a:path>
              </a:pathLst>
            </a:custGeom>
            <a:solidFill>
              <a:srgbClr val="2D8A5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6676135" y="2266314"/>
            <a:ext cx="16700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35748" y="2304415"/>
            <a:ext cx="12763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091F3C"/>
                </a:solidFill>
                <a:latin typeface="Arial"/>
                <a:cs typeface="Arial"/>
              </a:rPr>
              <a:t>Daily</a:t>
            </a:r>
            <a:r>
              <a:rPr dirty="0" sz="1500" spc="-4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091F3C"/>
                </a:solidFill>
                <a:latin typeface="Arial"/>
                <a:cs typeface="Arial"/>
              </a:rPr>
              <a:t>Practice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95415" y="2818003"/>
            <a:ext cx="4837430" cy="38671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400"/>
              </a:lnSpc>
              <a:spcBef>
                <a:spcPts val="180"/>
              </a:spcBef>
            </a:pP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Solve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5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short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problems</a:t>
            </a:r>
            <a:r>
              <a:rPr dirty="0" sz="1200" spc="-5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on</a:t>
            </a:r>
            <a:r>
              <a:rPr dirty="0" sz="12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variables,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loops,</a:t>
            </a:r>
            <a:r>
              <a:rPr dirty="0" sz="1200" spc="-4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and</a:t>
            </a:r>
            <a:r>
              <a:rPr dirty="0" sz="12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functions;</a:t>
            </a:r>
            <a:r>
              <a:rPr dirty="0" sz="1200" spc="-5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push</a:t>
            </a:r>
            <a:r>
              <a:rPr dirty="0" sz="12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them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to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your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day02</a:t>
            </a:r>
            <a:r>
              <a:rPr dirty="0" sz="120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folder.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70867" y="4082703"/>
            <a:ext cx="5504180" cy="1982470"/>
            <a:chOff x="470867" y="4082703"/>
            <a:chExt cx="5504180" cy="198247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67" y="4082703"/>
              <a:ext cx="5504023" cy="198210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02919" y="4114800"/>
              <a:ext cx="5410200" cy="1874520"/>
            </a:xfrm>
            <a:custGeom>
              <a:avLst/>
              <a:gdLst/>
              <a:ahLst/>
              <a:cxnLst/>
              <a:rect l="l" t="t" r="r" b="b"/>
              <a:pathLst>
                <a:path w="5410200" h="1874520">
                  <a:moveTo>
                    <a:pt x="533692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1801368"/>
                  </a:lnTo>
                  <a:lnTo>
                    <a:pt x="5748" y="1829841"/>
                  </a:lnTo>
                  <a:lnTo>
                    <a:pt x="21426" y="1853093"/>
                  </a:lnTo>
                  <a:lnTo>
                    <a:pt x="44678" y="1868771"/>
                  </a:lnTo>
                  <a:lnTo>
                    <a:pt x="73151" y="1874520"/>
                  </a:lnTo>
                  <a:lnTo>
                    <a:pt x="5336920" y="1874520"/>
                  </a:lnTo>
                  <a:lnTo>
                    <a:pt x="5365388" y="1868771"/>
                  </a:lnTo>
                  <a:lnTo>
                    <a:pt x="5388641" y="1853093"/>
                  </a:lnTo>
                  <a:lnTo>
                    <a:pt x="5404322" y="1829841"/>
                  </a:lnTo>
                  <a:lnTo>
                    <a:pt x="5410072" y="1801368"/>
                  </a:lnTo>
                  <a:lnTo>
                    <a:pt x="5410072" y="73151"/>
                  </a:lnTo>
                  <a:lnTo>
                    <a:pt x="5404322" y="44684"/>
                  </a:lnTo>
                  <a:lnTo>
                    <a:pt x="5388641" y="21431"/>
                  </a:lnTo>
                  <a:lnTo>
                    <a:pt x="5365388" y="5750"/>
                  </a:lnTo>
                  <a:lnTo>
                    <a:pt x="533692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31519" y="434340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448055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448056"/>
                  </a:lnTo>
                  <a:lnTo>
                    <a:pt x="4311" y="469433"/>
                  </a:lnTo>
                  <a:lnTo>
                    <a:pt x="16068" y="486870"/>
                  </a:lnTo>
                  <a:lnTo>
                    <a:pt x="33507" y="498615"/>
                  </a:lnTo>
                  <a:lnTo>
                    <a:pt x="54864" y="502919"/>
                  </a:lnTo>
                  <a:lnTo>
                    <a:pt x="448055" y="502919"/>
                  </a:lnTo>
                  <a:lnTo>
                    <a:pt x="469412" y="498615"/>
                  </a:lnTo>
                  <a:lnTo>
                    <a:pt x="486851" y="486870"/>
                  </a:lnTo>
                  <a:lnTo>
                    <a:pt x="498608" y="469433"/>
                  </a:lnTo>
                  <a:lnTo>
                    <a:pt x="502920" y="448056"/>
                  </a:lnTo>
                  <a:lnTo>
                    <a:pt x="502920" y="54863"/>
                  </a:lnTo>
                  <a:lnTo>
                    <a:pt x="498608" y="33486"/>
                  </a:lnTo>
                  <a:lnTo>
                    <a:pt x="486851" y="16049"/>
                  </a:lnTo>
                  <a:lnTo>
                    <a:pt x="469412" y="4304"/>
                  </a:lnTo>
                  <a:lnTo>
                    <a:pt x="448055" y="0"/>
                  </a:lnTo>
                  <a:close/>
                </a:path>
              </a:pathLst>
            </a:custGeom>
            <a:solidFill>
              <a:srgbClr val="C792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899566" y="4415409"/>
            <a:ext cx="1670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59153" y="4453508"/>
            <a:ext cx="122301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091F3C"/>
                </a:solidFill>
                <a:latin typeface="Arial"/>
                <a:cs typeface="Arial"/>
              </a:rPr>
              <a:t>Catch-</a:t>
            </a:r>
            <a:r>
              <a:rPr dirty="0" sz="1500" b="1">
                <a:solidFill>
                  <a:srgbClr val="091F3C"/>
                </a:solidFill>
                <a:latin typeface="Arial"/>
                <a:cs typeface="Arial"/>
              </a:rPr>
              <a:t>Up</a:t>
            </a:r>
            <a:r>
              <a:rPr dirty="0" sz="1500" spc="-10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500" spc="-25" b="1">
                <a:solidFill>
                  <a:srgbClr val="091F3C"/>
                </a:solidFill>
                <a:latin typeface="Arial"/>
                <a:cs typeface="Arial"/>
              </a:rPr>
              <a:t>Set</a:t>
            </a:r>
            <a:endParaRPr sz="15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8819" y="4967096"/>
            <a:ext cx="4693285" cy="386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20"/>
              </a:lnSpc>
              <a:spcBef>
                <a:spcPts val="100"/>
              </a:spcBef>
            </a:pP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Extra</a:t>
            </a:r>
            <a:r>
              <a:rPr dirty="0" sz="120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guided</a:t>
            </a:r>
            <a:r>
              <a:rPr dirty="0" sz="1200" spc="-4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drills</a:t>
            </a:r>
            <a:r>
              <a:rPr dirty="0" sz="120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for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students</a:t>
            </a:r>
            <a:r>
              <a:rPr dirty="0" sz="1200" spc="-4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flagged</a:t>
            </a:r>
            <a:r>
              <a:rPr dirty="0" sz="1200" spc="-4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by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diagnostic</a:t>
            </a:r>
            <a:r>
              <a:rPr dirty="0" sz="120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—</a:t>
            </a:r>
            <a:r>
              <a:rPr dirty="0" sz="120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types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and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ts val="1420"/>
              </a:lnSpc>
            </a:pP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loops,</a:t>
            </a:r>
            <a:r>
              <a:rPr dirty="0" sz="120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reinforced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before</a:t>
            </a:r>
            <a:r>
              <a:rPr dirty="0" sz="1200" spc="-5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Day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3.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246827" y="4082703"/>
            <a:ext cx="5504180" cy="1982470"/>
            <a:chOff x="6246827" y="4082703"/>
            <a:chExt cx="5504180" cy="1982470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6827" y="4082703"/>
              <a:ext cx="5504023" cy="1982101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278753" y="4114800"/>
              <a:ext cx="5410200" cy="1874520"/>
            </a:xfrm>
            <a:custGeom>
              <a:avLst/>
              <a:gdLst/>
              <a:ahLst/>
              <a:cxnLst/>
              <a:rect l="l" t="t" r="r" b="b"/>
              <a:pathLst>
                <a:path w="5410200" h="1874520">
                  <a:moveTo>
                    <a:pt x="533692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801368"/>
                  </a:lnTo>
                  <a:lnTo>
                    <a:pt x="5750" y="1829841"/>
                  </a:lnTo>
                  <a:lnTo>
                    <a:pt x="21431" y="1853093"/>
                  </a:lnTo>
                  <a:lnTo>
                    <a:pt x="44684" y="1868771"/>
                  </a:lnTo>
                  <a:lnTo>
                    <a:pt x="73151" y="1874520"/>
                  </a:lnTo>
                  <a:lnTo>
                    <a:pt x="5336921" y="1874520"/>
                  </a:lnTo>
                  <a:lnTo>
                    <a:pt x="5365388" y="1868771"/>
                  </a:lnTo>
                  <a:lnTo>
                    <a:pt x="5388641" y="1853093"/>
                  </a:lnTo>
                  <a:lnTo>
                    <a:pt x="5404322" y="1829841"/>
                  </a:lnTo>
                  <a:lnTo>
                    <a:pt x="5410073" y="1801368"/>
                  </a:lnTo>
                  <a:lnTo>
                    <a:pt x="5410073" y="73151"/>
                  </a:lnTo>
                  <a:lnTo>
                    <a:pt x="5404322" y="44684"/>
                  </a:lnTo>
                  <a:lnTo>
                    <a:pt x="5388641" y="21431"/>
                  </a:lnTo>
                  <a:lnTo>
                    <a:pt x="5365388" y="5750"/>
                  </a:lnTo>
                  <a:lnTo>
                    <a:pt x="5336921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507353" y="434340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448055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448056"/>
                  </a:lnTo>
                  <a:lnTo>
                    <a:pt x="4304" y="469433"/>
                  </a:lnTo>
                  <a:lnTo>
                    <a:pt x="16049" y="486870"/>
                  </a:lnTo>
                  <a:lnTo>
                    <a:pt x="33486" y="498615"/>
                  </a:lnTo>
                  <a:lnTo>
                    <a:pt x="54864" y="502919"/>
                  </a:lnTo>
                  <a:lnTo>
                    <a:pt x="448055" y="502919"/>
                  </a:lnTo>
                  <a:lnTo>
                    <a:pt x="469380" y="498615"/>
                  </a:lnTo>
                  <a:lnTo>
                    <a:pt x="486822" y="486870"/>
                  </a:lnTo>
                  <a:lnTo>
                    <a:pt x="498598" y="469433"/>
                  </a:lnTo>
                  <a:lnTo>
                    <a:pt x="502920" y="448056"/>
                  </a:lnTo>
                  <a:lnTo>
                    <a:pt x="502920" y="54863"/>
                  </a:lnTo>
                  <a:lnTo>
                    <a:pt x="498598" y="33486"/>
                  </a:lnTo>
                  <a:lnTo>
                    <a:pt x="486822" y="16049"/>
                  </a:lnTo>
                  <a:lnTo>
                    <a:pt x="469380" y="4304"/>
                  </a:lnTo>
                  <a:lnTo>
                    <a:pt x="448055" y="0"/>
                  </a:lnTo>
                  <a:close/>
                </a:path>
              </a:pathLst>
            </a:custGeom>
            <a:solidFill>
              <a:srgbClr val="6B3E9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6676135" y="4415409"/>
            <a:ext cx="1670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Property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IBT</a:t>
            </a:r>
            <a:r>
              <a:rPr dirty="0" spc="-35"/>
              <a:t> </a:t>
            </a:r>
            <a:r>
              <a:rPr dirty="0"/>
              <a:t>College</a:t>
            </a:r>
            <a:r>
              <a:rPr dirty="0" spc="-15"/>
              <a:t> </a:t>
            </a:r>
            <a:r>
              <a:rPr dirty="0" spc="-10"/>
              <a:t>Canada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23</a:t>
            </a:fld>
            <a:r>
              <a:rPr dirty="0"/>
              <a:t> /</a:t>
            </a:r>
            <a:r>
              <a:rPr dirty="0" spc="-10"/>
              <a:t> </a:t>
            </a:r>
            <a:r>
              <a:rPr dirty="0" spc="-25"/>
              <a:t>30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7135748" y="4453508"/>
            <a:ext cx="160464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091F3C"/>
                </a:solidFill>
                <a:latin typeface="Arial"/>
                <a:cs typeface="Arial"/>
              </a:rPr>
              <a:t>Prepare</a:t>
            </a:r>
            <a:r>
              <a:rPr dirty="0" sz="1500" spc="-40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091F3C"/>
                </a:solidFill>
                <a:latin typeface="Arial"/>
                <a:cs typeface="Arial"/>
              </a:rPr>
              <a:t>for</a:t>
            </a:r>
            <a:r>
              <a:rPr dirty="0" sz="1500" spc="-50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091F3C"/>
                </a:solidFill>
                <a:latin typeface="Arial"/>
                <a:cs typeface="Arial"/>
              </a:rPr>
              <a:t>Day</a:t>
            </a:r>
            <a:r>
              <a:rPr dirty="0" sz="1500" spc="-30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500" spc="-50" b="1">
                <a:solidFill>
                  <a:srgbClr val="091F3C"/>
                </a:solidFill>
                <a:latin typeface="Arial"/>
                <a:cs typeface="Arial"/>
              </a:rPr>
              <a:t>3</a:t>
            </a:r>
            <a:endParaRPr sz="15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95415" y="4967096"/>
            <a:ext cx="4730750" cy="386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20"/>
              </a:lnSpc>
              <a:spcBef>
                <a:spcPts val="100"/>
              </a:spcBef>
            </a:pP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Skim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reading</a:t>
            </a:r>
            <a:r>
              <a:rPr dirty="0" sz="1200" spc="-4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on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lists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and</a:t>
            </a:r>
            <a:r>
              <a:rPr dirty="0" sz="1200" spc="-4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dictionaries.</a:t>
            </a:r>
            <a:r>
              <a:rPr dirty="0" sz="12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Day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3</a:t>
            </a:r>
            <a:r>
              <a:rPr dirty="0" sz="120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is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Python</a:t>
            </a:r>
            <a:r>
              <a:rPr dirty="0" sz="12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collections,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ts val="1420"/>
              </a:lnSpc>
            </a:pP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files,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95468"/>
                </a:solidFill>
                <a:latin typeface="Arial MT"/>
                <a:cs typeface="Arial MT"/>
              </a:rPr>
              <a:t>and</a:t>
            </a:r>
            <a:r>
              <a:rPr dirty="0" sz="12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495468"/>
                </a:solidFill>
                <a:latin typeface="Arial MT"/>
                <a:cs typeface="Arial MT"/>
              </a:rPr>
              <a:t>errors.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343915"/>
            <a:ext cx="10585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G</a:t>
            </a:r>
            <a:r>
              <a:rPr dirty="0" sz="1100" spc="-10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39F27"/>
                </a:solidFill>
                <a:latin typeface="Arial"/>
                <a:cs typeface="Arial"/>
              </a:rPr>
              <a:t>O</a:t>
            </a:r>
            <a:r>
              <a:rPr dirty="0" sz="1100" spc="37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D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P</a:t>
            </a:r>
            <a:r>
              <a:rPr dirty="0" sz="1100" spc="-105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D39F27"/>
                </a:solidFill>
                <a:latin typeface="Arial"/>
                <a:cs typeface="Arial"/>
              </a:rPr>
              <a:t>E</a:t>
            </a:r>
            <a:r>
              <a:rPr dirty="0" sz="1100" spc="-110" b="1">
                <a:solidFill>
                  <a:srgbClr val="D39F27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D39F27"/>
                </a:solidFill>
                <a:latin typeface="Arial"/>
                <a:cs typeface="Arial"/>
              </a:rPr>
              <a:t>R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Learning</a:t>
            </a:r>
            <a:r>
              <a:rPr dirty="0" spc="-125"/>
              <a:t> </a:t>
            </a:r>
            <a:r>
              <a:rPr dirty="0" spc="-10"/>
              <a:t>Resources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0219" y="1388110"/>
            <a:ext cx="86798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Optional,</a:t>
            </a:r>
            <a:r>
              <a:rPr dirty="0" sz="1300" spc="-1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495468"/>
                </a:solidFill>
                <a:latin typeface="Arial"/>
                <a:cs typeface="Arial"/>
              </a:rPr>
              <a:t>supplementary</a:t>
            </a:r>
            <a:r>
              <a:rPr dirty="0" sz="1300" spc="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depth</a:t>
            </a:r>
            <a:r>
              <a:rPr dirty="0" sz="13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—</a:t>
            </a:r>
            <a:r>
              <a:rPr dirty="0" sz="13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not</a:t>
            </a:r>
            <a:r>
              <a:rPr dirty="0" sz="1300" spc="-4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the</a:t>
            </a:r>
            <a:r>
              <a:rPr dirty="0" sz="13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assigned</a:t>
            </a:r>
            <a:r>
              <a:rPr dirty="0" sz="1300" spc="-1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reading.</a:t>
            </a:r>
            <a:r>
              <a:rPr dirty="0" sz="1300" spc="-1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Reach</a:t>
            </a:r>
            <a:r>
              <a:rPr dirty="0" sz="13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for</a:t>
            </a:r>
            <a:r>
              <a:rPr dirty="0" sz="1300" spc="-3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these</a:t>
            </a:r>
            <a:r>
              <a:rPr dirty="0" sz="13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when</a:t>
            </a:r>
            <a:r>
              <a:rPr dirty="0" sz="13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you</a:t>
            </a:r>
            <a:r>
              <a:rPr dirty="0" sz="13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want</a:t>
            </a:r>
            <a:r>
              <a:rPr dirty="0" sz="1300" spc="-2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more</a:t>
            </a:r>
            <a:r>
              <a:rPr dirty="0" sz="1300" spc="-15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than</a:t>
            </a:r>
            <a:r>
              <a:rPr dirty="0" sz="13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495468"/>
                </a:solidFill>
                <a:latin typeface="Arial"/>
                <a:cs typeface="Arial"/>
              </a:rPr>
              <a:t>today</a:t>
            </a:r>
            <a:r>
              <a:rPr dirty="0" sz="1300" spc="-30" i="1">
                <a:solidFill>
                  <a:srgbClr val="495468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495468"/>
                </a:solidFill>
                <a:latin typeface="Arial"/>
                <a:cs typeface="Arial"/>
              </a:rPr>
              <a:t>covered.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64746" y="1790649"/>
            <a:ext cx="3652520" cy="2040255"/>
            <a:chOff x="464746" y="1790649"/>
            <a:chExt cx="3652520" cy="20402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746" y="1790649"/>
              <a:ext cx="3652412" cy="203994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2919" y="1828799"/>
              <a:ext cx="3545840" cy="1920239"/>
            </a:xfrm>
            <a:custGeom>
              <a:avLst/>
              <a:gdLst/>
              <a:ahLst/>
              <a:cxnLst/>
              <a:rect l="l" t="t" r="r" b="b"/>
              <a:pathLst>
                <a:path w="3545840" h="1920239">
                  <a:moveTo>
                    <a:pt x="3472560" y="0"/>
                  </a:moveTo>
                  <a:lnTo>
                    <a:pt x="73164" y="0"/>
                  </a:lnTo>
                  <a:lnTo>
                    <a:pt x="44684" y="5750"/>
                  </a:lnTo>
                  <a:lnTo>
                    <a:pt x="21428" y="21431"/>
                  </a:lnTo>
                  <a:lnTo>
                    <a:pt x="5749" y="44684"/>
                  </a:lnTo>
                  <a:lnTo>
                    <a:pt x="0" y="73151"/>
                  </a:lnTo>
                  <a:lnTo>
                    <a:pt x="0" y="1847088"/>
                  </a:lnTo>
                  <a:lnTo>
                    <a:pt x="5749" y="1875555"/>
                  </a:lnTo>
                  <a:lnTo>
                    <a:pt x="21428" y="1898808"/>
                  </a:lnTo>
                  <a:lnTo>
                    <a:pt x="44684" y="1914489"/>
                  </a:lnTo>
                  <a:lnTo>
                    <a:pt x="73164" y="1920239"/>
                  </a:lnTo>
                  <a:lnTo>
                    <a:pt x="3472560" y="1920239"/>
                  </a:lnTo>
                  <a:lnTo>
                    <a:pt x="3501028" y="1914489"/>
                  </a:lnTo>
                  <a:lnTo>
                    <a:pt x="3524281" y="1898808"/>
                  </a:lnTo>
                  <a:lnTo>
                    <a:pt x="3539962" y="1875555"/>
                  </a:lnTo>
                  <a:lnTo>
                    <a:pt x="3545713" y="1847088"/>
                  </a:lnTo>
                  <a:lnTo>
                    <a:pt x="3545713" y="73151"/>
                  </a:lnTo>
                  <a:lnTo>
                    <a:pt x="3539962" y="44684"/>
                  </a:lnTo>
                  <a:lnTo>
                    <a:pt x="3524281" y="21431"/>
                  </a:lnTo>
                  <a:lnTo>
                    <a:pt x="3501028" y="5750"/>
                  </a:lnTo>
                  <a:lnTo>
                    <a:pt x="34725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02919" y="1828799"/>
              <a:ext cx="3545840" cy="1920239"/>
            </a:xfrm>
            <a:custGeom>
              <a:avLst/>
              <a:gdLst/>
              <a:ahLst/>
              <a:cxnLst/>
              <a:rect l="l" t="t" r="r" b="b"/>
              <a:pathLst>
                <a:path w="3545840" h="1920239">
                  <a:moveTo>
                    <a:pt x="0" y="73151"/>
                  </a:moveTo>
                  <a:lnTo>
                    <a:pt x="5749" y="44684"/>
                  </a:lnTo>
                  <a:lnTo>
                    <a:pt x="21428" y="21431"/>
                  </a:lnTo>
                  <a:lnTo>
                    <a:pt x="44684" y="5750"/>
                  </a:lnTo>
                  <a:lnTo>
                    <a:pt x="73164" y="0"/>
                  </a:lnTo>
                  <a:lnTo>
                    <a:pt x="3472560" y="0"/>
                  </a:lnTo>
                  <a:lnTo>
                    <a:pt x="3501028" y="5750"/>
                  </a:lnTo>
                  <a:lnTo>
                    <a:pt x="3524281" y="21431"/>
                  </a:lnTo>
                  <a:lnTo>
                    <a:pt x="3539962" y="44684"/>
                  </a:lnTo>
                  <a:lnTo>
                    <a:pt x="3545713" y="73151"/>
                  </a:lnTo>
                  <a:lnTo>
                    <a:pt x="3545713" y="1847088"/>
                  </a:lnTo>
                  <a:lnTo>
                    <a:pt x="3539962" y="1875555"/>
                  </a:lnTo>
                  <a:lnTo>
                    <a:pt x="3524281" y="1898808"/>
                  </a:lnTo>
                  <a:lnTo>
                    <a:pt x="3501028" y="1914489"/>
                  </a:lnTo>
                  <a:lnTo>
                    <a:pt x="3472560" y="1920239"/>
                  </a:lnTo>
                  <a:lnTo>
                    <a:pt x="73164" y="1920239"/>
                  </a:lnTo>
                  <a:lnTo>
                    <a:pt x="44684" y="1914489"/>
                  </a:lnTo>
                  <a:lnTo>
                    <a:pt x="21428" y="1898808"/>
                  </a:lnTo>
                  <a:lnTo>
                    <a:pt x="5749" y="1875555"/>
                  </a:lnTo>
                  <a:lnTo>
                    <a:pt x="0" y="1847088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04087" y="202996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4" y="317575"/>
                  </a:lnTo>
                  <a:lnTo>
                    <a:pt x="39041" y="356406"/>
                  </a:lnTo>
                  <a:lnTo>
                    <a:pt x="66955" y="390239"/>
                  </a:lnTo>
                  <a:lnTo>
                    <a:pt x="100788" y="418154"/>
                  </a:lnTo>
                  <a:lnTo>
                    <a:pt x="139619" y="439233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3"/>
                  </a:lnTo>
                  <a:lnTo>
                    <a:pt x="356411" y="418154"/>
                  </a:lnTo>
                  <a:lnTo>
                    <a:pt x="390244" y="390239"/>
                  </a:lnTo>
                  <a:lnTo>
                    <a:pt x="418158" y="356406"/>
                  </a:lnTo>
                  <a:lnTo>
                    <a:pt x="439235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5" y="139624"/>
                  </a:lnTo>
                  <a:lnTo>
                    <a:pt x="418158" y="100793"/>
                  </a:lnTo>
                  <a:lnTo>
                    <a:pt x="390244" y="66960"/>
                  </a:lnTo>
                  <a:lnTo>
                    <a:pt x="356411" y="39045"/>
                  </a:lnTo>
                  <a:lnTo>
                    <a:pt x="317580" y="17966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2D5C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52932" y="2118486"/>
            <a:ext cx="22472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7355" algn="l"/>
              </a:tabLst>
            </a:pPr>
            <a:r>
              <a:rPr dirty="0" baseline="1736" sz="2400" spc="-75" b="1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baseline="1736" sz="2400" b="1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300" b="1">
                <a:solidFill>
                  <a:srgbClr val="091F3C"/>
                </a:solidFill>
                <a:latin typeface="Arial"/>
                <a:cs typeface="Arial"/>
              </a:rPr>
              <a:t>Official</a:t>
            </a:r>
            <a:r>
              <a:rPr dirty="0" sz="1300" spc="-70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091F3C"/>
                </a:solidFill>
                <a:latin typeface="Arial"/>
                <a:cs typeface="Arial"/>
              </a:rPr>
              <a:t>Python</a:t>
            </a:r>
            <a:r>
              <a:rPr dirty="0" sz="1300" spc="-4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091F3C"/>
                </a:solidFill>
                <a:latin typeface="Arial"/>
                <a:cs typeface="Arial"/>
              </a:rPr>
              <a:t>Tutorial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8819" y="2589402"/>
            <a:ext cx="2511425" cy="35877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165"/>
              </a:spcBef>
            </a:pP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The</a:t>
            </a:r>
            <a:r>
              <a:rPr dirty="0" sz="1100" spc="-5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canonical</a:t>
            </a:r>
            <a:r>
              <a:rPr dirty="0" sz="1100" spc="-2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introduction,</a:t>
            </a:r>
            <a:r>
              <a:rPr dirty="0" sz="1100" spc="-5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straight</a:t>
            </a:r>
            <a:r>
              <a:rPr dirty="0" sz="1100" spc="-6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495468"/>
                </a:solidFill>
                <a:latin typeface="Arial MT"/>
                <a:cs typeface="Arial MT"/>
              </a:rPr>
              <a:t>from </a:t>
            </a:r>
            <a:r>
              <a:rPr dirty="0" sz="1100" spc="-10">
                <a:solidFill>
                  <a:srgbClr val="495468"/>
                </a:solidFill>
                <a:latin typeface="Arial MT"/>
                <a:cs typeface="Arial MT"/>
              </a:rPr>
              <a:t>python.org.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8819" y="3415411"/>
            <a:ext cx="18421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2D5C99"/>
                </a:solidFill>
                <a:latin typeface="Consolas"/>
                <a:cs typeface="Consolas"/>
              </a:rPr>
              <a:t>docs.python.org/3/tutorial</a:t>
            </a:r>
            <a:endParaRPr sz="1000">
              <a:latin typeface="Consolas"/>
              <a:cs typeface="Consola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283890" y="1790649"/>
            <a:ext cx="3666490" cy="2040255"/>
            <a:chOff x="4283890" y="1790649"/>
            <a:chExt cx="3666490" cy="204025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83890" y="1790649"/>
              <a:ext cx="3666091" cy="203994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322952" y="1828799"/>
              <a:ext cx="3545840" cy="1920239"/>
            </a:xfrm>
            <a:custGeom>
              <a:avLst/>
              <a:gdLst/>
              <a:ahLst/>
              <a:cxnLst/>
              <a:rect l="l" t="t" r="r" b="b"/>
              <a:pathLst>
                <a:path w="3545840" h="1920239">
                  <a:moveTo>
                    <a:pt x="347256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847088"/>
                  </a:lnTo>
                  <a:lnTo>
                    <a:pt x="5750" y="1875555"/>
                  </a:lnTo>
                  <a:lnTo>
                    <a:pt x="21431" y="1898808"/>
                  </a:lnTo>
                  <a:lnTo>
                    <a:pt x="44684" y="1914489"/>
                  </a:lnTo>
                  <a:lnTo>
                    <a:pt x="73151" y="1920239"/>
                  </a:lnTo>
                  <a:lnTo>
                    <a:pt x="3472561" y="1920239"/>
                  </a:lnTo>
                  <a:lnTo>
                    <a:pt x="3501028" y="1914489"/>
                  </a:lnTo>
                  <a:lnTo>
                    <a:pt x="3524281" y="1898808"/>
                  </a:lnTo>
                  <a:lnTo>
                    <a:pt x="3539962" y="1875555"/>
                  </a:lnTo>
                  <a:lnTo>
                    <a:pt x="3545713" y="1847088"/>
                  </a:lnTo>
                  <a:lnTo>
                    <a:pt x="3545713" y="73151"/>
                  </a:lnTo>
                  <a:lnTo>
                    <a:pt x="3539962" y="44684"/>
                  </a:lnTo>
                  <a:lnTo>
                    <a:pt x="3524281" y="21431"/>
                  </a:lnTo>
                  <a:lnTo>
                    <a:pt x="3501028" y="5750"/>
                  </a:lnTo>
                  <a:lnTo>
                    <a:pt x="34725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322952" y="1828799"/>
              <a:ext cx="3545840" cy="1920239"/>
            </a:xfrm>
            <a:custGeom>
              <a:avLst/>
              <a:gdLst/>
              <a:ahLst/>
              <a:cxnLst/>
              <a:rect l="l" t="t" r="r" b="b"/>
              <a:pathLst>
                <a:path w="3545840" h="1920239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3472561" y="0"/>
                  </a:lnTo>
                  <a:lnTo>
                    <a:pt x="3501028" y="5750"/>
                  </a:lnTo>
                  <a:lnTo>
                    <a:pt x="3524281" y="21431"/>
                  </a:lnTo>
                  <a:lnTo>
                    <a:pt x="3539962" y="44684"/>
                  </a:lnTo>
                  <a:lnTo>
                    <a:pt x="3545713" y="73151"/>
                  </a:lnTo>
                  <a:lnTo>
                    <a:pt x="3545713" y="1847088"/>
                  </a:lnTo>
                  <a:lnTo>
                    <a:pt x="3539962" y="1875555"/>
                  </a:lnTo>
                  <a:lnTo>
                    <a:pt x="3524281" y="1898808"/>
                  </a:lnTo>
                  <a:lnTo>
                    <a:pt x="3501028" y="1914489"/>
                  </a:lnTo>
                  <a:lnTo>
                    <a:pt x="3472561" y="1920239"/>
                  </a:lnTo>
                  <a:lnTo>
                    <a:pt x="73151" y="1920239"/>
                  </a:lnTo>
                  <a:lnTo>
                    <a:pt x="44684" y="1914489"/>
                  </a:lnTo>
                  <a:lnTo>
                    <a:pt x="21431" y="1898808"/>
                  </a:lnTo>
                  <a:lnTo>
                    <a:pt x="5750" y="1875555"/>
                  </a:lnTo>
                  <a:lnTo>
                    <a:pt x="0" y="1847088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524120" y="202996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2D8A5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673600" y="2118486"/>
            <a:ext cx="24980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6720" algn="l"/>
              </a:tabLst>
            </a:pPr>
            <a:r>
              <a:rPr dirty="0" baseline="1736" sz="2400" spc="-75" b="1">
                <a:solidFill>
                  <a:srgbClr val="FFFFFF"/>
                </a:solidFill>
                <a:latin typeface="Cambria"/>
                <a:cs typeface="Cambria"/>
              </a:rPr>
              <a:t>B</a:t>
            </a:r>
            <a:r>
              <a:rPr dirty="0" baseline="1736" sz="2400" b="1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300" b="1">
                <a:solidFill>
                  <a:srgbClr val="091F3C"/>
                </a:solidFill>
                <a:latin typeface="Arial"/>
                <a:cs typeface="Arial"/>
              </a:rPr>
              <a:t>Automate</a:t>
            </a:r>
            <a:r>
              <a:rPr dirty="0" sz="1300" spc="-1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091F3C"/>
                </a:solidFill>
                <a:latin typeface="Arial"/>
                <a:cs typeface="Arial"/>
              </a:rPr>
              <a:t>the</a:t>
            </a:r>
            <a:r>
              <a:rPr dirty="0" sz="1300" spc="-40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091F3C"/>
                </a:solidFill>
                <a:latin typeface="Arial"/>
                <a:cs typeface="Arial"/>
              </a:rPr>
              <a:t>Boring</a:t>
            </a:r>
            <a:r>
              <a:rPr dirty="0" sz="1300" spc="-40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091F3C"/>
                </a:solidFill>
                <a:latin typeface="Arial"/>
                <a:cs typeface="Arial"/>
              </a:rPr>
              <a:t>Stuff</a:t>
            </a:r>
            <a:endParaRPr sz="13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39488" y="2589402"/>
            <a:ext cx="2990215" cy="35877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165"/>
              </a:spcBef>
            </a:pP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Free,</a:t>
            </a:r>
            <a:r>
              <a:rPr dirty="0" sz="11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practical</a:t>
            </a:r>
            <a:r>
              <a:rPr dirty="0" sz="1100" spc="-4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Python</a:t>
            </a:r>
            <a:r>
              <a:rPr dirty="0" sz="1100" spc="-1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for</a:t>
            </a:r>
            <a:r>
              <a:rPr dirty="0" sz="1100" spc="-5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beginners</a:t>
            </a:r>
            <a:r>
              <a:rPr dirty="0" sz="11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—</a:t>
            </a:r>
            <a:r>
              <a:rPr dirty="0" sz="11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95468"/>
                </a:solidFill>
                <a:latin typeface="Arial MT"/>
                <a:cs typeface="Arial MT"/>
              </a:rPr>
              <a:t>chapters 1–</a:t>
            </a:r>
            <a:r>
              <a:rPr dirty="0" sz="1100" spc="-25">
                <a:solidFill>
                  <a:srgbClr val="495468"/>
                </a:solidFill>
                <a:latin typeface="Arial MT"/>
                <a:cs typeface="Arial MT"/>
              </a:rPr>
              <a:t>3.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39488" y="3415411"/>
            <a:ext cx="18421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2D8A56"/>
                </a:solidFill>
                <a:latin typeface="Consolas"/>
                <a:cs typeface="Consolas"/>
              </a:rPr>
              <a:t>automatetheboringstuff.com</a:t>
            </a:r>
            <a:endParaRPr sz="1000">
              <a:latin typeface="Consolas"/>
              <a:cs typeface="Consola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104558" y="1790649"/>
            <a:ext cx="3652520" cy="2040255"/>
            <a:chOff x="8104558" y="1790649"/>
            <a:chExt cx="3652520" cy="2040255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04558" y="1790649"/>
              <a:ext cx="3652412" cy="203994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142985" y="1828799"/>
              <a:ext cx="3545840" cy="1920239"/>
            </a:xfrm>
            <a:custGeom>
              <a:avLst/>
              <a:gdLst/>
              <a:ahLst/>
              <a:cxnLst/>
              <a:rect l="l" t="t" r="r" b="b"/>
              <a:pathLst>
                <a:path w="3545840" h="1920239">
                  <a:moveTo>
                    <a:pt x="3472688" y="0"/>
                  </a:moveTo>
                  <a:lnTo>
                    <a:pt x="73152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847088"/>
                  </a:lnTo>
                  <a:lnTo>
                    <a:pt x="5750" y="1875555"/>
                  </a:lnTo>
                  <a:lnTo>
                    <a:pt x="21431" y="1898808"/>
                  </a:lnTo>
                  <a:lnTo>
                    <a:pt x="44684" y="1914489"/>
                  </a:lnTo>
                  <a:lnTo>
                    <a:pt x="73152" y="1920239"/>
                  </a:lnTo>
                  <a:lnTo>
                    <a:pt x="3472688" y="1920239"/>
                  </a:lnTo>
                  <a:lnTo>
                    <a:pt x="3501155" y="1914489"/>
                  </a:lnTo>
                  <a:lnTo>
                    <a:pt x="3524408" y="1898808"/>
                  </a:lnTo>
                  <a:lnTo>
                    <a:pt x="3540089" y="1875555"/>
                  </a:lnTo>
                  <a:lnTo>
                    <a:pt x="3545840" y="1847088"/>
                  </a:lnTo>
                  <a:lnTo>
                    <a:pt x="3545840" y="73151"/>
                  </a:lnTo>
                  <a:lnTo>
                    <a:pt x="3540089" y="44684"/>
                  </a:lnTo>
                  <a:lnTo>
                    <a:pt x="3524408" y="21431"/>
                  </a:lnTo>
                  <a:lnTo>
                    <a:pt x="3501155" y="5750"/>
                  </a:lnTo>
                  <a:lnTo>
                    <a:pt x="34726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142985" y="1828799"/>
              <a:ext cx="3545840" cy="1920239"/>
            </a:xfrm>
            <a:custGeom>
              <a:avLst/>
              <a:gdLst/>
              <a:ahLst/>
              <a:cxnLst/>
              <a:rect l="l" t="t" r="r" b="b"/>
              <a:pathLst>
                <a:path w="3545840" h="1920239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2" y="0"/>
                  </a:lnTo>
                  <a:lnTo>
                    <a:pt x="3472688" y="0"/>
                  </a:lnTo>
                  <a:lnTo>
                    <a:pt x="3501155" y="5750"/>
                  </a:lnTo>
                  <a:lnTo>
                    <a:pt x="3524408" y="21431"/>
                  </a:lnTo>
                  <a:lnTo>
                    <a:pt x="3540089" y="44684"/>
                  </a:lnTo>
                  <a:lnTo>
                    <a:pt x="3545840" y="73151"/>
                  </a:lnTo>
                  <a:lnTo>
                    <a:pt x="3545840" y="1847088"/>
                  </a:lnTo>
                  <a:lnTo>
                    <a:pt x="3540089" y="1875555"/>
                  </a:lnTo>
                  <a:lnTo>
                    <a:pt x="3524408" y="1898808"/>
                  </a:lnTo>
                  <a:lnTo>
                    <a:pt x="3501155" y="1914489"/>
                  </a:lnTo>
                  <a:lnTo>
                    <a:pt x="3472688" y="1920239"/>
                  </a:lnTo>
                  <a:lnTo>
                    <a:pt x="73152" y="1920239"/>
                  </a:lnTo>
                  <a:lnTo>
                    <a:pt x="44684" y="1914489"/>
                  </a:lnTo>
                  <a:lnTo>
                    <a:pt x="21431" y="1898808"/>
                  </a:lnTo>
                  <a:lnTo>
                    <a:pt x="5750" y="1875555"/>
                  </a:lnTo>
                  <a:lnTo>
                    <a:pt x="0" y="1847088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344153" y="202996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703" y="452555"/>
                  </a:lnTo>
                  <a:lnTo>
                    <a:pt x="317628" y="439233"/>
                  </a:lnTo>
                  <a:lnTo>
                    <a:pt x="356461" y="418154"/>
                  </a:lnTo>
                  <a:lnTo>
                    <a:pt x="390286" y="390239"/>
                  </a:lnTo>
                  <a:lnTo>
                    <a:pt x="418188" y="356406"/>
                  </a:lnTo>
                  <a:lnTo>
                    <a:pt x="439251" y="317575"/>
                  </a:lnTo>
                  <a:lnTo>
                    <a:pt x="452560" y="274666"/>
                  </a:lnTo>
                  <a:lnTo>
                    <a:pt x="457200" y="228600"/>
                  </a:lnTo>
                  <a:lnTo>
                    <a:pt x="452560" y="182533"/>
                  </a:lnTo>
                  <a:lnTo>
                    <a:pt x="439251" y="139624"/>
                  </a:lnTo>
                  <a:lnTo>
                    <a:pt x="418188" y="100793"/>
                  </a:lnTo>
                  <a:lnTo>
                    <a:pt x="390286" y="66960"/>
                  </a:lnTo>
                  <a:lnTo>
                    <a:pt x="356461" y="39045"/>
                  </a:lnTo>
                  <a:lnTo>
                    <a:pt x="317628" y="17966"/>
                  </a:lnTo>
                  <a:lnTo>
                    <a:pt x="274703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792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8503411" y="2118486"/>
            <a:ext cx="21443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7830" algn="l"/>
              </a:tabLst>
            </a:pPr>
            <a:r>
              <a:rPr dirty="0" baseline="1736" sz="2400" spc="-75" b="1">
                <a:solidFill>
                  <a:srgbClr val="FFFFFF"/>
                </a:solidFill>
                <a:latin typeface="Cambria"/>
                <a:cs typeface="Cambria"/>
              </a:rPr>
              <a:t>C</a:t>
            </a:r>
            <a:r>
              <a:rPr dirty="0" baseline="1736" sz="2400" b="1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300" b="1">
                <a:solidFill>
                  <a:srgbClr val="091F3C"/>
                </a:solidFill>
                <a:latin typeface="Arial"/>
                <a:cs typeface="Arial"/>
              </a:rPr>
              <a:t>Python</a:t>
            </a:r>
            <a:r>
              <a:rPr dirty="0" sz="1300" spc="-20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091F3C"/>
                </a:solidFill>
                <a:latin typeface="Arial"/>
                <a:cs typeface="Arial"/>
              </a:rPr>
              <a:t>for</a:t>
            </a:r>
            <a:r>
              <a:rPr dirty="0" sz="1300" spc="-5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091F3C"/>
                </a:solidFill>
                <a:latin typeface="Arial"/>
                <a:cs typeface="Arial"/>
              </a:rPr>
              <a:t>Everybody</a:t>
            </a:r>
            <a:endParaRPr sz="13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360156" y="2586355"/>
            <a:ext cx="268414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Dr.</a:t>
            </a:r>
            <a:r>
              <a:rPr dirty="0" sz="11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Chuck's</a:t>
            </a:r>
            <a:r>
              <a:rPr dirty="0" sz="11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gentle,</a:t>
            </a:r>
            <a:r>
              <a:rPr dirty="0" sz="11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495468"/>
                </a:solidFill>
                <a:latin typeface="Arial MT"/>
                <a:cs typeface="Arial MT"/>
              </a:rPr>
              <a:t>well-</a:t>
            </a: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paced</a:t>
            </a:r>
            <a:r>
              <a:rPr dirty="0" sz="1100" spc="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free</a:t>
            </a:r>
            <a:r>
              <a:rPr dirty="0" sz="110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95468"/>
                </a:solidFill>
                <a:latin typeface="Arial MT"/>
                <a:cs typeface="Arial MT"/>
              </a:rPr>
              <a:t>course.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360156" y="3415411"/>
            <a:ext cx="5867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C79239"/>
                </a:solidFill>
                <a:latin typeface="Consolas"/>
                <a:cs typeface="Consolas"/>
              </a:rPr>
              <a:t>py4e.com</a:t>
            </a:r>
            <a:endParaRPr sz="1000">
              <a:latin typeface="Consolas"/>
              <a:cs typeface="Consola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64746" y="3985197"/>
            <a:ext cx="3652520" cy="2040255"/>
            <a:chOff x="464746" y="3985197"/>
            <a:chExt cx="3652520" cy="2040255"/>
          </a:xfrm>
        </p:grpSpPr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4746" y="3985197"/>
              <a:ext cx="3652412" cy="203994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02919" y="4023359"/>
              <a:ext cx="3545840" cy="1920239"/>
            </a:xfrm>
            <a:custGeom>
              <a:avLst/>
              <a:gdLst/>
              <a:ahLst/>
              <a:cxnLst/>
              <a:rect l="l" t="t" r="r" b="b"/>
              <a:pathLst>
                <a:path w="3545840" h="1920239">
                  <a:moveTo>
                    <a:pt x="3472560" y="0"/>
                  </a:moveTo>
                  <a:lnTo>
                    <a:pt x="73164" y="0"/>
                  </a:lnTo>
                  <a:lnTo>
                    <a:pt x="44684" y="5750"/>
                  </a:lnTo>
                  <a:lnTo>
                    <a:pt x="21428" y="21431"/>
                  </a:lnTo>
                  <a:lnTo>
                    <a:pt x="5749" y="44684"/>
                  </a:lnTo>
                  <a:lnTo>
                    <a:pt x="0" y="73151"/>
                  </a:lnTo>
                  <a:lnTo>
                    <a:pt x="0" y="1847075"/>
                  </a:lnTo>
                  <a:lnTo>
                    <a:pt x="5749" y="1875555"/>
                  </a:lnTo>
                  <a:lnTo>
                    <a:pt x="21428" y="1898811"/>
                  </a:lnTo>
                  <a:lnTo>
                    <a:pt x="44684" y="1914490"/>
                  </a:lnTo>
                  <a:lnTo>
                    <a:pt x="73164" y="1920239"/>
                  </a:lnTo>
                  <a:lnTo>
                    <a:pt x="3472560" y="1920239"/>
                  </a:lnTo>
                  <a:lnTo>
                    <a:pt x="3501028" y="1914490"/>
                  </a:lnTo>
                  <a:lnTo>
                    <a:pt x="3524281" y="1898811"/>
                  </a:lnTo>
                  <a:lnTo>
                    <a:pt x="3539962" y="1875555"/>
                  </a:lnTo>
                  <a:lnTo>
                    <a:pt x="3545713" y="1847075"/>
                  </a:lnTo>
                  <a:lnTo>
                    <a:pt x="3545713" y="73151"/>
                  </a:lnTo>
                  <a:lnTo>
                    <a:pt x="3539962" y="44684"/>
                  </a:lnTo>
                  <a:lnTo>
                    <a:pt x="3524281" y="21431"/>
                  </a:lnTo>
                  <a:lnTo>
                    <a:pt x="3501028" y="5750"/>
                  </a:lnTo>
                  <a:lnTo>
                    <a:pt x="34725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502919" y="4023359"/>
              <a:ext cx="3545840" cy="1920239"/>
            </a:xfrm>
            <a:custGeom>
              <a:avLst/>
              <a:gdLst/>
              <a:ahLst/>
              <a:cxnLst/>
              <a:rect l="l" t="t" r="r" b="b"/>
              <a:pathLst>
                <a:path w="3545840" h="1920239">
                  <a:moveTo>
                    <a:pt x="0" y="73151"/>
                  </a:moveTo>
                  <a:lnTo>
                    <a:pt x="5749" y="44684"/>
                  </a:lnTo>
                  <a:lnTo>
                    <a:pt x="21428" y="21431"/>
                  </a:lnTo>
                  <a:lnTo>
                    <a:pt x="44684" y="5750"/>
                  </a:lnTo>
                  <a:lnTo>
                    <a:pt x="73164" y="0"/>
                  </a:lnTo>
                  <a:lnTo>
                    <a:pt x="3472560" y="0"/>
                  </a:lnTo>
                  <a:lnTo>
                    <a:pt x="3501028" y="5750"/>
                  </a:lnTo>
                  <a:lnTo>
                    <a:pt x="3524281" y="21431"/>
                  </a:lnTo>
                  <a:lnTo>
                    <a:pt x="3539962" y="44684"/>
                  </a:lnTo>
                  <a:lnTo>
                    <a:pt x="3545713" y="73151"/>
                  </a:lnTo>
                  <a:lnTo>
                    <a:pt x="3545713" y="1847075"/>
                  </a:lnTo>
                  <a:lnTo>
                    <a:pt x="3539962" y="1875555"/>
                  </a:lnTo>
                  <a:lnTo>
                    <a:pt x="3524281" y="1898811"/>
                  </a:lnTo>
                  <a:lnTo>
                    <a:pt x="3501028" y="1914490"/>
                  </a:lnTo>
                  <a:lnTo>
                    <a:pt x="3472560" y="1920239"/>
                  </a:lnTo>
                  <a:lnTo>
                    <a:pt x="73164" y="1920239"/>
                  </a:lnTo>
                  <a:lnTo>
                    <a:pt x="44684" y="1914490"/>
                  </a:lnTo>
                  <a:lnTo>
                    <a:pt x="21428" y="1898811"/>
                  </a:lnTo>
                  <a:lnTo>
                    <a:pt x="5749" y="1875555"/>
                  </a:lnTo>
                  <a:lnTo>
                    <a:pt x="0" y="1847075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04087" y="4224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4" y="317575"/>
                  </a:lnTo>
                  <a:lnTo>
                    <a:pt x="39041" y="356406"/>
                  </a:lnTo>
                  <a:lnTo>
                    <a:pt x="66955" y="390239"/>
                  </a:lnTo>
                  <a:lnTo>
                    <a:pt x="100788" y="418154"/>
                  </a:lnTo>
                  <a:lnTo>
                    <a:pt x="139619" y="439233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3"/>
                  </a:lnTo>
                  <a:lnTo>
                    <a:pt x="356411" y="418154"/>
                  </a:lnTo>
                  <a:lnTo>
                    <a:pt x="390244" y="390239"/>
                  </a:lnTo>
                  <a:lnTo>
                    <a:pt x="418158" y="356406"/>
                  </a:lnTo>
                  <a:lnTo>
                    <a:pt x="439235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5" y="139624"/>
                  </a:lnTo>
                  <a:lnTo>
                    <a:pt x="418158" y="100793"/>
                  </a:lnTo>
                  <a:lnTo>
                    <a:pt x="390244" y="66960"/>
                  </a:lnTo>
                  <a:lnTo>
                    <a:pt x="356411" y="39045"/>
                  </a:lnTo>
                  <a:lnTo>
                    <a:pt x="317580" y="17966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6B3E9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848360" y="4313301"/>
            <a:ext cx="19367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1800" algn="l"/>
              </a:tabLst>
            </a:pPr>
            <a:r>
              <a:rPr dirty="0" baseline="1736" sz="2400" spc="-75" b="1">
                <a:solidFill>
                  <a:srgbClr val="FFFFFF"/>
                </a:solidFill>
                <a:latin typeface="Cambria"/>
                <a:cs typeface="Cambria"/>
              </a:rPr>
              <a:t>D</a:t>
            </a:r>
            <a:r>
              <a:rPr dirty="0" baseline="1736" sz="2400" b="1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300" b="1">
                <a:solidFill>
                  <a:srgbClr val="091F3C"/>
                </a:solidFill>
                <a:latin typeface="Arial"/>
                <a:cs typeface="Arial"/>
              </a:rPr>
              <a:t>W3Schools</a:t>
            </a:r>
            <a:r>
              <a:rPr dirty="0" sz="1300" spc="-7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091F3C"/>
                </a:solidFill>
                <a:latin typeface="Arial"/>
                <a:cs typeface="Arial"/>
              </a:rPr>
              <a:t>Python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18819" y="4784216"/>
            <a:ext cx="2809875" cy="358775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160"/>
              </a:spcBef>
            </a:pP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Quick,</a:t>
            </a:r>
            <a:r>
              <a:rPr dirty="0" sz="1100" spc="-6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searchable</a:t>
            </a:r>
            <a:r>
              <a:rPr dirty="0" sz="110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syntax</a:t>
            </a:r>
            <a:r>
              <a:rPr dirty="0" sz="11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reference</a:t>
            </a:r>
            <a:r>
              <a:rPr dirty="0" sz="1100" spc="-6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with</a:t>
            </a:r>
            <a:r>
              <a:rPr dirty="0" sz="1100" spc="-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try-</a:t>
            </a:r>
            <a:r>
              <a:rPr dirty="0" sz="1100" spc="-25">
                <a:solidFill>
                  <a:srgbClr val="495468"/>
                </a:solidFill>
                <a:latin typeface="Arial MT"/>
                <a:cs typeface="Arial MT"/>
              </a:rPr>
              <a:t>it </a:t>
            </a:r>
            <a:r>
              <a:rPr dirty="0" sz="1100" spc="-10">
                <a:solidFill>
                  <a:srgbClr val="495468"/>
                </a:solidFill>
                <a:latin typeface="Arial MT"/>
                <a:cs typeface="Arial MT"/>
              </a:rPr>
              <a:t>editor.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18819" y="5610555"/>
            <a:ext cx="14249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6B3E9F"/>
                </a:solidFill>
                <a:latin typeface="Consolas"/>
                <a:cs typeface="Consolas"/>
              </a:rPr>
              <a:t>w3schools.com/python</a:t>
            </a:r>
            <a:endParaRPr sz="1000">
              <a:latin typeface="Consolas"/>
              <a:cs typeface="Consolas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283890" y="3985197"/>
            <a:ext cx="3666490" cy="2040255"/>
            <a:chOff x="4283890" y="3985197"/>
            <a:chExt cx="3666490" cy="2040255"/>
          </a:xfrm>
        </p:grpSpPr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83890" y="3985197"/>
              <a:ext cx="3666091" cy="203994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322952" y="4023359"/>
              <a:ext cx="3545840" cy="1920239"/>
            </a:xfrm>
            <a:custGeom>
              <a:avLst/>
              <a:gdLst/>
              <a:ahLst/>
              <a:cxnLst/>
              <a:rect l="l" t="t" r="r" b="b"/>
              <a:pathLst>
                <a:path w="3545840" h="1920239">
                  <a:moveTo>
                    <a:pt x="347256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847075"/>
                  </a:lnTo>
                  <a:lnTo>
                    <a:pt x="5750" y="1875555"/>
                  </a:lnTo>
                  <a:lnTo>
                    <a:pt x="21431" y="1898811"/>
                  </a:lnTo>
                  <a:lnTo>
                    <a:pt x="44684" y="1914490"/>
                  </a:lnTo>
                  <a:lnTo>
                    <a:pt x="73151" y="1920239"/>
                  </a:lnTo>
                  <a:lnTo>
                    <a:pt x="3472561" y="1920239"/>
                  </a:lnTo>
                  <a:lnTo>
                    <a:pt x="3501028" y="1914490"/>
                  </a:lnTo>
                  <a:lnTo>
                    <a:pt x="3524281" y="1898811"/>
                  </a:lnTo>
                  <a:lnTo>
                    <a:pt x="3539962" y="1875555"/>
                  </a:lnTo>
                  <a:lnTo>
                    <a:pt x="3545713" y="1847075"/>
                  </a:lnTo>
                  <a:lnTo>
                    <a:pt x="3545713" y="73151"/>
                  </a:lnTo>
                  <a:lnTo>
                    <a:pt x="3539962" y="44684"/>
                  </a:lnTo>
                  <a:lnTo>
                    <a:pt x="3524281" y="21431"/>
                  </a:lnTo>
                  <a:lnTo>
                    <a:pt x="3501028" y="5750"/>
                  </a:lnTo>
                  <a:lnTo>
                    <a:pt x="34725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322952" y="4023359"/>
              <a:ext cx="3545840" cy="1920239"/>
            </a:xfrm>
            <a:custGeom>
              <a:avLst/>
              <a:gdLst/>
              <a:ahLst/>
              <a:cxnLst/>
              <a:rect l="l" t="t" r="r" b="b"/>
              <a:pathLst>
                <a:path w="3545840" h="1920239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3472561" y="0"/>
                  </a:lnTo>
                  <a:lnTo>
                    <a:pt x="3501028" y="5750"/>
                  </a:lnTo>
                  <a:lnTo>
                    <a:pt x="3524281" y="21431"/>
                  </a:lnTo>
                  <a:lnTo>
                    <a:pt x="3539962" y="44684"/>
                  </a:lnTo>
                  <a:lnTo>
                    <a:pt x="3545713" y="73151"/>
                  </a:lnTo>
                  <a:lnTo>
                    <a:pt x="3545713" y="1847075"/>
                  </a:lnTo>
                  <a:lnTo>
                    <a:pt x="3539962" y="1875555"/>
                  </a:lnTo>
                  <a:lnTo>
                    <a:pt x="3524281" y="1898811"/>
                  </a:lnTo>
                  <a:lnTo>
                    <a:pt x="3501028" y="1914490"/>
                  </a:lnTo>
                  <a:lnTo>
                    <a:pt x="3472561" y="1920239"/>
                  </a:lnTo>
                  <a:lnTo>
                    <a:pt x="73151" y="1920239"/>
                  </a:lnTo>
                  <a:lnTo>
                    <a:pt x="44684" y="1914490"/>
                  </a:lnTo>
                  <a:lnTo>
                    <a:pt x="21431" y="1898811"/>
                  </a:lnTo>
                  <a:lnTo>
                    <a:pt x="5750" y="1875555"/>
                  </a:lnTo>
                  <a:lnTo>
                    <a:pt x="0" y="1847075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524120" y="4224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1B797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4681220" y="4313301"/>
            <a:ext cx="13817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9100" algn="l"/>
              </a:tabLst>
            </a:pPr>
            <a:r>
              <a:rPr dirty="0" baseline="1736" sz="2400" spc="-75" b="1">
                <a:solidFill>
                  <a:srgbClr val="FFFFFF"/>
                </a:solidFill>
                <a:latin typeface="Cambria"/>
                <a:cs typeface="Cambria"/>
              </a:rPr>
              <a:t>E</a:t>
            </a:r>
            <a:r>
              <a:rPr dirty="0" baseline="1736" sz="2400" b="1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300" b="1">
                <a:solidFill>
                  <a:srgbClr val="091F3C"/>
                </a:solidFill>
                <a:latin typeface="Arial"/>
                <a:cs typeface="Arial"/>
              </a:rPr>
              <a:t>Real</a:t>
            </a:r>
            <a:r>
              <a:rPr dirty="0" sz="1300" spc="-2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091F3C"/>
                </a:solidFill>
                <a:latin typeface="Arial"/>
                <a:cs typeface="Arial"/>
              </a:rPr>
              <a:t>Python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539488" y="4784216"/>
            <a:ext cx="2532380" cy="358775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160"/>
              </a:spcBef>
            </a:pP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Clear</a:t>
            </a:r>
            <a:r>
              <a:rPr dirty="0" sz="11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tutorials</a:t>
            </a:r>
            <a:r>
              <a:rPr dirty="0" sz="1100" spc="-4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on</a:t>
            </a:r>
            <a:r>
              <a:rPr dirty="0" sz="1100" spc="-3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each</a:t>
            </a:r>
            <a:r>
              <a:rPr dirty="0" sz="11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topic,</a:t>
            </a:r>
            <a:r>
              <a:rPr dirty="0" sz="1100" spc="-45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beginner</a:t>
            </a:r>
            <a:r>
              <a:rPr dirty="0" sz="11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495468"/>
                </a:solidFill>
                <a:latin typeface="Arial MT"/>
                <a:cs typeface="Arial MT"/>
              </a:rPr>
              <a:t>to </a:t>
            </a:r>
            <a:r>
              <a:rPr dirty="0" sz="1100" spc="-10">
                <a:solidFill>
                  <a:srgbClr val="495468"/>
                </a:solidFill>
                <a:latin typeface="Arial MT"/>
                <a:cs typeface="Arial MT"/>
              </a:rPr>
              <a:t>advanced.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539488" y="5610555"/>
            <a:ext cx="10058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1B7979"/>
                </a:solidFill>
                <a:latin typeface="Consolas"/>
                <a:cs typeface="Consolas"/>
              </a:rPr>
              <a:t>realpython.com</a:t>
            </a:r>
            <a:endParaRPr sz="1000">
              <a:latin typeface="Consolas"/>
              <a:cs typeface="Consolas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8104558" y="3985197"/>
            <a:ext cx="3652520" cy="2040255"/>
            <a:chOff x="8104558" y="3985197"/>
            <a:chExt cx="3652520" cy="2040255"/>
          </a:xfrm>
        </p:grpSpPr>
        <p:pic>
          <p:nvPicPr>
            <p:cNvPr id="46" name="object 4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04558" y="3985197"/>
              <a:ext cx="3652412" cy="2039949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8142985" y="4023359"/>
              <a:ext cx="3545840" cy="1920239"/>
            </a:xfrm>
            <a:custGeom>
              <a:avLst/>
              <a:gdLst/>
              <a:ahLst/>
              <a:cxnLst/>
              <a:rect l="l" t="t" r="r" b="b"/>
              <a:pathLst>
                <a:path w="3545840" h="1920239">
                  <a:moveTo>
                    <a:pt x="3472688" y="0"/>
                  </a:moveTo>
                  <a:lnTo>
                    <a:pt x="73152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847075"/>
                  </a:lnTo>
                  <a:lnTo>
                    <a:pt x="5750" y="1875555"/>
                  </a:lnTo>
                  <a:lnTo>
                    <a:pt x="21431" y="1898811"/>
                  </a:lnTo>
                  <a:lnTo>
                    <a:pt x="44684" y="1914490"/>
                  </a:lnTo>
                  <a:lnTo>
                    <a:pt x="73152" y="1920239"/>
                  </a:lnTo>
                  <a:lnTo>
                    <a:pt x="3472688" y="1920239"/>
                  </a:lnTo>
                  <a:lnTo>
                    <a:pt x="3501155" y="1914490"/>
                  </a:lnTo>
                  <a:lnTo>
                    <a:pt x="3524408" y="1898811"/>
                  </a:lnTo>
                  <a:lnTo>
                    <a:pt x="3540089" y="1875555"/>
                  </a:lnTo>
                  <a:lnTo>
                    <a:pt x="3545840" y="1847075"/>
                  </a:lnTo>
                  <a:lnTo>
                    <a:pt x="3545840" y="73151"/>
                  </a:lnTo>
                  <a:lnTo>
                    <a:pt x="3540089" y="44684"/>
                  </a:lnTo>
                  <a:lnTo>
                    <a:pt x="3524408" y="21431"/>
                  </a:lnTo>
                  <a:lnTo>
                    <a:pt x="3501155" y="5750"/>
                  </a:lnTo>
                  <a:lnTo>
                    <a:pt x="34726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8142985" y="4023359"/>
              <a:ext cx="3545840" cy="1920239"/>
            </a:xfrm>
            <a:custGeom>
              <a:avLst/>
              <a:gdLst/>
              <a:ahLst/>
              <a:cxnLst/>
              <a:rect l="l" t="t" r="r" b="b"/>
              <a:pathLst>
                <a:path w="3545840" h="1920239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2" y="0"/>
                  </a:lnTo>
                  <a:lnTo>
                    <a:pt x="3472688" y="0"/>
                  </a:lnTo>
                  <a:lnTo>
                    <a:pt x="3501155" y="5750"/>
                  </a:lnTo>
                  <a:lnTo>
                    <a:pt x="3524408" y="21431"/>
                  </a:lnTo>
                  <a:lnTo>
                    <a:pt x="3540089" y="44684"/>
                  </a:lnTo>
                  <a:lnTo>
                    <a:pt x="3545840" y="73151"/>
                  </a:lnTo>
                  <a:lnTo>
                    <a:pt x="3545840" y="1847075"/>
                  </a:lnTo>
                  <a:lnTo>
                    <a:pt x="3540089" y="1875555"/>
                  </a:lnTo>
                  <a:lnTo>
                    <a:pt x="3524408" y="1898811"/>
                  </a:lnTo>
                  <a:lnTo>
                    <a:pt x="3501155" y="1914490"/>
                  </a:lnTo>
                  <a:lnTo>
                    <a:pt x="3472688" y="1920239"/>
                  </a:lnTo>
                  <a:lnTo>
                    <a:pt x="73152" y="1920239"/>
                  </a:lnTo>
                  <a:lnTo>
                    <a:pt x="44684" y="1914490"/>
                  </a:lnTo>
                  <a:lnTo>
                    <a:pt x="21431" y="1898811"/>
                  </a:lnTo>
                  <a:lnTo>
                    <a:pt x="5750" y="1875555"/>
                  </a:lnTo>
                  <a:lnTo>
                    <a:pt x="0" y="1847075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8344153" y="4224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703" y="452555"/>
                  </a:lnTo>
                  <a:lnTo>
                    <a:pt x="317628" y="439233"/>
                  </a:lnTo>
                  <a:lnTo>
                    <a:pt x="356461" y="418154"/>
                  </a:lnTo>
                  <a:lnTo>
                    <a:pt x="390286" y="390239"/>
                  </a:lnTo>
                  <a:lnTo>
                    <a:pt x="418188" y="356406"/>
                  </a:lnTo>
                  <a:lnTo>
                    <a:pt x="439251" y="317575"/>
                  </a:lnTo>
                  <a:lnTo>
                    <a:pt x="452560" y="274666"/>
                  </a:lnTo>
                  <a:lnTo>
                    <a:pt x="457200" y="228600"/>
                  </a:lnTo>
                  <a:lnTo>
                    <a:pt x="452560" y="182533"/>
                  </a:lnTo>
                  <a:lnTo>
                    <a:pt x="439251" y="139624"/>
                  </a:lnTo>
                  <a:lnTo>
                    <a:pt x="418188" y="100793"/>
                  </a:lnTo>
                  <a:lnTo>
                    <a:pt x="390286" y="66960"/>
                  </a:lnTo>
                  <a:lnTo>
                    <a:pt x="356461" y="39045"/>
                  </a:lnTo>
                  <a:lnTo>
                    <a:pt x="317628" y="17966"/>
                  </a:lnTo>
                  <a:lnTo>
                    <a:pt x="274703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2A487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8504935" y="4313301"/>
            <a:ext cx="14452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5925" algn="l"/>
              </a:tabLst>
            </a:pPr>
            <a:r>
              <a:rPr dirty="0" baseline="1736" sz="2400" spc="-75" b="1">
                <a:solidFill>
                  <a:srgbClr val="FFFFFF"/>
                </a:solidFill>
                <a:latin typeface="Cambria"/>
                <a:cs typeface="Cambria"/>
              </a:rPr>
              <a:t>F</a:t>
            </a:r>
            <a:r>
              <a:rPr dirty="0" baseline="1736" sz="2400" b="1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300" b="1">
                <a:solidFill>
                  <a:srgbClr val="091F3C"/>
                </a:solidFill>
                <a:latin typeface="Arial"/>
                <a:cs typeface="Arial"/>
              </a:rPr>
              <a:t>Python</a:t>
            </a:r>
            <a:r>
              <a:rPr dirty="0" sz="1300" spc="-55" b="1">
                <a:solidFill>
                  <a:srgbClr val="091F3C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091F3C"/>
                </a:solidFill>
                <a:latin typeface="Arial"/>
                <a:cs typeface="Arial"/>
              </a:rPr>
              <a:t>Tutor</a:t>
            </a:r>
            <a:endParaRPr sz="1300">
              <a:latin typeface="Arial"/>
              <a:cs typeface="Arial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Property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IBT</a:t>
            </a:r>
            <a:r>
              <a:rPr dirty="0" spc="-35"/>
              <a:t> </a:t>
            </a:r>
            <a:r>
              <a:rPr dirty="0"/>
              <a:t>College</a:t>
            </a:r>
            <a:r>
              <a:rPr dirty="0" spc="-15"/>
              <a:t> </a:t>
            </a:r>
            <a:r>
              <a:rPr dirty="0" spc="-10"/>
              <a:t>Canada</a:t>
            </a:r>
          </a:p>
        </p:txBody>
      </p:sp>
      <p:sp>
        <p:nvSpPr>
          <p:cNvPr id="54" name="object 5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23</a:t>
            </a:fld>
            <a:r>
              <a:rPr dirty="0"/>
              <a:t> /</a:t>
            </a:r>
            <a:r>
              <a:rPr dirty="0" spc="-10"/>
              <a:t> </a:t>
            </a:r>
            <a:r>
              <a:rPr dirty="0" spc="-25"/>
              <a:t>30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8360156" y="4781169"/>
            <a:ext cx="25171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Visualise</a:t>
            </a:r>
            <a:r>
              <a:rPr dirty="0" sz="1100" spc="-1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your</a:t>
            </a:r>
            <a:r>
              <a:rPr dirty="0" sz="1100" spc="-3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code</a:t>
            </a:r>
            <a:r>
              <a:rPr dirty="0" sz="1100" spc="-4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running,</a:t>
            </a:r>
            <a:r>
              <a:rPr dirty="0" sz="1100" spc="-5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line</a:t>
            </a:r>
            <a:r>
              <a:rPr dirty="0" sz="1100" spc="-2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95468"/>
                </a:solidFill>
                <a:latin typeface="Arial MT"/>
                <a:cs typeface="Arial MT"/>
              </a:rPr>
              <a:t>by</a:t>
            </a:r>
            <a:r>
              <a:rPr dirty="0" sz="1100" spc="-40">
                <a:solidFill>
                  <a:srgbClr val="495468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495468"/>
                </a:solidFill>
                <a:latin typeface="Arial MT"/>
                <a:cs typeface="Arial MT"/>
              </a:rPr>
              <a:t>line.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360156" y="5610555"/>
            <a:ext cx="10737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2A4877"/>
                </a:solidFill>
                <a:latin typeface="Consolas"/>
                <a:cs typeface="Consolas"/>
              </a:rPr>
              <a:t>pythontutor.com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Mehran Dasgar</dc:creator>
  <dc:subject>PptxGenJS Presentation</dc:subject>
  <dc:title>CodeOps · Day 2 · Python Fundamentals</dc:title>
  <dcterms:created xsi:type="dcterms:W3CDTF">2026-07-08T05:47:26Z</dcterms:created>
  <dcterms:modified xsi:type="dcterms:W3CDTF">2026-07-08T05:47:26Z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2026-06-30T00:00:00Z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2026-07-08T00:00:00Z</vt:filetime>
  </property>
  <property fmtid="{D5CDD505-2E9C-101B-9397-08002B2CF9AE}" pid="6" name="Producer">
    <vt:lpwstr>Microsoft® PowerPoint® for Microsoft 365</vt:lpwstr>
  </property>
</Properties>
</file>